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6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2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1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6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552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6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33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8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322A558-B964-4799-A94A-632D1601F177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3AABD4-F519-466D-7AF3-CDA074CD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EFE8F5E-158C-1F0E-A2EF-4DEC2D247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/>
          <a:lstStyle/>
          <a:p>
            <a:r>
              <a:rPr lang="en-IN" dirty="0"/>
              <a:t>Dr. Neelesh S. Upadhye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EA1EB-3246-ED57-264B-B69B210A7094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364463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47E280-AB7F-D69E-B992-B2698FF7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67737" cy="1400530"/>
          </a:xfrm>
        </p:spPr>
        <p:txBody>
          <a:bodyPr/>
          <a:lstStyle/>
          <a:p>
            <a:r>
              <a:rPr lang="en-IN" b="1" dirty="0"/>
              <a:t>Lecture 5: </a:t>
            </a:r>
            <a:r>
              <a:rPr lang="fr-FR" b="1" dirty="0"/>
              <a:t>Algorithm Analysis, Linear and Binary Search</a:t>
            </a:r>
            <a:endParaRPr lang="en-IN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4D681-F8FC-DB16-6CD3-FEBBBB34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28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89153-F9DB-9591-9DF5-0D1474CF0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Algorithm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9AE59-1EEB-A333-0450-FE1BB7FB9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defined as the process of determining the computational complexity of the algorithms. In other words, calculating the amount of resources (time, space) as a function of input size.</a:t>
            </a:r>
          </a:p>
          <a:p>
            <a:r>
              <a:rPr lang="en-IN" dirty="0"/>
              <a:t>Goals – </a:t>
            </a:r>
          </a:p>
          <a:p>
            <a:pPr lvl="1"/>
            <a:r>
              <a:rPr lang="en-IN" dirty="0"/>
              <a:t>Predict performance without execution</a:t>
            </a:r>
          </a:p>
          <a:p>
            <a:pPr lvl="1"/>
            <a:r>
              <a:rPr lang="en-IN" dirty="0"/>
              <a:t>Compare multiple algorithms theoretically</a:t>
            </a:r>
          </a:p>
          <a:p>
            <a:pPr lvl="1"/>
            <a:r>
              <a:rPr lang="en-US" dirty="0"/>
              <a:t>Guide algorithmic design and optimization</a:t>
            </a:r>
            <a:endParaRPr lang="en-IN" dirty="0"/>
          </a:p>
          <a:p>
            <a:r>
              <a:rPr lang="en-US" dirty="0"/>
              <a:t>Time complexity: Amount of time an algorithm takes to complete</a:t>
            </a:r>
          </a:p>
          <a:p>
            <a:r>
              <a:rPr lang="en-US" dirty="0"/>
              <a:t>Space complexity: Amount of memory an algorithm uses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642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A5D55-764F-190C-E239-29C50AED9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Time Complexity – Case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530B5-6F54-1BF1-3B8C-69949EDC0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Worst Case (W(n))</a:t>
            </a:r>
          </a:p>
          <a:p>
            <a:pPr lvl="1"/>
            <a:r>
              <a:rPr lang="en-US" dirty="0"/>
              <a:t>Maximum time taken over all possible inputs of size n.</a:t>
            </a:r>
          </a:p>
          <a:p>
            <a:pPr lvl="1"/>
            <a:r>
              <a:rPr lang="en-IN" dirty="0"/>
              <a:t>Guarantees performance ceiling and used for safety-critical systems.</a:t>
            </a:r>
          </a:p>
          <a:p>
            <a:r>
              <a:rPr lang="en-IN" dirty="0"/>
              <a:t>Average Case (A(n))</a:t>
            </a:r>
          </a:p>
          <a:p>
            <a:pPr lvl="1"/>
            <a:r>
              <a:rPr lang="en-US" dirty="0"/>
              <a:t>Expected time over all possible inputs of size n, with a known distribution.</a:t>
            </a:r>
          </a:p>
          <a:p>
            <a:pPr lvl="1"/>
            <a:r>
              <a:rPr lang="en-US" dirty="0"/>
              <a:t>More realistic, but harder to analyze.</a:t>
            </a:r>
            <a:endParaRPr lang="en-IN" dirty="0"/>
          </a:p>
          <a:p>
            <a:r>
              <a:rPr lang="en-IN" dirty="0"/>
              <a:t>Best Case (B(n))</a:t>
            </a:r>
          </a:p>
          <a:p>
            <a:pPr lvl="1"/>
            <a:r>
              <a:rPr lang="en-US" dirty="0"/>
              <a:t>Minimum time taken for any input of size n.</a:t>
            </a:r>
          </a:p>
          <a:p>
            <a:pPr lvl="1"/>
            <a:r>
              <a:rPr lang="en-US" dirty="0"/>
              <a:t>Rarely used in practice.</a:t>
            </a:r>
            <a:endParaRPr lang="en-IN" dirty="0"/>
          </a:p>
          <a:p>
            <a:r>
              <a:rPr lang="en-US" dirty="0"/>
              <a:t>In algorithm design, worst-case and average-case dominate complexity discussions.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772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30E6-6413-BB3D-0019-816B0FB18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Asymptomatic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1C1E1-5AFB-F247-6D4B-67EB16B67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Big-O (O) – Upper Bound</a:t>
            </a:r>
          </a:p>
          <a:p>
            <a:pPr lvl="1"/>
            <a:r>
              <a:rPr lang="en-IN" dirty="0"/>
              <a:t>Describes the worst-case</a:t>
            </a:r>
          </a:p>
          <a:p>
            <a:pPr lvl="1"/>
            <a:r>
              <a:rPr lang="pt-BR" dirty="0"/>
              <a:t>There exist constants c, n₀ s.t. f(n) ≤ c·g(n) ∀ n ≥ n₀. f(n) ∈ O(g(n))</a:t>
            </a:r>
            <a:endParaRPr lang="en-IN" dirty="0"/>
          </a:p>
          <a:p>
            <a:r>
              <a:rPr lang="en-IN" dirty="0"/>
              <a:t>Omega (</a:t>
            </a:r>
            <a:r>
              <a:rPr lang="el-GR" dirty="0"/>
              <a:t>Ω</a:t>
            </a:r>
            <a:r>
              <a:rPr lang="en-IN" dirty="0"/>
              <a:t>) – Lower Bound</a:t>
            </a:r>
          </a:p>
          <a:p>
            <a:pPr lvl="1"/>
            <a:r>
              <a:rPr lang="en-IN" dirty="0"/>
              <a:t>Describes the best-case</a:t>
            </a:r>
          </a:p>
          <a:p>
            <a:pPr lvl="1"/>
            <a:r>
              <a:rPr lang="pt-BR" dirty="0"/>
              <a:t>There exist constants c, n₀ s.t. f(n) ≥ c·g(n) ∀ n ≥ n₀. f(n) ∈ Ω(g(n))</a:t>
            </a:r>
            <a:endParaRPr lang="en-IN" dirty="0"/>
          </a:p>
          <a:p>
            <a:r>
              <a:rPr lang="en-IN" dirty="0"/>
              <a:t>Theta (</a:t>
            </a:r>
            <a:r>
              <a:rPr lang="el-GR" dirty="0"/>
              <a:t>Θ</a:t>
            </a:r>
            <a:r>
              <a:rPr lang="en-IN" dirty="0"/>
              <a:t>) – Tight Bound</a:t>
            </a:r>
          </a:p>
          <a:p>
            <a:pPr lvl="1"/>
            <a:r>
              <a:rPr lang="en-IN" dirty="0"/>
              <a:t>f(n) is both O(g(n)) and </a:t>
            </a:r>
            <a:r>
              <a:rPr lang="el-GR" dirty="0"/>
              <a:t>Ω(</a:t>
            </a:r>
            <a:r>
              <a:rPr lang="en-IN" dirty="0"/>
              <a:t>g(n))</a:t>
            </a:r>
          </a:p>
          <a:p>
            <a:pPr lvl="1"/>
            <a:r>
              <a:rPr lang="en-IN" dirty="0"/>
              <a:t>Accurately captures growth rate</a:t>
            </a:r>
          </a:p>
        </p:txBody>
      </p:sp>
    </p:spTree>
    <p:extLst>
      <p:ext uri="{BB962C8B-B14F-4D97-AF65-F5344CB8AC3E}">
        <p14:creationId xmlns:p14="http://schemas.microsoft.com/office/powerpoint/2010/main" val="238463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26B42-AF68-2563-A6A5-5EB36991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Properties of Asymptomatic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02F90-5A96-95FB-5DBB-A60ADB7A6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Transitivity</a:t>
            </a:r>
          </a:p>
          <a:p>
            <a:pPr lvl="1"/>
            <a:r>
              <a:rPr lang="pt-BR" dirty="0"/>
              <a:t>If f(n) = O(g(n)) and g(n) = O(h(n)) → f(n) = O(h(n))</a:t>
            </a:r>
            <a:endParaRPr lang="en-IN" dirty="0"/>
          </a:p>
          <a:p>
            <a:r>
              <a:rPr lang="en-IN" dirty="0"/>
              <a:t>Additivity</a:t>
            </a:r>
          </a:p>
          <a:p>
            <a:pPr lvl="1"/>
            <a:r>
              <a:rPr lang="pt-BR" dirty="0"/>
              <a:t>O(f(n) + g(n)) = O(max(f(n), g(n)))</a:t>
            </a:r>
            <a:endParaRPr lang="en-IN" dirty="0"/>
          </a:p>
          <a:p>
            <a:r>
              <a:rPr lang="en-IN" dirty="0"/>
              <a:t>Multiplicative Constants</a:t>
            </a:r>
          </a:p>
          <a:p>
            <a:pPr lvl="1"/>
            <a:r>
              <a:rPr lang="pt-BR" dirty="0"/>
              <a:t>O(c·f(n)) = O(f(n)) for c &gt; 0</a:t>
            </a:r>
            <a:endParaRPr lang="en-IN" dirty="0"/>
          </a:p>
          <a:p>
            <a:r>
              <a:rPr lang="en-IN" dirty="0"/>
              <a:t>Polynomial Domination</a:t>
            </a:r>
          </a:p>
          <a:p>
            <a:pPr lvl="1"/>
            <a:r>
              <a:rPr lang="pt-BR" dirty="0"/>
              <a:t>logⁿ(n) &lt; n &lt; n·log(n) &lt; n² &lt; n³ &lt; 2ⁿ &lt; n!</a:t>
            </a:r>
            <a:endParaRPr lang="en-IN" dirty="0"/>
          </a:p>
          <a:p>
            <a:r>
              <a:rPr lang="en-US" dirty="0"/>
              <a:t>Big-O ignores lower-order terms and constant multipliers, focusing on dominant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5146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F4D0-2CA6-EE07-84A5-DA96C78C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Introducing 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2376C-E316-155E-E665-0C47540A9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Space complexity is defined as the total memory used by the algorithm. It includes input, auxiliary variables, and function call overhead. </a:t>
            </a:r>
          </a:p>
          <a:p>
            <a:r>
              <a:rPr lang="en-IN" dirty="0"/>
              <a:t>Key Points – </a:t>
            </a:r>
          </a:p>
          <a:p>
            <a:pPr lvl="1"/>
            <a:r>
              <a:rPr lang="en-US" dirty="0"/>
              <a:t>In-place algorithms: Use constant extra space (O(1))</a:t>
            </a:r>
          </a:p>
          <a:p>
            <a:pPr lvl="1"/>
            <a:r>
              <a:rPr lang="en-US" dirty="0"/>
              <a:t>Recursive algorithms: Include call stack space</a:t>
            </a:r>
          </a:p>
          <a:p>
            <a:pPr lvl="1"/>
            <a:r>
              <a:rPr lang="en-US" dirty="0"/>
              <a:t>Trade-offs: Often, time and space must be balanced</a:t>
            </a:r>
            <a:endParaRPr lang="en-IN" dirty="0"/>
          </a:p>
          <a:p>
            <a:r>
              <a:rPr lang="en-IN" dirty="0"/>
              <a:t>Additional Point – </a:t>
            </a:r>
          </a:p>
          <a:p>
            <a:pPr lvl="1"/>
            <a:r>
              <a:rPr lang="en-US" dirty="0"/>
              <a:t>While time complexity is primary in many analyses, space becomes critical in embedded and large-scale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1765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B8F3-9C58-ADE2-A905-CF161C91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to Search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1FD28-2554-8EBC-F8FE-BDA8ABF14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Searching is the process defined as the methodology to locate a target value (often referred to as Key) within a dataset. </a:t>
            </a:r>
          </a:p>
          <a:p>
            <a:r>
              <a:rPr lang="en-IN" dirty="0"/>
              <a:t>Goal of Searching Algorithms – </a:t>
            </a:r>
          </a:p>
          <a:p>
            <a:pPr lvl="1"/>
            <a:r>
              <a:rPr lang="en-US" dirty="0"/>
              <a:t>Minimize time to find the element</a:t>
            </a:r>
          </a:p>
          <a:p>
            <a:pPr lvl="1"/>
            <a:r>
              <a:rPr lang="en-US" dirty="0"/>
              <a:t>Handle sorted and unsorted data</a:t>
            </a:r>
          </a:p>
          <a:p>
            <a:pPr lvl="1"/>
            <a:r>
              <a:rPr lang="en-US" dirty="0"/>
              <a:t>Be scalable with increasing data size</a:t>
            </a:r>
            <a:endParaRPr lang="en-IN" dirty="0"/>
          </a:p>
          <a:p>
            <a:r>
              <a:rPr lang="en-IN" dirty="0"/>
              <a:t>Categories of Searching Algorithms –</a:t>
            </a:r>
          </a:p>
          <a:p>
            <a:pPr lvl="1"/>
            <a:r>
              <a:rPr lang="en-US" dirty="0"/>
              <a:t>Linear Search – No assumptions on order</a:t>
            </a:r>
          </a:p>
          <a:p>
            <a:pPr lvl="1"/>
            <a:r>
              <a:rPr lang="en-US" dirty="0"/>
              <a:t>Binary Search – Assumes sorted data</a:t>
            </a:r>
            <a:endParaRPr lang="en-IN" dirty="0"/>
          </a:p>
          <a:p>
            <a:r>
              <a:rPr lang="en-IN" dirty="0"/>
              <a:t>Search algorithms are foundational building block to some of the most complex data structures and operations. </a:t>
            </a:r>
          </a:p>
        </p:txBody>
      </p:sp>
    </p:spTree>
    <p:extLst>
      <p:ext uri="{BB962C8B-B14F-4D97-AF65-F5344CB8AC3E}">
        <p14:creationId xmlns:p14="http://schemas.microsoft.com/office/powerpoint/2010/main" val="2669496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213AC-17D9-1BB7-9B2E-94284C22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Linear Search -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F98D3-CFB5-6733-DCF7-290F53CC0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idea of the linear search is to iterate over each element in the array and compare with the target key. </a:t>
            </a:r>
          </a:p>
          <a:p>
            <a:r>
              <a:rPr lang="en-IN" dirty="0"/>
              <a:t>It is simple to perform but inefficient on large datasets. </a:t>
            </a:r>
          </a:p>
          <a:p>
            <a:r>
              <a:rPr lang="en-IN" dirty="0"/>
              <a:t>Properties – </a:t>
            </a:r>
          </a:p>
          <a:p>
            <a:pPr lvl="1"/>
            <a:r>
              <a:rPr lang="en-IN" dirty="0"/>
              <a:t>Works on unsorted data.</a:t>
            </a:r>
          </a:p>
          <a:p>
            <a:pPr lvl="1"/>
            <a:r>
              <a:rPr lang="en-IN" dirty="0"/>
              <a:t>Time Complexity – </a:t>
            </a:r>
          </a:p>
          <a:p>
            <a:pPr lvl="2"/>
            <a:r>
              <a:rPr lang="en-US" dirty="0"/>
              <a:t>Best-case: O(1) (key found at first position)</a:t>
            </a:r>
          </a:p>
          <a:p>
            <a:pPr lvl="2"/>
            <a:r>
              <a:rPr lang="en-IN" dirty="0"/>
              <a:t>Worst-case: O(n)</a:t>
            </a:r>
          </a:p>
          <a:p>
            <a:pPr lvl="2"/>
            <a:r>
              <a:rPr lang="en-IN" dirty="0"/>
              <a:t>Average-case: O(n)</a:t>
            </a:r>
          </a:p>
          <a:p>
            <a:pPr lvl="1"/>
            <a:r>
              <a:rPr lang="en-IN" dirty="0"/>
              <a:t>Space Complexity – </a:t>
            </a:r>
          </a:p>
          <a:p>
            <a:pPr lvl="2"/>
            <a:r>
              <a:rPr lang="en-US" dirty="0"/>
              <a:t>O(1) – In-place search with constant memory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434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DAA54-4DB8-A17B-7D42-1A2EFD33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Linear Search – Formal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B305F-E91F-4250-51B4-38C0F111C1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Number of Comparisons –</a:t>
            </a:r>
          </a:p>
          <a:p>
            <a:pPr lvl="1"/>
            <a:r>
              <a:rPr lang="en-IN" dirty="0"/>
              <a:t>Worst-case: n comparisons</a:t>
            </a:r>
          </a:p>
          <a:p>
            <a:pPr lvl="1"/>
            <a:r>
              <a:rPr lang="en-IN" dirty="0"/>
              <a:t>Best-case: 1 comparison</a:t>
            </a:r>
          </a:p>
          <a:p>
            <a:pPr lvl="1"/>
            <a:r>
              <a:rPr lang="en-IN" dirty="0"/>
              <a:t>Average-case: n/2 comparisons</a:t>
            </a:r>
          </a:p>
          <a:p>
            <a:r>
              <a:rPr lang="en-IN" dirty="0"/>
              <a:t>Asymptomatic Behaviour – </a:t>
            </a:r>
          </a:p>
          <a:p>
            <a:pPr lvl="1"/>
            <a:r>
              <a:rPr lang="en-IN" dirty="0"/>
              <a:t>Dominant term: O(n)</a:t>
            </a:r>
          </a:p>
          <a:p>
            <a:pPr lvl="1"/>
            <a:r>
              <a:rPr lang="en-US" dirty="0"/>
              <a:t>Not suitable when frequent searching is required in large datasets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943ED-4011-481F-5C1F-CBCAE1B763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Pseudo-function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```</a:t>
            </a:r>
            <a:br>
              <a:rPr lang="en-IN" dirty="0"/>
            </a:br>
            <a:r>
              <a:rPr lang="en-IN" dirty="0"/>
              <a:t>for i=0 to n-1:</a:t>
            </a:r>
            <a:br>
              <a:rPr lang="en-IN" dirty="0"/>
            </a:br>
            <a:r>
              <a:rPr lang="en-IN" dirty="0"/>
              <a:t>		if </a:t>
            </a:r>
            <a:r>
              <a:rPr lang="en-IN" dirty="0" err="1"/>
              <a:t>arr</a:t>
            </a:r>
            <a:r>
              <a:rPr lang="en-IN" dirty="0"/>
              <a:t>[i]==key:</a:t>
            </a:r>
            <a:br>
              <a:rPr lang="en-IN" dirty="0"/>
            </a:br>
            <a:r>
              <a:rPr lang="en-IN" dirty="0"/>
              <a:t>			return i</a:t>
            </a:r>
            <a:br>
              <a:rPr lang="en-IN" dirty="0"/>
            </a:br>
            <a:r>
              <a:rPr lang="en-IN" dirty="0"/>
              <a:t>return -1</a:t>
            </a:r>
            <a:br>
              <a:rPr lang="en-IN" dirty="0"/>
            </a:br>
            <a:r>
              <a:rPr lang="en-IN" dirty="0"/>
              <a:t>```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383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18485-7112-415C-A0EE-BF973962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Binary Search -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BB080-C559-1691-B86C-EB038C569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Binary search algorithm has a precondition – the array must be sorted in an increasing or decreasing manner. </a:t>
            </a:r>
          </a:p>
          <a:p>
            <a:r>
              <a:rPr lang="en-IN" dirty="0"/>
              <a:t>Algorithm Idea –</a:t>
            </a:r>
          </a:p>
          <a:p>
            <a:pPr lvl="1"/>
            <a:r>
              <a:rPr lang="en-US" dirty="0"/>
              <a:t>Repeatedly divide the search interval in half.</a:t>
            </a:r>
          </a:p>
          <a:p>
            <a:pPr lvl="1"/>
            <a:r>
              <a:rPr lang="en-US" dirty="0"/>
              <a:t>Compare mid-element with the target.</a:t>
            </a:r>
          </a:p>
          <a:p>
            <a:pPr lvl="1"/>
            <a:r>
              <a:rPr lang="en-US" dirty="0"/>
              <a:t>Eliminate half of the search space each step.</a:t>
            </a:r>
            <a:endParaRPr lang="en-IN" dirty="0"/>
          </a:p>
          <a:p>
            <a:r>
              <a:rPr lang="en-IN" dirty="0"/>
              <a:t>Time Complexity – </a:t>
            </a:r>
          </a:p>
          <a:p>
            <a:pPr lvl="1"/>
            <a:r>
              <a:rPr lang="en-IN" dirty="0"/>
              <a:t>Worst-case: O(log n); Average-case: O(log n); Best-case: O(1); </a:t>
            </a:r>
          </a:p>
          <a:p>
            <a:r>
              <a:rPr lang="en-IN" dirty="0"/>
              <a:t>Space Complexity – </a:t>
            </a:r>
          </a:p>
          <a:p>
            <a:pPr lvl="1"/>
            <a:r>
              <a:rPr lang="en-IN" dirty="0"/>
              <a:t>Iterative – O(1)</a:t>
            </a:r>
          </a:p>
          <a:p>
            <a:pPr lvl="1"/>
            <a:r>
              <a:rPr lang="en-IN" dirty="0"/>
              <a:t>Recursive – </a:t>
            </a:r>
            <a:r>
              <a:rPr lang="en-US" dirty="0"/>
              <a:t>O(log n) (due to call stack)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3958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1035-74D2-87FC-70C8-8C6A49422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F0D9-E4A0-19E0-E2A6-D342D236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Linear Search – Formal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E8A63-10B6-1227-0A74-04B59F44FF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Number of Comparisons –</a:t>
            </a:r>
          </a:p>
          <a:p>
            <a:pPr lvl="1"/>
            <a:r>
              <a:rPr lang="en-US" dirty="0"/>
              <a:t>At most log₂(n) comparisons</a:t>
            </a:r>
          </a:p>
          <a:p>
            <a:pPr lvl="1"/>
            <a:r>
              <a:rPr lang="en-US" dirty="0"/>
              <a:t>Each step reduces size of search space by 50%</a:t>
            </a:r>
            <a:endParaRPr lang="en-IN" dirty="0"/>
          </a:p>
          <a:p>
            <a:r>
              <a:rPr lang="en-IN" dirty="0"/>
              <a:t>Asymptomatic Behaviour – </a:t>
            </a:r>
          </a:p>
          <a:p>
            <a:pPr lvl="1"/>
            <a:r>
              <a:rPr lang="en-US" dirty="0"/>
              <a:t>Highly efficient for large datasets</a:t>
            </a:r>
          </a:p>
          <a:p>
            <a:pPr lvl="1"/>
            <a:r>
              <a:rPr lang="en-US" dirty="0"/>
              <a:t>Fundamental in algorithms such as binary search trees, exponential search, etc.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60DC5-262F-7F39-B88D-B695B83C6B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Pseudo-function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```</a:t>
            </a:r>
            <a:br>
              <a:rPr lang="en-IN" dirty="0"/>
            </a:br>
            <a:r>
              <a:rPr lang="en-IN" dirty="0"/>
              <a:t>low = 0, high = n-1</a:t>
            </a:r>
            <a:br>
              <a:rPr lang="en-IN" dirty="0"/>
            </a:br>
            <a:r>
              <a:rPr lang="en-IN" dirty="0"/>
              <a:t>while low &lt;= high:</a:t>
            </a:r>
            <a:br>
              <a:rPr lang="en-IN" dirty="0"/>
            </a:br>
            <a:r>
              <a:rPr lang="en-IN" dirty="0"/>
              <a:t>		mid = (low + high)/2</a:t>
            </a:r>
            <a:br>
              <a:rPr lang="en-IN" dirty="0"/>
            </a:br>
            <a:r>
              <a:rPr lang="en-IN" dirty="0"/>
              <a:t>		if </a:t>
            </a:r>
            <a:r>
              <a:rPr lang="en-IN" dirty="0" err="1"/>
              <a:t>arr</a:t>
            </a:r>
            <a:r>
              <a:rPr lang="en-IN" dirty="0"/>
              <a:t>[mid] == key:</a:t>
            </a:r>
            <a:br>
              <a:rPr lang="en-IN" dirty="0"/>
            </a:br>
            <a:r>
              <a:rPr lang="en-IN" dirty="0"/>
              <a:t>			return mid</a:t>
            </a:r>
            <a:br>
              <a:rPr lang="en-IN" dirty="0"/>
            </a:br>
            <a:r>
              <a:rPr lang="en-IN" dirty="0"/>
              <a:t>		else if </a:t>
            </a:r>
            <a:r>
              <a:rPr lang="en-IN" dirty="0" err="1"/>
              <a:t>arr</a:t>
            </a:r>
            <a:r>
              <a:rPr lang="en-IN" dirty="0"/>
              <a:t>[mid] &lt; key:</a:t>
            </a:r>
            <a:br>
              <a:rPr lang="en-IN" dirty="0"/>
            </a:br>
            <a:r>
              <a:rPr lang="en-IN" dirty="0"/>
              <a:t>			low = mid + 1</a:t>
            </a:r>
            <a:br>
              <a:rPr lang="en-IN" dirty="0"/>
            </a:br>
            <a:r>
              <a:rPr lang="en-IN" dirty="0"/>
              <a:t>		else:</a:t>
            </a:r>
            <a:br>
              <a:rPr lang="en-IN" dirty="0"/>
            </a:br>
            <a:r>
              <a:rPr lang="en-IN" dirty="0"/>
              <a:t>			high = mid – 1</a:t>
            </a:r>
            <a:br>
              <a:rPr lang="en-IN" dirty="0"/>
            </a:br>
            <a:r>
              <a:rPr lang="en-IN" dirty="0"/>
              <a:t>return -1</a:t>
            </a:r>
            <a:br>
              <a:rPr lang="en-IN" dirty="0"/>
            </a:br>
            <a:r>
              <a:rPr lang="en-IN" dirty="0"/>
              <a:t>```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0760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6B278-F027-1DDF-F2F4-E4EF8B813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and Limitations of 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8805A-0587-366D-CE69-2DA8BC439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Limitations</a:t>
            </a:r>
          </a:p>
          <a:p>
            <a:pPr lvl="1"/>
            <a:r>
              <a:rPr lang="en-IN" dirty="0"/>
              <a:t>Requires sorted data</a:t>
            </a:r>
          </a:p>
          <a:p>
            <a:pPr lvl="1"/>
            <a:r>
              <a:rPr lang="en-US" dirty="0"/>
              <a:t>Overhead in maintaining sorted structure</a:t>
            </a:r>
          </a:p>
          <a:p>
            <a:pPr lvl="1"/>
            <a:r>
              <a:rPr lang="en-IN" dirty="0"/>
              <a:t>Ineffective on linked lists (no random access)</a:t>
            </a:r>
          </a:p>
          <a:p>
            <a:r>
              <a:rPr lang="en-IN" dirty="0"/>
              <a:t>Generalizations </a:t>
            </a:r>
          </a:p>
          <a:p>
            <a:pPr lvl="1"/>
            <a:r>
              <a:rPr lang="en-US" dirty="0"/>
              <a:t>Binary Search on Function Space – Used in numerical algorithms</a:t>
            </a:r>
          </a:p>
          <a:p>
            <a:pPr lvl="1"/>
            <a:r>
              <a:rPr lang="en-US" dirty="0"/>
              <a:t>Exponential Search – For unbounded search space</a:t>
            </a:r>
          </a:p>
          <a:p>
            <a:pPr lvl="1"/>
            <a:r>
              <a:rPr lang="en-US" dirty="0"/>
              <a:t>Ternary Search – Works on unimodal functions</a:t>
            </a:r>
          </a:p>
          <a:p>
            <a:pPr lvl="1"/>
            <a:r>
              <a:rPr lang="en-US" dirty="0"/>
              <a:t>Interpolation Search – Uses value distribution assumption</a:t>
            </a:r>
            <a:endParaRPr lang="en-IN" dirty="0"/>
          </a:p>
          <a:p>
            <a:r>
              <a:rPr lang="en-IN" dirty="0"/>
              <a:t>Binary search is a paradigm, it is a divide-and-conquer strategy that can be applied in various domains. </a:t>
            </a:r>
          </a:p>
        </p:txBody>
      </p:sp>
    </p:spTree>
    <p:extLst>
      <p:ext uri="{BB962C8B-B14F-4D97-AF65-F5344CB8AC3E}">
        <p14:creationId xmlns:p14="http://schemas.microsoft.com/office/powerpoint/2010/main" val="3295612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4526-6D3E-C15C-C288-26E191CB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C1C56-1E3F-7B66-A907-CB645800C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analysis allows prediction of time/space requirements abstractly.</a:t>
            </a:r>
          </a:p>
          <a:p>
            <a:r>
              <a:rPr lang="en-US" dirty="0"/>
              <a:t>Asymptotic notations (O, Θ, Ω) describe upper, tight, and lower bounds.</a:t>
            </a:r>
          </a:p>
          <a:p>
            <a:r>
              <a:rPr lang="en-US" dirty="0"/>
              <a:t>Linear search is simple but scales poorly: O(n) time.</a:t>
            </a:r>
          </a:p>
          <a:p>
            <a:r>
              <a:rPr lang="en-US" dirty="0"/>
              <a:t>Binary search offers logarithmic performance: O(log n) but requires sorted input.</a:t>
            </a:r>
          </a:p>
          <a:p>
            <a:r>
              <a:rPr lang="en-US" dirty="0"/>
              <a:t>Understanding search lays groundwork for efficient data structure design (trees, hash tables, etc.)</a:t>
            </a:r>
          </a:p>
          <a:p>
            <a:r>
              <a:rPr lang="en-US" dirty="0"/>
              <a:t>Space and time trade-offs are critical in algorithm selection and optimization.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2171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237</TotalTime>
  <Words>1227</Words>
  <Application>Microsoft Office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Object Oriented Programming</vt:lpstr>
      <vt:lpstr>Lecture 5: Algorithm Analysis, Linear and Binary Search</vt:lpstr>
      <vt:lpstr>What is Algorithm Analysis?</vt:lpstr>
      <vt:lpstr>Time Complexity – Case Types</vt:lpstr>
      <vt:lpstr>Asymptomatic Notations</vt:lpstr>
      <vt:lpstr>Properties of Asymptomatic Notations</vt:lpstr>
      <vt:lpstr>Introducing Space Complexity</vt:lpstr>
      <vt:lpstr>Introduction to Search Algorithms</vt:lpstr>
      <vt:lpstr>Linear Search - Concepts</vt:lpstr>
      <vt:lpstr>Linear Search – Formal Analysis</vt:lpstr>
      <vt:lpstr>Binary Search - Concepts</vt:lpstr>
      <vt:lpstr>Linear Search – Formal Analysis</vt:lpstr>
      <vt:lpstr>Types and Limitations of Binary Search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8</cp:revision>
  <dcterms:created xsi:type="dcterms:W3CDTF">2025-06-02T18:03:59Z</dcterms:created>
  <dcterms:modified xsi:type="dcterms:W3CDTF">2025-06-16T00:46:35Z</dcterms:modified>
</cp:coreProperties>
</file>