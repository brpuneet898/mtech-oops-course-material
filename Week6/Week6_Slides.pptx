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8866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616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608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5221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8318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2548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3860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41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7793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96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77729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635526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79039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09649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1608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15332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9182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8322A558-B964-4799-A94A-632D1601F177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7360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63AABD4-F519-466D-7AF3-CDA074CD25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/>
          <a:lstStyle/>
          <a:p>
            <a:r>
              <a:rPr lang="en-IN" b="1" dirty="0"/>
              <a:t>Object Oriented Programming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BEFE8F5E-158C-1F0E-A2EF-4DEC2D247C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/>
          <a:lstStyle/>
          <a:p>
            <a:r>
              <a:rPr lang="en-IN" dirty="0"/>
              <a:t>Dr. Neelesh S. Upadhye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7EA1EB-3246-ED57-264B-B69B210A7094}"/>
              </a:ext>
            </a:extLst>
          </p:cNvPr>
          <p:cNvSpPr txBox="1"/>
          <p:nvPr/>
        </p:nvSpPr>
        <p:spPr>
          <a:xfrm>
            <a:off x="1154955" y="5888736"/>
            <a:ext cx="36375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Slides are prepared by Puneet</a:t>
            </a:r>
          </a:p>
        </p:txBody>
      </p:sp>
    </p:spTree>
    <p:extLst>
      <p:ext uri="{BB962C8B-B14F-4D97-AF65-F5344CB8AC3E}">
        <p14:creationId xmlns:p14="http://schemas.microsoft.com/office/powerpoint/2010/main" val="36446330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547E280-AB7F-D69E-B992-B2698FF71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567737" cy="1400530"/>
          </a:xfrm>
        </p:spPr>
        <p:txBody>
          <a:bodyPr/>
          <a:lstStyle/>
          <a:p>
            <a:r>
              <a:rPr lang="en-IN" b="1" dirty="0"/>
              <a:t>Lecture 6: </a:t>
            </a:r>
            <a:r>
              <a:rPr lang="fr-FR" b="1" dirty="0"/>
              <a:t>Insertion Sort &amp; Selection Sort</a:t>
            </a:r>
            <a:endParaRPr lang="en-IN" b="1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D34D681-F8FC-DB16-6CD3-FEBBBB3440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8946541" cy="419548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/>
              <a:t>References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Core Text</a:t>
            </a:r>
          </a:p>
          <a:p>
            <a:pPr lvl="1"/>
            <a:r>
              <a:rPr lang="en-US" dirty="0"/>
              <a:t>Goodrich, </a:t>
            </a:r>
            <a:r>
              <a:rPr lang="en-US" dirty="0" err="1"/>
              <a:t>Tamassia</a:t>
            </a:r>
            <a:r>
              <a:rPr lang="en-US" dirty="0"/>
              <a:t> &amp; Goldwasser, Data Structures and Algorithms in Python</a:t>
            </a:r>
            <a:endParaRPr lang="en-IN" dirty="0"/>
          </a:p>
          <a:p>
            <a:r>
              <a:rPr lang="en-IN" dirty="0"/>
              <a:t>Other References</a:t>
            </a:r>
          </a:p>
          <a:p>
            <a:pPr lvl="1"/>
            <a:r>
              <a:rPr lang="en-IN" dirty="0"/>
              <a:t>Jon Kleinberg &amp; Éva Tardos, Algorithm Design</a:t>
            </a:r>
          </a:p>
          <a:p>
            <a:pPr lvl="1"/>
            <a:r>
              <a:rPr lang="en-IN" dirty="0"/>
              <a:t>Sanjoy Dasgupta, Christos Papadimitriou &amp; Umesh Vazirani, Algorithms</a:t>
            </a:r>
          </a:p>
          <a:p>
            <a:pPr lvl="1"/>
            <a:r>
              <a:rPr lang="en-IN" dirty="0"/>
              <a:t>Luciano Ramalho, Fluent Python</a:t>
            </a:r>
          </a:p>
          <a:p>
            <a:pPr lvl="1"/>
            <a:r>
              <a:rPr lang="en-US" dirty="0"/>
              <a:t>Steve Freeman &amp; Nat Pryce, Growing Object-Oriented Software, Guided by Tests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4280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40F52-53F2-B95B-02E0-93740B8E2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Elementary Sorting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15A6FC-168F-4818-623A-EA81697C79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Elementary sorting algorithms are fundamental to understand even more complex sorting techniques. </a:t>
            </a:r>
          </a:p>
          <a:p>
            <a:r>
              <a:rPr lang="en-IN" dirty="0"/>
              <a:t>These algorithms offer a kind of bridge to advanced algorithmic design and analysis. </a:t>
            </a:r>
          </a:p>
          <a:p>
            <a:r>
              <a:rPr lang="en-IN" dirty="0"/>
              <a:t>Two core algorithms of that kind are – </a:t>
            </a:r>
          </a:p>
          <a:p>
            <a:pPr lvl="1"/>
            <a:r>
              <a:rPr lang="en-IN" dirty="0"/>
              <a:t>Insertion Sort</a:t>
            </a:r>
          </a:p>
          <a:p>
            <a:pPr lvl="1"/>
            <a:r>
              <a:rPr lang="en-IN" dirty="0"/>
              <a:t>Selection Sort</a:t>
            </a:r>
          </a:p>
          <a:p>
            <a:r>
              <a:rPr lang="en-IN" dirty="0"/>
              <a:t>These algorithms are - </a:t>
            </a:r>
            <a:r>
              <a:rPr lang="en-US" dirty="0"/>
              <a:t>comparison-based algorithms, operating in-place and suitable for small datasets.</a:t>
            </a:r>
          </a:p>
          <a:p>
            <a:r>
              <a:rPr lang="en-US" dirty="0"/>
              <a:t>Understanding these algorithms diligently will help to provide a strong groundwork to understand OOPs concepts like - stability, adaptiveness, and sorting network behavior.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779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82B5237-9EFD-3454-653D-42A8D31C1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Insertion Sort - Concepts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17A5AE9-476D-02E4-FBCE-E76E796068A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IN" dirty="0"/>
              <a:t>Insertion sort builds a sorted final array. Adds one element at a time. </a:t>
            </a:r>
          </a:p>
          <a:p>
            <a:r>
              <a:rPr lang="en-IN" dirty="0"/>
              <a:t>It assumes that the first element is sorted. Then further inserts subsequent elements at the correct positions. </a:t>
            </a:r>
          </a:p>
          <a:p>
            <a:r>
              <a:rPr lang="en-IN" dirty="0"/>
              <a:t>Analogy – Works on the principle how we sort playing card in the hand.</a:t>
            </a:r>
          </a:p>
          <a:p>
            <a:r>
              <a:rPr lang="en-IN" dirty="0"/>
              <a:t>It works by shifting large elements forward to make sure to create space for the current element.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0BEBF4-3111-7358-8F42-9315163FE1D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IN" dirty="0"/>
              <a:t>Pseudo-function</a:t>
            </a:r>
            <a:br>
              <a:rPr lang="en-IN" dirty="0"/>
            </a:br>
            <a:br>
              <a:rPr lang="en-IN" dirty="0"/>
            </a:br>
            <a:r>
              <a:rPr lang="en-IN" dirty="0"/>
              <a:t>```</a:t>
            </a:r>
            <a:br>
              <a:rPr lang="en-IN" dirty="0"/>
            </a:br>
            <a:r>
              <a:rPr lang="en-IN" dirty="0"/>
              <a:t>for i from 1 to n-1:</a:t>
            </a:r>
            <a:br>
              <a:rPr lang="en-IN" dirty="0"/>
            </a:br>
            <a:r>
              <a:rPr lang="en-IN" dirty="0"/>
              <a:t>		key = A[i]</a:t>
            </a:r>
            <a:br>
              <a:rPr lang="en-IN" dirty="0"/>
            </a:br>
            <a:r>
              <a:rPr lang="en-IN" dirty="0"/>
              <a:t>		j = i-1</a:t>
            </a:r>
            <a:br>
              <a:rPr lang="en-IN" dirty="0"/>
            </a:br>
            <a:r>
              <a:rPr lang="en-IN" dirty="0"/>
              <a:t>		while j &gt;= 0 and A[j] &gt; key:</a:t>
            </a:r>
            <a:br>
              <a:rPr lang="en-IN" dirty="0"/>
            </a:br>
            <a:r>
              <a:rPr lang="en-IN" dirty="0"/>
              <a:t>			A[j+1] = A[j]</a:t>
            </a:r>
            <a:br>
              <a:rPr lang="en-IN" dirty="0"/>
            </a:br>
            <a:r>
              <a:rPr lang="en-IN" dirty="0"/>
              <a:t>			j = j -1</a:t>
            </a:r>
            <a:br>
              <a:rPr lang="en-IN" dirty="0"/>
            </a:br>
            <a:r>
              <a:rPr lang="en-IN" dirty="0"/>
              <a:t>		A[j+1] = key</a:t>
            </a:r>
            <a:br>
              <a:rPr lang="en-IN" dirty="0"/>
            </a:br>
            <a:r>
              <a:rPr lang="en-IN" dirty="0"/>
              <a:t>```</a:t>
            </a:r>
          </a:p>
        </p:txBody>
      </p:sp>
    </p:spTree>
    <p:extLst>
      <p:ext uri="{BB962C8B-B14F-4D97-AF65-F5344CB8AC3E}">
        <p14:creationId xmlns:p14="http://schemas.microsoft.com/office/powerpoint/2010/main" val="16318675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33F351D-3FB9-E122-6DF4-27A663F4F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Insertion Sort – Complexity Analysis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A5E327-3396-2DE5-E4F4-998675D022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Best Case (already sorted)</a:t>
            </a:r>
          </a:p>
          <a:p>
            <a:pPr lvl="1"/>
            <a:r>
              <a:rPr lang="en-US" dirty="0"/>
              <a:t>Each element compared once; no shifts. </a:t>
            </a:r>
            <a:r>
              <a:rPr lang="en-IN" dirty="0"/>
              <a:t>Time: O(n)</a:t>
            </a:r>
          </a:p>
          <a:p>
            <a:r>
              <a:rPr lang="en-IN" dirty="0"/>
              <a:t>Worst Case (reversed list)</a:t>
            </a:r>
          </a:p>
          <a:p>
            <a:pPr lvl="1"/>
            <a:r>
              <a:rPr lang="en-US" dirty="0"/>
              <a:t>Each new element compared with all sorted ones. </a:t>
            </a:r>
            <a:r>
              <a:rPr lang="en-IN" dirty="0"/>
              <a:t>Time: O(n²)</a:t>
            </a:r>
          </a:p>
          <a:p>
            <a:r>
              <a:rPr lang="en-IN" dirty="0"/>
              <a:t>Average Case </a:t>
            </a:r>
          </a:p>
          <a:p>
            <a:pPr lvl="1"/>
            <a:r>
              <a:rPr lang="en-IN" dirty="0"/>
              <a:t>Expected about n²/4 comparisons. Time: O(n²)</a:t>
            </a:r>
          </a:p>
          <a:p>
            <a:r>
              <a:rPr lang="en-IN" dirty="0"/>
              <a:t>Space Complexity - </a:t>
            </a:r>
            <a:r>
              <a:rPr lang="en-US" dirty="0"/>
              <a:t>O(1) auxiliary space (in-place)</a:t>
            </a:r>
            <a:endParaRPr lang="en-IN" dirty="0"/>
          </a:p>
          <a:p>
            <a:r>
              <a:rPr lang="en-IN" dirty="0"/>
              <a:t>Stability – Yes, as </a:t>
            </a:r>
            <a:r>
              <a:rPr lang="en-US" dirty="0"/>
              <a:t>equal elements retain their order.</a:t>
            </a:r>
            <a:endParaRPr lang="en-IN" dirty="0"/>
          </a:p>
          <a:p>
            <a:r>
              <a:rPr lang="en-IN" dirty="0"/>
              <a:t>Adaptive – Yes, as it performs well on nearly sorted datasets. </a:t>
            </a:r>
          </a:p>
        </p:txBody>
      </p:sp>
    </p:spTree>
    <p:extLst>
      <p:ext uri="{BB962C8B-B14F-4D97-AF65-F5344CB8AC3E}">
        <p14:creationId xmlns:p14="http://schemas.microsoft.com/office/powerpoint/2010/main" val="3000154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277AA-EA76-ECBC-F4A3-6E277A6FD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Insertion Sort – Key Properties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BF76CB-D71A-321B-A957-258B87AC17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Comparison-based algorithm: Cannot beat O(n log n) in general case</a:t>
            </a:r>
          </a:p>
          <a:p>
            <a:r>
              <a:rPr lang="en-US" dirty="0"/>
              <a:t>Stable sort: Preserves relative order of equal elements</a:t>
            </a:r>
          </a:p>
          <a:p>
            <a:r>
              <a:rPr lang="en-US" dirty="0"/>
              <a:t>Online algorithm: Can sort data as it arrives</a:t>
            </a:r>
          </a:p>
          <a:p>
            <a:r>
              <a:rPr lang="en-US" dirty="0"/>
              <a:t>Best suited for small datasets or arrays that are nearly sorted</a:t>
            </a:r>
          </a:p>
          <a:p>
            <a:r>
              <a:rPr lang="en-US" dirty="0"/>
              <a:t>Can serve as a subroutine in hybrid algorithms (e.g., </a:t>
            </a:r>
            <a:r>
              <a:rPr lang="en-US" dirty="0" err="1"/>
              <a:t>Timsort</a:t>
            </a:r>
            <a:r>
              <a:rPr lang="en-US" dirty="0"/>
              <a:t>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3440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6E0A42-8C4F-F988-F254-B2C41FA98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D796814-017B-37FF-E6B9-0D3FE6534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Selection Sort - Concepts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6CC0393-2CAE-6968-8BB6-2AD801DE258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IN" dirty="0"/>
              <a:t>Selection sort segments the array into two parts – sorted and unsorted part. </a:t>
            </a:r>
          </a:p>
          <a:p>
            <a:r>
              <a:rPr lang="en-IN" dirty="0"/>
              <a:t>It iteratively selects the smallest element from the unsorted part and swaps it with the first unsorted element. </a:t>
            </a:r>
          </a:p>
          <a:p>
            <a:r>
              <a:rPr lang="en-IN" dirty="0"/>
              <a:t>Selection sort algorithm always performs </a:t>
            </a:r>
            <a:r>
              <a:rPr lang="en-US" dirty="0"/>
              <a:t>n(n−1)/2 comparisons, regardless of input order.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E9F364-591C-0882-FD9E-6411E247857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IN" dirty="0"/>
              <a:t>Pseudo-function</a:t>
            </a:r>
            <a:br>
              <a:rPr lang="en-IN" dirty="0"/>
            </a:br>
            <a:br>
              <a:rPr lang="en-IN" dirty="0"/>
            </a:br>
            <a:r>
              <a:rPr lang="en-IN" dirty="0"/>
              <a:t>```</a:t>
            </a:r>
            <a:br>
              <a:rPr lang="en-IN" dirty="0"/>
            </a:br>
            <a:r>
              <a:rPr lang="en-IN" dirty="0"/>
              <a:t>for i from 0 to n-1:</a:t>
            </a:r>
            <a:br>
              <a:rPr lang="en-IN" dirty="0"/>
            </a:br>
            <a:r>
              <a:rPr lang="en-IN" dirty="0"/>
              <a:t>		</a:t>
            </a:r>
            <a:r>
              <a:rPr lang="en-IN" dirty="0" err="1"/>
              <a:t>min_i</a:t>
            </a:r>
            <a:r>
              <a:rPr lang="en-IN" dirty="0"/>
              <a:t> = I</a:t>
            </a:r>
            <a:br>
              <a:rPr lang="en-IN" dirty="0"/>
            </a:br>
            <a:r>
              <a:rPr lang="en-IN" dirty="0"/>
              <a:t>		for j in i+1 to n:</a:t>
            </a:r>
            <a:br>
              <a:rPr lang="en-IN" dirty="0"/>
            </a:br>
            <a:r>
              <a:rPr lang="en-IN" dirty="0"/>
              <a:t>			if A[j] &lt; A[</a:t>
            </a:r>
            <a:r>
              <a:rPr lang="en-IN" dirty="0" err="1"/>
              <a:t>min_i</a:t>
            </a:r>
            <a:r>
              <a:rPr lang="en-IN" dirty="0"/>
              <a:t>]:</a:t>
            </a:r>
            <a:br>
              <a:rPr lang="en-IN" dirty="0"/>
            </a:br>
            <a:r>
              <a:rPr lang="en-IN" dirty="0"/>
              <a:t>				</a:t>
            </a:r>
            <a:r>
              <a:rPr lang="en-IN" dirty="0" err="1"/>
              <a:t>min_i</a:t>
            </a:r>
            <a:r>
              <a:rPr lang="en-IN" dirty="0"/>
              <a:t> = j</a:t>
            </a:r>
            <a:br>
              <a:rPr lang="en-IN" dirty="0"/>
            </a:br>
            <a:r>
              <a:rPr lang="en-IN" dirty="0"/>
              <a:t>		swap A[i] with A[</a:t>
            </a:r>
            <a:r>
              <a:rPr lang="en-IN" dirty="0" err="1"/>
              <a:t>min_i</a:t>
            </a:r>
            <a:r>
              <a:rPr lang="en-IN" dirty="0"/>
              <a:t>]</a:t>
            </a:r>
            <a:br>
              <a:rPr lang="en-IN" dirty="0"/>
            </a:br>
            <a:r>
              <a:rPr lang="en-IN" dirty="0"/>
              <a:t>```</a:t>
            </a:r>
          </a:p>
        </p:txBody>
      </p:sp>
    </p:spTree>
    <p:extLst>
      <p:ext uri="{BB962C8B-B14F-4D97-AF65-F5344CB8AC3E}">
        <p14:creationId xmlns:p14="http://schemas.microsoft.com/office/powerpoint/2010/main" val="25565250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746B9-45EA-2C36-8DD4-258EF10F6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65AE1C9-651C-1C2F-D25B-88A1F3863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Selection Sort – Complexity Analysis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C85EA4-F7BE-5837-EADC-08E1CAF17F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Best, Worst, and Average Case:</a:t>
            </a:r>
          </a:p>
          <a:p>
            <a:pPr lvl="1"/>
            <a:r>
              <a:rPr lang="en-IN" dirty="0"/>
              <a:t>All perform the same number of comparisons.</a:t>
            </a:r>
          </a:p>
          <a:p>
            <a:pPr lvl="1"/>
            <a:r>
              <a:rPr lang="en-IN" dirty="0"/>
              <a:t>Comparisons: O(n²)</a:t>
            </a:r>
          </a:p>
          <a:p>
            <a:pPr lvl="1"/>
            <a:r>
              <a:rPr lang="en-US" dirty="0"/>
              <a:t>Swaps: O(n) – significantly fewer than bubble or insertion sort</a:t>
            </a:r>
            <a:endParaRPr lang="en-IN" dirty="0"/>
          </a:p>
          <a:p>
            <a:r>
              <a:rPr lang="en-IN" dirty="0"/>
              <a:t>Space Complexity</a:t>
            </a:r>
          </a:p>
          <a:p>
            <a:pPr lvl="1"/>
            <a:r>
              <a:rPr lang="en-IN" dirty="0"/>
              <a:t>O(1) auxiliary space</a:t>
            </a:r>
          </a:p>
          <a:p>
            <a:r>
              <a:rPr lang="en-IN" dirty="0"/>
              <a:t>Stability – No, as </a:t>
            </a:r>
            <a:r>
              <a:rPr lang="en-US" dirty="0"/>
              <a:t>equal elements may get reordered.</a:t>
            </a:r>
            <a:endParaRPr lang="en-IN" dirty="0"/>
          </a:p>
          <a:p>
            <a:r>
              <a:rPr lang="en-IN" dirty="0"/>
              <a:t>Adaptiveness – No, as it does not </a:t>
            </a:r>
            <a:r>
              <a:rPr lang="en-US" dirty="0"/>
              <a:t>gain efficiency with partially sorted input.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55837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05652-79EE-6D0F-DC61-0B499D4AE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BFFFB-976A-3CB3-7183-0254FB83E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Selection Sort – Key Properties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04E8C1-F13B-EF06-C0E4-23CFF61FCB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Comparison-based: Inefficient for large datasets.</a:t>
            </a:r>
          </a:p>
          <a:p>
            <a:r>
              <a:rPr lang="en-US" dirty="0"/>
              <a:t>Unstable: Can disturb relative order of equal items.</a:t>
            </a:r>
          </a:p>
          <a:p>
            <a:r>
              <a:rPr lang="en-US" dirty="0"/>
              <a:t>Non-adaptive: Sorting time is unaffected by initial order.</a:t>
            </a:r>
          </a:p>
          <a:p>
            <a:r>
              <a:rPr lang="en-US" dirty="0"/>
              <a:t>Performs fewer writes/swaps compared to bubble or insertion sort – useful when write operations are costly.</a:t>
            </a:r>
          </a:p>
          <a:p>
            <a:r>
              <a:rPr lang="en-US" dirty="0"/>
              <a:t>Can be implemented for both ascending and descending orders easily.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766352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5512C-0F99-7B28-2EBF-F5E585260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Comparison Chart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4F0A2C9-61A4-3B7B-1321-4B2739828A8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62119045"/>
              </p:ext>
            </p:extLst>
          </p:nvPr>
        </p:nvGraphicFramePr>
        <p:xfrm>
          <a:off x="1103313" y="2052638"/>
          <a:ext cx="8947149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82383">
                  <a:extLst>
                    <a:ext uri="{9D8B030D-6E8A-4147-A177-3AD203B41FA5}">
                      <a16:colId xmlns:a16="http://schemas.microsoft.com/office/drawing/2014/main" val="3294372661"/>
                    </a:ext>
                  </a:extLst>
                </a:gridCol>
                <a:gridCol w="2982383">
                  <a:extLst>
                    <a:ext uri="{9D8B030D-6E8A-4147-A177-3AD203B41FA5}">
                      <a16:colId xmlns:a16="http://schemas.microsoft.com/office/drawing/2014/main" val="2066128003"/>
                    </a:ext>
                  </a:extLst>
                </a:gridCol>
                <a:gridCol w="2982383">
                  <a:extLst>
                    <a:ext uri="{9D8B030D-6E8A-4147-A177-3AD203B41FA5}">
                      <a16:colId xmlns:a16="http://schemas.microsoft.com/office/drawing/2014/main" val="8711410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Insertion Sort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Selection Sort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03826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Time Complexity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O(n²)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O(n²)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76149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Best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O(n²)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93952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Space Complexity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O(1)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O(1)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41883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Stability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7126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Adaptiveness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29816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Comparisons 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Up to ~n²/2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Exactly n(n−1)/2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3247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Swaps 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Up to ~n²/2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Exactly 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71921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Usage Context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Small/partially sorted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Costly writes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35902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22916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DB20C-2BEE-ADE3-867F-3F00F2385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Applications and Use-Cases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AE102F-E803-EC66-3622-C9708E180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Insertion Sort</a:t>
            </a:r>
          </a:p>
          <a:p>
            <a:pPr lvl="1"/>
            <a:r>
              <a:rPr lang="en-US" dirty="0"/>
              <a:t>Embedded systems with small data sizes</a:t>
            </a:r>
          </a:p>
          <a:p>
            <a:pPr lvl="1"/>
            <a:r>
              <a:rPr lang="en-US" dirty="0"/>
              <a:t>Sorting linked lists (due to fewer pointer manipulations)</a:t>
            </a:r>
          </a:p>
          <a:p>
            <a:pPr lvl="1"/>
            <a:r>
              <a:rPr lang="en-IN" dirty="0"/>
              <a:t>Incremental data insertion (online sorting)</a:t>
            </a:r>
          </a:p>
          <a:p>
            <a:r>
              <a:rPr lang="en-IN" dirty="0"/>
              <a:t>Selection Sort</a:t>
            </a:r>
          </a:p>
          <a:p>
            <a:pPr lvl="1"/>
            <a:r>
              <a:rPr lang="en-US" dirty="0"/>
              <a:t>When write operations are costly (e.g., EEPROM memory)</a:t>
            </a:r>
          </a:p>
          <a:p>
            <a:pPr lvl="1"/>
            <a:r>
              <a:rPr lang="en-US" dirty="0"/>
              <a:t>Good for arrays where minimizing swaps is critical</a:t>
            </a:r>
          </a:p>
          <a:p>
            <a:pPr lvl="1"/>
            <a:r>
              <a:rPr lang="en-US" dirty="0"/>
              <a:t>Stable version possible with additional bookkeeping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55240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66409-062E-D358-C118-2F27408BB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Few More Theoretical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46DA2C-BFA2-228F-B0BD-0BAF3D40A6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Lower bound of comparison-based sorting is Ω(n log n).</a:t>
            </a:r>
          </a:p>
          <a:p>
            <a:r>
              <a:rPr lang="en-US" dirty="0"/>
              <a:t>Both sorting algorithms (insertion and selection) belong to quadratic time algorithms. They do not meet the lower bound.</a:t>
            </a:r>
          </a:p>
          <a:p>
            <a:r>
              <a:rPr lang="en-US" dirty="0"/>
              <a:t>They help in educational tools for understanding sorting mechanics. It provides as </a:t>
            </a:r>
            <a:r>
              <a:rPr lang="en-IN" dirty="0"/>
              <a:t>baseline comparisons against efficient sorts (Merge, Heap, Quick). </a:t>
            </a:r>
          </a:p>
          <a:p>
            <a:r>
              <a:rPr lang="en-IN" dirty="0"/>
              <a:t>Optimizations possible in – </a:t>
            </a:r>
          </a:p>
          <a:p>
            <a:pPr lvl="1"/>
            <a:r>
              <a:rPr lang="en-IN" dirty="0"/>
              <a:t>Hybrid sorting algorithms</a:t>
            </a:r>
          </a:p>
          <a:p>
            <a:pPr lvl="1"/>
            <a:r>
              <a:rPr lang="en-IN" dirty="0"/>
              <a:t>Sentinel usage</a:t>
            </a:r>
          </a:p>
          <a:p>
            <a:pPr lvl="1"/>
            <a:r>
              <a:rPr lang="en-US" dirty="0"/>
              <a:t>Binary search within insertion sort (provides modest improvement)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44993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BBD90-1412-A8CC-434E-43C5F257C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Engineering Application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A3B7B9-6D17-8AB0-A52A-B1D5B0B6CD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Insertion and selection sort have high theoretical interest in modern software engineering.</a:t>
            </a:r>
          </a:p>
          <a:p>
            <a:r>
              <a:rPr lang="en-IN" dirty="0"/>
              <a:t>Currently, they are just – </a:t>
            </a:r>
          </a:p>
          <a:p>
            <a:pPr lvl="1"/>
            <a:r>
              <a:rPr lang="en-US" dirty="0"/>
              <a:t>Part of sorting libraries (e.g., Python’s </a:t>
            </a:r>
            <a:r>
              <a:rPr lang="en-US" dirty="0" err="1"/>
              <a:t>Timsort</a:t>
            </a:r>
            <a:r>
              <a:rPr lang="en-US" dirty="0"/>
              <a:t> uses insertion sort for small partitions)</a:t>
            </a:r>
          </a:p>
          <a:p>
            <a:pPr lvl="1"/>
            <a:r>
              <a:rPr lang="en-US" dirty="0"/>
              <a:t>Critical in environments with tight memory constraints. Further, they are highly useful detecting nearly sorted inputs.</a:t>
            </a:r>
            <a:endParaRPr lang="en-IN" dirty="0"/>
          </a:p>
          <a:p>
            <a:r>
              <a:rPr lang="en-IN" dirty="0"/>
              <a:t>How can we select sorting algorithms?</a:t>
            </a:r>
          </a:p>
          <a:p>
            <a:pPr lvl="1"/>
            <a:r>
              <a:rPr lang="en-IN" dirty="0"/>
              <a:t>Dataset size.</a:t>
            </a:r>
          </a:p>
          <a:p>
            <a:pPr lvl="1"/>
            <a:r>
              <a:rPr lang="en-IN" dirty="0"/>
              <a:t>Memory constraints, need for stability.</a:t>
            </a:r>
          </a:p>
          <a:p>
            <a:pPr lvl="1"/>
            <a:r>
              <a:rPr lang="en-IN" dirty="0"/>
              <a:t>Frequency and cost of write operations.</a:t>
            </a:r>
          </a:p>
        </p:txBody>
      </p:sp>
    </p:spTree>
    <p:extLst>
      <p:ext uri="{BB962C8B-B14F-4D97-AF65-F5344CB8AC3E}">
        <p14:creationId xmlns:p14="http://schemas.microsoft.com/office/powerpoint/2010/main" val="11990021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AB9E-AE0A-E6D7-AB17-9AF6EFAE8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A1FFD5-4A6D-0E4A-3750-7CC5B705C9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Insertion and Selection Sort are fundamental and theoretically significant sorting algorithms.</a:t>
            </a:r>
          </a:p>
          <a:p>
            <a:r>
              <a:rPr lang="en-US" dirty="0"/>
              <a:t>Both have O(n²) time complexity, but differ in adaptiveness and stability.</a:t>
            </a:r>
          </a:p>
          <a:p>
            <a:r>
              <a:rPr lang="en-US" dirty="0"/>
              <a:t>Insertion Sort - Adaptive, stable, efficient on nearly sorted data.</a:t>
            </a:r>
          </a:p>
          <a:p>
            <a:r>
              <a:rPr lang="en-US" dirty="0"/>
              <a:t>Selection Sort - Simple, minimizes data movement, not adaptive or stable.</a:t>
            </a:r>
          </a:p>
          <a:p>
            <a:r>
              <a:rPr lang="en-US" dirty="0"/>
              <a:t>Serve as fundamental model and niche-use algorithms.</a:t>
            </a:r>
          </a:p>
          <a:p>
            <a:r>
              <a:rPr lang="en-US" dirty="0"/>
              <a:t>Understanding the properties of these two sorting algorithms helps to comprehend </a:t>
            </a:r>
            <a:r>
              <a:rPr lang="en-IN" dirty="0"/>
              <a:t>more complex sorting paradigms.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913225-BB86-9D04-9B59-A5EB56004DB2}"/>
              </a:ext>
            </a:extLst>
          </p:cNvPr>
          <p:cNvSpPr txBox="1"/>
          <p:nvPr/>
        </p:nvSpPr>
        <p:spPr>
          <a:xfrm>
            <a:off x="646111" y="6405282"/>
            <a:ext cx="5925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Disclaimer – For course use only; do not redistribute.</a:t>
            </a:r>
          </a:p>
        </p:txBody>
      </p:sp>
    </p:spTree>
    <p:extLst>
      <p:ext uri="{BB962C8B-B14F-4D97-AF65-F5344CB8AC3E}">
        <p14:creationId xmlns:p14="http://schemas.microsoft.com/office/powerpoint/2010/main" val="336835476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316</TotalTime>
  <Words>1119</Words>
  <Application>Microsoft Office PowerPoint</Application>
  <PresentationFormat>Widescreen</PresentationFormat>
  <Paragraphs>125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Century Gothic</vt:lpstr>
      <vt:lpstr>Wingdings 3</vt:lpstr>
      <vt:lpstr>Ion</vt:lpstr>
      <vt:lpstr>Object Oriented Programming</vt:lpstr>
      <vt:lpstr>Lecture 6: Insertion Sort &amp; Selection Sort</vt:lpstr>
      <vt:lpstr>Elementary Sorting Algorithms</vt:lpstr>
      <vt:lpstr>Insertion Sort - Concepts</vt:lpstr>
      <vt:lpstr>Insertion Sort – Complexity Analysis</vt:lpstr>
      <vt:lpstr>Insertion Sort – Key Properties </vt:lpstr>
      <vt:lpstr>Selection Sort - Concepts</vt:lpstr>
      <vt:lpstr>Selection Sort – Complexity Analysis</vt:lpstr>
      <vt:lpstr>Selection Sort – Key Properties </vt:lpstr>
      <vt:lpstr>Comparison Chart </vt:lpstr>
      <vt:lpstr>Applications and Use-Cases</vt:lpstr>
      <vt:lpstr>Few More Theoretical Insights</vt:lpstr>
      <vt:lpstr>Engineering Application Insights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Br. Puneet</dc:creator>
  <cp:lastModifiedBy>Br. Puneet</cp:lastModifiedBy>
  <cp:revision>11</cp:revision>
  <dcterms:created xsi:type="dcterms:W3CDTF">2025-06-02T18:03:59Z</dcterms:created>
  <dcterms:modified xsi:type="dcterms:W3CDTF">2025-07-02T11:31:07Z</dcterms:modified>
</cp:coreProperties>
</file>