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86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608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2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318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2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860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7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6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772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3552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903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0964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0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33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18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322A558-B964-4799-A94A-632D1601F177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2B58B-FD0C-4F00-BD84-F347C5097B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36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63AABD4-F519-466D-7AF3-CDA074CD2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/>
          <a:lstStyle/>
          <a:p>
            <a:r>
              <a:rPr lang="en-IN" b="1" dirty="0"/>
              <a:t>Object Oriented Programming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EFE8F5E-158C-1F0E-A2EF-4DEC2D247C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/>
          <a:lstStyle/>
          <a:p>
            <a:r>
              <a:rPr lang="en-IN" dirty="0"/>
              <a:t>Dr. Neelesh S. Upadhye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EA1EB-3246-ED57-264B-B69B210A7094}"/>
              </a:ext>
            </a:extLst>
          </p:cNvPr>
          <p:cNvSpPr txBox="1"/>
          <p:nvPr/>
        </p:nvSpPr>
        <p:spPr>
          <a:xfrm>
            <a:off x="1154955" y="5888736"/>
            <a:ext cx="363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Slides are prepared by Puneet</a:t>
            </a:r>
          </a:p>
        </p:txBody>
      </p:sp>
    </p:spTree>
    <p:extLst>
      <p:ext uri="{BB962C8B-B14F-4D97-AF65-F5344CB8AC3E}">
        <p14:creationId xmlns:p14="http://schemas.microsoft.com/office/powerpoint/2010/main" val="3644633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547E280-AB7F-D69E-B992-B2698FF71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567737" cy="1400530"/>
          </a:xfrm>
        </p:spPr>
        <p:txBody>
          <a:bodyPr/>
          <a:lstStyle/>
          <a:p>
            <a:r>
              <a:rPr lang="en-IN" b="1" dirty="0"/>
              <a:t>Lecture 13: Dynamic Programming (LIS, Knapsack)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34D681-F8FC-DB16-6CD3-FEBBBB344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419548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References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Core Text</a:t>
            </a:r>
          </a:p>
          <a:p>
            <a:pPr lvl="1"/>
            <a:r>
              <a:rPr lang="en-US" dirty="0"/>
              <a:t>Goodrich, </a:t>
            </a:r>
            <a:r>
              <a:rPr lang="en-US" dirty="0" err="1"/>
              <a:t>Tamassia</a:t>
            </a:r>
            <a:r>
              <a:rPr lang="en-US" dirty="0"/>
              <a:t> &amp; Goldwasser, Data Structures and Algorithms in Python</a:t>
            </a:r>
            <a:endParaRPr lang="en-IN" dirty="0"/>
          </a:p>
          <a:p>
            <a:r>
              <a:rPr lang="en-IN" dirty="0"/>
              <a:t>Other References</a:t>
            </a:r>
          </a:p>
          <a:p>
            <a:pPr lvl="1"/>
            <a:r>
              <a:rPr lang="en-IN" dirty="0"/>
              <a:t>Jon Kleinberg &amp; Éva Tardos, Algorithm Design</a:t>
            </a:r>
          </a:p>
          <a:p>
            <a:pPr lvl="1"/>
            <a:r>
              <a:rPr lang="en-IN" dirty="0"/>
              <a:t>Sanjoy Dasgupta, Christos Papadimitriou &amp; Umesh Vazirani, Algorithms</a:t>
            </a:r>
          </a:p>
          <a:p>
            <a:pPr lvl="1"/>
            <a:r>
              <a:rPr lang="en-IN" dirty="0"/>
              <a:t>Luciano Ramalho, Fluent Python</a:t>
            </a:r>
          </a:p>
          <a:p>
            <a:pPr lvl="1"/>
            <a:r>
              <a:rPr lang="en-US" dirty="0"/>
              <a:t>Steve Freeman &amp; Nat Pryce, Growing Object-Oriented Software, Guided by Tests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4280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DA3FD-5012-90BC-CB79-A8DD7D28E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DP (Dynamic Programming): 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ADEF1-7A4A-E003-17FC-F29BD872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Dynamic Programming (DP) is an optimization technique that solves complex problems by breaking them down into overlapping subproblems and storing their solutions.</a:t>
            </a:r>
          </a:p>
          <a:p>
            <a:r>
              <a:rPr lang="en-US" dirty="0"/>
              <a:t>Why DP?</a:t>
            </a:r>
          </a:p>
          <a:p>
            <a:pPr lvl="1"/>
            <a:r>
              <a:rPr lang="en-IN" dirty="0"/>
              <a:t>Avoids recomputation</a:t>
            </a:r>
          </a:p>
          <a:p>
            <a:pPr lvl="1"/>
            <a:r>
              <a:rPr lang="en-US" dirty="0"/>
              <a:t>Reduces exponential complexity to polynomial in many cases</a:t>
            </a:r>
          </a:p>
          <a:p>
            <a:r>
              <a:rPr lang="en-US" dirty="0"/>
              <a:t>Key Features –</a:t>
            </a:r>
          </a:p>
          <a:p>
            <a:pPr lvl="1"/>
            <a:r>
              <a:rPr lang="en-IN" dirty="0"/>
              <a:t>Overlapping Subproblems </a:t>
            </a:r>
          </a:p>
          <a:p>
            <a:pPr lvl="1"/>
            <a:r>
              <a:rPr lang="en-IN" dirty="0"/>
              <a:t>Optimal Substructure</a:t>
            </a:r>
            <a:endParaRPr lang="en-US" dirty="0"/>
          </a:p>
          <a:p>
            <a:r>
              <a:rPr lang="en-US" dirty="0"/>
              <a:t>Approach – </a:t>
            </a:r>
          </a:p>
          <a:p>
            <a:pPr lvl="1"/>
            <a:r>
              <a:rPr lang="en-US" b="1" dirty="0"/>
              <a:t>Top-Down (Memoisation):</a:t>
            </a:r>
            <a:r>
              <a:rPr lang="en-US" dirty="0"/>
              <a:t> Recursive approach with caching.</a:t>
            </a:r>
          </a:p>
          <a:p>
            <a:pPr lvl="1"/>
            <a:r>
              <a:rPr lang="en-US" b="1" dirty="0"/>
              <a:t>Bottom-Up (Tabulation):</a:t>
            </a:r>
            <a:r>
              <a:rPr lang="en-US" dirty="0"/>
              <a:t> Iterative filling of a table based on dependencies.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1927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B8EC-4757-D027-F72D-F1983F38B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DP: Fundamental Principles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940B0-4BE8-1B59-6C30-DEE807EB3E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Optimal Substructure</a:t>
            </a:r>
          </a:p>
          <a:p>
            <a:pPr lvl="1"/>
            <a:r>
              <a:rPr lang="en-US" dirty="0"/>
              <a:t>A problem has an optimal substructure if its solution can be constructed from optimal solutions of its subproblems.</a:t>
            </a:r>
          </a:p>
          <a:p>
            <a:pPr lvl="1"/>
            <a:r>
              <a:rPr lang="en-US" dirty="0"/>
              <a:t>If 𝑜𝑝𝑡(𝑆) is the optimal solution of problem 𝑆, then 𝑜𝑝𝑡(𝑆)opt(S) can be defined in terms of 𝑜𝑝𝑡(𝑆′) for smaller subproblems 𝑆′.</a:t>
            </a:r>
          </a:p>
          <a:p>
            <a:r>
              <a:rPr lang="en-US" dirty="0"/>
              <a:t>Overlapping Subproblems</a:t>
            </a:r>
          </a:p>
          <a:p>
            <a:pPr lvl="1"/>
            <a:r>
              <a:rPr lang="en-US" dirty="0"/>
              <a:t>Unlike divide-and-conquer, the same subproblems occur multiple times.</a:t>
            </a:r>
          </a:p>
          <a:p>
            <a:pPr lvl="1"/>
            <a:r>
              <a:rPr lang="en-IN" dirty="0"/>
              <a:t>Storing results ensures reusability.</a:t>
            </a:r>
            <a:endParaRPr lang="en-US" dirty="0"/>
          </a:p>
          <a:p>
            <a:r>
              <a:rPr lang="en-US" dirty="0"/>
              <a:t>State Representation</a:t>
            </a:r>
          </a:p>
          <a:p>
            <a:pPr lvl="1"/>
            <a:r>
              <a:rPr lang="en-US" dirty="0"/>
              <a:t>Define variables that uniquely describe a subproblem.</a:t>
            </a:r>
          </a:p>
          <a:p>
            <a:pPr lvl="1"/>
            <a:r>
              <a:rPr lang="en-US" dirty="0"/>
              <a:t>Example: 𝑑𝑝[𝑖][𝑗] could denote solution up to index 𝑖 with constraint 𝑗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0234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A808C-88A5-D2B7-D740-02377B1AB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DP: Design Methodology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52C49-3FFF-1D33-C4E7-87E13D2AF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Characterize the Structure of an optimal solution.</a:t>
            </a:r>
          </a:p>
          <a:p>
            <a:r>
              <a:rPr lang="en-US" dirty="0"/>
              <a:t>Define Recurrence Relation among subproblems.</a:t>
            </a:r>
          </a:p>
          <a:p>
            <a:r>
              <a:rPr lang="en-US" dirty="0"/>
              <a:t>Identify State Variables – indexes, constraints, or choices.</a:t>
            </a:r>
          </a:p>
          <a:p>
            <a:r>
              <a:rPr lang="en-US" dirty="0"/>
              <a:t>Choose Computation Order – Top-Down or Bottom-Up.</a:t>
            </a:r>
          </a:p>
          <a:p>
            <a:r>
              <a:rPr lang="en-US" dirty="0"/>
              <a:t>Space and Time Optimization (sometimes reduce to 1D arrays).</a:t>
            </a:r>
          </a:p>
          <a:p>
            <a:r>
              <a:rPr lang="en-US" dirty="0"/>
              <a:t>Boundary Conditions – initialization of base cases.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0521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8354D-2C29-81F3-0284-77405E7BF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 (Longest Increasing Subsequence): Setup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712AB3-C1CD-AA04-8C99-0CB6D3824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sequence of numbers, LIS is the longest subsequence where elements are strictly increasing.</a:t>
            </a:r>
          </a:p>
          <a:p>
            <a:r>
              <a:rPr lang="en-US" dirty="0"/>
              <a:t>Key Features –</a:t>
            </a:r>
          </a:p>
          <a:p>
            <a:pPr lvl="1"/>
            <a:r>
              <a:rPr lang="en-IN" dirty="0"/>
              <a:t>Not necessarily contiguous.</a:t>
            </a:r>
          </a:p>
          <a:p>
            <a:pPr lvl="1"/>
            <a:r>
              <a:rPr lang="en-US" dirty="0"/>
              <a:t>Length varies based on order.</a:t>
            </a:r>
          </a:p>
          <a:p>
            <a:r>
              <a:rPr lang="en-US" dirty="0"/>
              <a:t>Why LIS?</a:t>
            </a:r>
          </a:p>
          <a:p>
            <a:pPr lvl="1"/>
            <a:r>
              <a:rPr lang="en-IN" dirty="0"/>
              <a:t>Fundamental problem in sequence analysis.</a:t>
            </a:r>
          </a:p>
          <a:p>
            <a:pPr lvl="1"/>
            <a:r>
              <a:rPr lang="en-US" dirty="0"/>
              <a:t>Forms basis for advanced DP (like edit distance, LCS).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990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A40E5-E589-0A23-7AF9-D97AFC4D8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LIS: Optimal Substructure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F05FD-56B1-26CB-1DCA-685F0169D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LIS ending at position 𝑖 has length 𝐿(𝑖).</a:t>
            </a:r>
          </a:p>
          <a:p>
            <a:r>
              <a:rPr lang="en-US" dirty="0"/>
              <a:t>If sequence elements are 𝑎1,𝑎2,…,𝑎𝑛	​:</a:t>
            </a:r>
          </a:p>
          <a:p>
            <a:pPr lvl="1"/>
            <a:r>
              <a:rPr lang="en-US" dirty="0"/>
              <a:t>𝐿(𝑖)=1+max⁡{𝐿(𝑗):𝑗&lt;𝑖,𝑎𝑗&lt;𝑎𝑖}</a:t>
            </a:r>
          </a:p>
          <a:p>
            <a:pPr lvl="1"/>
            <a:r>
              <a:rPr lang="en-US" dirty="0"/>
              <a:t>If no such 𝑗 exists, then 𝐿(𝑖)=1.</a:t>
            </a:r>
          </a:p>
          <a:p>
            <a:r>
              <a:rPr lang="en-IN" dirty="0"/>
              <a:t>Answer: max⁡1≤𝑖≤𝑛𝐿(𝑖).</a:t>
            </a:r>
          </a:p>
        </p:txBody>
      </p:sp>
    </p:spTree>
    <p:extLst>
      <p:ext uri="{BB962C8B-B14F-4D97-AF65-F5344CB8AC3E}">
        <p14:creationId xmlns:p14="http://schemas.microsoft.com/office/powerpoint/2010/main" val="1735657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23215-31CA-1488-CED2-ADC437E79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LIS: State and Computation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31C4D-4EDA-33CC-4E44-F202D149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Definition</a:t>
            </a:r>
          </a:p>
          <a:p>
            <a:pPr lvl="1"/>
            <a:r>
              <a:rPr lang="en-US" dirty="0" err="1"/>
              <a:t>dp</a:t>
            </a:r>
            <a:r>
              <a:rPr lang="en-US" dirty="0"/>
              <a:t>[i]= length of LIS ending at index 𝑖.</a:t>
            </a:r>
          </a:p>
          <a:p>
            <a:r>
              <a:rPr lang="en-US" dirty="0"/>
              <a:t>Transition</a:t>
            </a:r>
          </a:p>
          <a:p>
            <a:pPr lvl="1"/>
            <a:r>
              <a:rPr lang="en-US" dirty="0"/>
              <a:t>For each 𝑖, look at all 𝑗&lt;𝑖. If 𝑎[𝑗]&lt;𝑎[𝑖]: </a:t>
            </a:r>
            <a:r>
              <a:rPr lang="en-US" dirty="0" err="1"/>
              <a:t>dp</a:t>
            </a:r>
            <a:r>
              <a:rPr lang="en-US" dirty="0"/>
              <a:t>[i]=max(</a:t>
            </a:r>
            <a:r>
              <a:rPr lang="en-US" dirty="0" err="1"/>
              <a:t>dp</a:t>
            </a:r>
            <a:r>
              <a:rPr lang="en-US" dirty="0"/>
              <a:t>[i],</a:t>
            </a:r>
            <a:r>
              <a:rPr lang="en-US" dirty="0" err="1"/>
              <a:t>dp</a:t>
            </a:r>
            <a:r>
              <a:rPr lang="en-US" dirty="0"/>
              <a:t>[j]+1).</a:t>
            </a:r>
          </a:p>
          <a:p>
            <a:r>
              <a:rPr lang="en-US" dirty="0"/>
              <a:t>Initialization</a:t>
            </a:r>
          </a:p>
          <a:p>
            <a:pPr lvl="1"/>
            <a:r>
              <a:rPr lang="en-US" dirty="0" err="1"/>
              <a:t>dp</a:t>
            </a:r>
            <a:r>
              <a:rPr lang="en-US" dirty="0"/>
              <a:t>[i]=1 for all 𝑖.</a:t>
            </a:r>
          </a:p>
          <a:p>
            <a:r>
              <a:rPr lang="en-US" dirty="0"/>
              <a:t>Time Complexity</a:t>
            </a:r>
          </a:p>
          <a:p>
            <a:pPr lvl="1"/>
            <a:r>
              <a:rPr lang="en-US" dirty="0"/>
              <a:t>O(n^2) for DP approach.</a:t>
            </a:r>
          </a:p>
          <a:p>
            <a:r>
              <a:rPr lang="en-US" dirty="0"/>
              <a:t>Optimized Version</a:t>
            </a:r>
          </a:p>
          <a:p>
            <a:pPr lvl="1"/>
            <a:r>
              <a:rPr lang="en-US" dirty="0"/>
              <a:t>Using binary search on tails – 𝑂(𝑛log⁡𝑛).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557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D25D7-52C6-46CB-244F-FBF79944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Knapsack Problem: 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1147A-7E0D-96A9-92CD-2BE6F8EAE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  <a:p>
            <a:pPr lvl="1"/>
            <a:r>
              <a:rPr lang="en-US" dirty="0"/>
              <a:t>Given 𝑛 items with weights 𝑤[𝑖] and values 𝑣[𝑖].</a:t>
            </a:r>
          </a:p>
          <a:p>
            <a:pPr lvl="1"/>
            <a:r>
              <a:rPr lang="en-US" dirty="0"/>
              <a:t>Capacity of knapsack = 𝑊.</a:t>
            </a:r>
          </a:p>
          <a:p>
            <a:pPr lvl="1"/>
            <a:r>
              <a:rPr lang="en-US" dirty="0"/>
              <a:t>Goal: Maximize total value without exceeding capacity.</a:t>
            </a:r>
          </a:p>
          <a:p>
            <a:r>
              <a:rPr lang="en-US" dirty="0"/>
              <a:t>Knapsack Variants</a:t>
            </a:r>
          </a:p>
          <a:p>
            <a:pPr lvl="1"/>
            <a:r>
              <a:rPr lang="en-US" b="1" dirty="0"/>
              <a:t>0/1 Knapsack:</a:t>
            </a:r>
            <a:r>
              <a:rPr lang="en-US" dirty="0"/>
              <a:t> Each item can be chosen at most once.</a:t>
            </a:r>
          </a:p>
          <a:p>
            <a:pPr lvl="1"/>
            <a:r>
              <a:rPr lang="en-US" b="1" dirty="0"/>
              <a:t>Fractional Knapsack:</a:t>
            </a:r>
            <a:r>
              <a:rPr lang="en-US" dirty="0"/>
              <a:t> Items can be broken (solved by Greedy, not DP).</a:t>
            </a:r>
          </a:p>
          <a:p>
            <a:pPr lvl="1"/>
            <a:r>
              <a:rPr lang="en-US" b="1" dirty="0"/>
              <a:t>Unbounded Knapsack:</a:t>
            </a:r>
            <a:r>
              <a:rPr lang="en-US" dirty="0"/>
              <a:t> Items can be chosen unlimited times.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6669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60CE1-B656-05D1-AE26-48E0974E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0/1 Knapsack: Optimal Substructure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9121A-2528-E846-563F-397108ECA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 𝑑𝑝[𝑖][𝑤] = maximum value using first 𝑖 items with capacity 𝑤.</a:t>
            </a:r>
          </a:p>
          <a:p>
            <a:r>
              <a:rPr lang="en-US" dirty="0"/>
              <a:t>Recurrence relation</a:t>
            </a:r>
          </a:p>
          <a:p>
            <a:pPr lvl="1"/>
            <a:r>
              <a:rPr lang="en-US" dirty="0"/>
              <a:t>If item 𝑖 not taken:</a:t>
            </a:r>
          </a:p>
          <a:p>
            <a:pPr lvl="2"/>
            <a:r>
              <a:rPr lang="pl-PL" dirty="0"/>
              <a:t>dp[i][w]=dp[i−1][w]</a:t>
            </a:r>
            <a:endParaRPr lang="en-US" dirty="0"/>
          </a:p>
          <a:p>
            <a:pPr lvl="1"/>
            <a:r>
              <a:rPr lang="en-US" dirty="0"/>
              <a:t>If item 𝑖 taken (weight 𝑤𝑖​, value 𝑣𝑖​):</a:t>
            </a:r>
          </a:p>
          <a:p>
            <a:pPr lvl="2"/>
            <a:r>
              <a:rPr lang="en-US" dirty="0" err="1"/>
              <a:t>dp</a:t>
            </a:r>
            <a:r>
              <a:rPr lang="en-US" dirty="0"/>
              <a:t>[i][w]=vi	​+</a:t>
            </a:r>
            <a:r>
              <a:rPr lang="en-US" dirty="0" err="1"/>
              <a:t>dp</a:t>
            </a:r>
            <a:r>
              <a:rPr lang="en-US" dirty="0"/>
              <a:t>[i−1][w−</a:t>
            </a:r>
            <a:r>
              <a:rPr lang="en-US" dirty="0" err="1"/>
              <a:t>wi</a:t>
            </a:r>
            <a:r>
              <a:rPr lang="en-US" dirty="0"/>
              <a:t>], provided 𝑤𝑖≤𝑤.</a:t>
            </a:r>
          </a:p>
          <a:p>
            <a:r>
              <a:rPr lang="en-IN" dirty="0"/>
              <a:t>Answer: 𝑑𝑝[𝑛][𝑊].</a:t>
            </a:r>
          </a:p>
        </p:txBody>
      </p:sp>
    </p:spTree>
    <p:extLst>
      <p:ext uri="{BB962C8B-B14F-4D97-AF65-F5344CB8AC3E}">
        <p14:creationId xmlns:p14="http://schemas.microsoft.com/office/powerpoint/2010/main" val="1128430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6FE4-A680-4C8A-4F96-BAB7CE491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0/1 Knapsack: State and Computation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CB135-A557-4B14-754B-1294C3465C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variables</a:t>
            </a:r>
          </a:p>
          <a:p>
            <a:pPr lvl="1"/>
            <a:r>
              <a:rPr lang="en-US" dirty="0"/>
              <a:t>𝑖: number of items considered.</a:t>
            </a:r>
          </a:p>
          <a:p>
            <a:pPr lvl="1"/>
            <a:r>
              <a:rPr lang="en-IN" dirty="0"/>
              <a:t>w: current weight capacity.</a:t>
            </a:r>
            <a:endParaRPr lang="en-US" dirty="0"/>
          </a:p>
          <a:p>
            <a:r>
              <a:rPr lang="en-US" dirty="0"/>
              <a:t>Initialization</a:t>
            </a:r>
          </a:p>
          <a:p>
            <a:pPr lvl="1"/>
            <a:r>
              <a:rPr lang="en-US" dirty="0" err="1"/>
              <a:t>dp</a:t>
            </a:r>
            <a:r>
              <a:rPr lang="en-US" dirty="0"/>
              <a:t>[0][w]=0 for all 𝑤.</a:t>
            </a:r>
          </a:p>
          <a:p>
            <a:pPr lvl="1"/>
            <a:r>
              <a:rPr lang="en-US" dirty="0"/>
              <a:t>𝑑𝑝[𝑖][0]=0 for all 𝑖.</a:t>
            </a:r>
          </a:p>
          <a:p>
            <a:r>
              <a:rPr lang="en-US" dirty="0"/>
              <a:t>Time Complexity</a:t>
            </a:r>
          </a:p>
          <a:p>
            <a:pPr lvl="1"/>
            <a:r>
              <a:rPr lang="en-IN" dirty="0"/>
              <a:t>O(</a:t>
            </a:r>
            <a:r>
              <a:rPr lang="en-IN" dirty="0" err="1"/>
              <a:t>nW</a:t>
            </a:r>
            <a:r>
              <a:rPr lang="en-IN" dirty="0"/>
              <a:t>).</a:t>
            </a:r>
            <a:endParaRPr lang="en-US" dirty="0"/>
          </a:p>
          <a:p>
            <a:r>
              <a:rPr lang="en-US" dirty="0"/>
              <a:t>Space Optimization</a:t>
            </a:r>
          </a:p>
          <a:p>
            <a:pPr lvl="1"/>
            <a:r>
              <a:rPr lang="en-US" dirty="0"/>
              <a:t>Can reduce to 1D: 𝑑𝑝[𝑤] computed in reverse order of 𝑤.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655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5FB2E-DDB9-9726-478C-71A6CBCDE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Unbounded Knapsack: Theory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5A6D0-3873-29DD-1BF8-F6DD6083D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Unlimited copies of each item allowed.</a:t>
            </a:r>
          </a:p>
          <a:p>
            <a:r>
              <a:rPr lang="en-US" dirty="0"/>
              <a:t>Recurrence relation</a:t>
            </a:r>
          </a:p>
          <a:p>
            <a:pPr lvl="1"/>
            <a:r>
              <a:rPr lang="en-US" dirty="0" err="1"/>
              <a:t>dp</a:t>
            </a:r>
            <a:r>
              <a:rPr lang="en-US" dirty="0"/>
              <a:t>[w]=max(</a:t>
            </a:r>
            <a:r>
              <a:rPr lang="en-US" dirty="0" err="1"/>
              <a:t>dp</a:t>
            </a:r>
            <a:r>
              <a:rPr lang="en-US" dirty="0"/>
              <a:t>[w],</a:t>
            </a:r>
            <a:r>
              <a:rPr lang="en-US" dirty="0" err="1"/>
              <a:t>vi+dp</a:t>
            </a:r>
            <a:r>
              <a:rPr lang="en-US" dirty="0"/>
              <a:t>[w−</a:t>
            </a:r>
            <a:r>
              <a:rPr lang="en-US" dirty="0" err="1"/>
              <a:t>wi</a:t>
            </a:r>
            <a:r>
              <a:rPr lang="en-US" dirty="0"/>
              <a:t>	​]) for each item 𝑖.</a:t>
            </a:r>
          </a:p>
          <a:p>
            <a:r>
              <a:rPr lang="en-US" dirty="0"/>
              <a:t>How different from 0/1 Knapsack?</a:t>
            </a:r>
          </a:p>
          <a:p>
            <a:pPr lvl="1"/>
            <a:r>
              <a:rPr lang="en-US" dirty="0"/>
              <a:t>In 0/1 Knapsack, transition depends on 𝑖−1.</a:t>
            </a:r>
          </a:p>
          <a:p>
            <a:pPr lvl="1"/>
            <a:r>
              <a:rPr lang="en-US" dirty="0"/>
              <a:t>In Unbounded Knapsack, transition can reuse current 𝑖.</a:t>
            </a:r>
          </a:p>
          <a:p>
            <a:r>
              <a:rPr lang="en-US" dirty="0"/>
              <a:t>Applications</a:t>
            </a:r>
          </a:p>
          <a:p>
            <a:pPr lvl="1"/>
            <a:r>
              <a:rPr lang="en-IN" dirty="0"/>
              <a:t>Coin Change problems.</a:t>
            </a:r>
          </a:p>
          <a:p>
            <a:pPr lvl="1"/>
            <a:r>
              <a:rPr lang="en-IN" dirty="0"/>
              <a:t>Resource allocation.</a:t>
            </a:r>
          </a:p>
        </p:txBody>
      </p:sp>
    </p:spTree>
    <p:extLst>
      <p:ext uri="{BB962C8B-B14F-4D97-AF65-F5344CB8AC3E}">
        <p14:creationId xmlns:p14="http://schemas.microsoft.com/office/powerpoint/2010/main" val="331155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E4FC1-538E-44DB-AA32-D5DBB93A4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Comparative Insights (LIS vs Knapsack)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93B14-5127-2E57-A00A-D6DC1094C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</a:t>
            </a:r>
          </a:p>
          <a:p>
            <a:pPr lvl="1"/>
            <a:r>
              <a:rPr lang="en-IN" dirty="0"/>
              <a:t>Sequence-based problem. </a:t>
            </a:r>
            <a:r>
              <a:rPr lang="en-US" dirty="0"/>
              <a:t>Focuses on order of elements.</a:t>
            </a:r>
          </a:p>
          <a:p>
            <a:pPr lvl="1"/>
            <a:r>
              <a:rPr lang="en-IN" dirty="0"/>
              <a:t>Core DP concept: subsequence length.</a:t>
            </a:r>
            <a:endParaRPr lang="en-US" dirty="0"/>
          </a:p>
          <a:p>
            <a:r>
              <a:rPr lang="en-US" dirty="0"/>
              <a:t>Knapsack</a:t>
            </a:r>
          </a:p>
          <a:p>
            <a:pPr lvl="1"/>
            <a:r>
              <a:rPr lang="en-IN" dirty="0"/>
              <a:t>Constraint-based optimization. </a:t>
            </a:r>
            <a:r>
              <a:rPr lang="en-US" dirty="0"/>
              <a:t>Focuses on weight/value tradeoff.</a:t>
            </a:r>
          </a:p>
          <a:p>
            <a:pPr lvl="1"/>
            <a:r>
              <a:rPr lang="en-US" dirty="0"/>
              <a:t>Core DP concept: capacity filling.</a:t>
            </a:r>
          </a:p>
          <a:p>
            <a:r>
              <a:rPr lang="en-US" dirty="0"/>
              <a:t>Common Grounds</a:t>
            </a:r>
          </a:p>
          <a:p>
            <a:pPr lvl="1"/>
            <a:r>
              <a:rPr lang="en-US" dirty="0"/>
              <a:t>Both rely on optimal substructure.</a:t>
            </a:r>
          </a:p>
          <a:p>
            <a:pPr lvl="1"/>
            <a:r>
              <a:rPr lang="en-US" dirty="0"/>
              <a:t>Both need careful state definition.</a:t>
            </a:r>
          </a:p>
          <a:p>
            <a:pPr lvl="1"/>
            <a:r>
              <a:rPr lang="en-US" dirty="0"/>
              <a:t>Both have polynomial-time DP solutions.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4332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AB9E-AE0A-E6D7-AB17-9AF6EFAE8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1FFD5-4A6D-0E4A-3750-7CC5B705C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DP Principles</a:t>
            </a:r>
          </a:p>
          <a:p>
            <a:pPr lvl="1"/>
            <a:r>
              <a:rPr lang="en-US" dirty="0"/>
              <a:t>Break down problems into overlapping subproblems.</a:t>
            </a:r>
          </a:p>
          <a:p>
            <a:pPr lvl="1"/>
            <a:r>
              <a:rPr lang="en-IN" dirty="0"/>
              <a:t>Use recurrence relations + </a:t>
            </a:r>
            <a:r>
              <a:rPr lang="en-IN" dirty="0" err="1"/>
              <a:t>memoization</a:t>
            </a:r>
            <a:r>
              <a:rPr lang="en-IN" dirty="0"/>
              <a:t>/tabulation.</a:t>
            </a:r>
            <a:endParaRPr lang="en-US" dirty="0"/>
          </a:p>
          <a:p>
            <a:r>
              <a:rPr lang="en-US" dirty="0"/>
              <a:t>LIS</a:t>
            </a:r>
          </a:p>
          <a:p>
            <a:pPr lvl="1"/>
            <a:r>
              <a:rPr lang="en-US" dirty="0"/>
              <a:t>Optimal subsequence problem with 𝑂(𝑛log⁡𝑛) solution.</a:t>
            </a:r>
          </a:p>
          <a:p>
            <a:r>
              <a:rPr lang="en-US" dirty="0"/>
              <a:t>Knapsack</a:t>
            </a:r>
          </a:p>
          <a:p>
            <a:pPr lvl="1"/>
            <a:r>
              <a:rPr lang="en-IN" dirty="0"/>
              <a:t>Optimization under constraints. </a:t>
            </a:r>
            <a:r>
              <a:rPr lang="en-US" dirty="0"/>
              <a:t>0/1 Knapsack solved in 𝑂(𝑛𝑊).</a:t>
            </a:r>
          </a:p>
          <a:p>
            <a:pPr lvl="1"/>
            <a:r>
              <a:rPr lang="en-US" dirty="0"/>
              <a:t>Variants like unbounded knapsack widely applicable.</a:t>
            </a:r>
          </a:p>
          <a:p>
            <a:r>
              <a:rPr lang="en-IN" dirty="0"/>
              <a:t>DP is central in algorithm design. </a:t>
            </a:r>
            <a:r>
              <a:rPr lang="en-US" dirty="0"/>
              <a:t>Mastery requires identifying state, recurrence, and transition logic.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913225-BB86-9D04-9B59-A5EB56004DB2}"/>
              </a:ext>
            </a:extLst>
          </p:cNvPr>
          <p:cNvSpPr txBox="1"/>
          <p:nvPr/>
        </p:nvSpPr>
        <p:spPr>
          <a:xfrm>
            <a:off x="646111" y="6405282"/>
            <a:ext cx="5925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Disclaimer – For course use only; do not redistribute.</a:t>
            </a:r>
          </a:p>
        </p:txBody>
      </p:sp>
    </p:spTree>
    <p:extLst>
      <p:ext uri="{BB962C8B-B14F-4D97-AF65-F5344CB8AC3E}">
        <p14:creationId xmlns:p14="http://schemas.microsoft.com/office/powerpoint/2010/main" val="33683547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875</TotalTime>
  <Words>990</Words>
  <Application>Microsoft Office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</vt:lpstr>
      <vt:lpstr>Object Oriented Programming</vt:lpstr>
      <vt:lpstr>Lecture 13: Dynamic Programming (LIS, Knapsack)</vt:lpstr>
      <vt:lpstr>DP (Dynamic Programming): Introduction</vt:lpstr>
      <vt:lpstr>DP: Fundamental Principles</vt:lpstr>
      <vt:lpstr>DP: Design Methodology</vt:lpstr>
      <vt:lpstr>LIS (Longest Increasing Subsequence): Setup</vt:lpstr>
      <vt:lpstr>LIS: Optimal Substructure</vt:lpstr>
      <vt:lpstr>LIS: State and Computation</vt:lpstr>
      <vt:lpstr>Knapsack Problem: Introduction</vt:lpstr>
      <vt:lpstr>0/1 Knapsack: Optimal Substructure</vt:lpstr>
      <vt:lpstr>0/1 Knapsack: State and Computation</vt:lpstr>
      <vt:lpstr>Unbounded Knapsack: Theory</vt:lpstr>
      <vt:lpstr>Comparative Insights (LIS vs Knapsack)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Br. Puneet</dc:creator>
  <cp:lastModifiedBy>Br. Puneet</cp:lastModifiedBy>
  <cp:revision>30</cp:revision>
  <dcterms:created xsi:type="dcterms:W3CDTF">2025-06-02T18:03:59Z</dcterms:created>
  <dcterms:modified xsi:type="dcterms:W3CDTF">2025-08-19T20:55:35Z</dcterms:modified>
</cp:coreProperties>
</file>