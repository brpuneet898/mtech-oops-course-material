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86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16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08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221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318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54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860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1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793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6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7729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35526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903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9649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60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5332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182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322A558-B964-4799-A94A-632D1601F177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36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63AABD4-F519-466D-7AF3-CDA074CD25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/>
          <a:lstStyle/>
          <a:p>
            <a:r>
              <a:rPr lang="en-IN" b="1" dirty="0"/>
              <a:t>Object Oriented Programming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EFE8F5E-158C-1F0E-A2EF-4DEC2D247C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/>
          <a:lstStyle/>
          <a:p>
            <a:r>
              <a:rPr lang="en-IN" dirty="0"/>
              <a:t>Dr. Neelesh S. Upadhye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7EA1EB-3246-ED57-264B-B69B210A7094}"/>
              </a:ext>
            </a:extLst>
          </p:cNvPr>
          <p:cNvSpPr txBox="1"/>
          <p:nvPr/>
        </p:nvSpPr>
        <p:spPr>
          <a:xfrm>
            <a:off x="1154955" y="5888736"/>
            <a:ext cx="3637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Slides are prepared by Puneet</a:t>
            </a:r>
          </a:p>
        </p:txBody>
      </p:sp>
    </p:spTree>
    <p:extLst>
      <p:ext uri="{BB962C8B-B14F-4D97-AF65-F5344CB8AC3E}">
        <p14:creationId xmlns:p14="http://schemas.microsoft.com/office/powerpoint/2010/main" val="3644633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547E280-AB7F-D69E-B992-B2698FF71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567737" cy="1400530"/>
          </a:xfrm>
        </p:spPr>
        <p:txBody>
          <a:bodyPr/>
          <a:lstStyle/>
          <a:p>
            <a:r>
              <a:rPr lang="en-IN" b="1" dirty="0"/>
              <a:t>Lecture 4: </a:t>
            </a:r>
            <a:r>
              <a:rPr lang="fr-FR" b="1" dirty="0"/>
              <a:t>SOLID Principles, UML Class Diagram</a:t>
            </a:r>
            <a:endParaRPr lang="en-IN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D34D681-F8FC-DB16-6CD3-FEBBBB344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1954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References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Core Text</a:t>
            </a:r>
          </a:p>
          <a:p>
            <a:pPr lvl="1"/>
            <a:r>
              <a:rPr lang="en-US" dirty="0"/>
              <a:t>Goodrich, </a:t>
            </a:r>
            <a:r>
              <a:rPr lang="en-US" dirty="0" err="1"/>
              <a:t>Tamassia</a:t>
            </a:r>
            <a:r>
              <a:rPr lang="en-US" dirty="0"/>
              <a:t> &amp; Goldwasser, Data Structures and Algorithms in Python</a:t>
            </a:r>
            <a:endParaRPr lang="en-IN" dirty="0"/>
          </a:p>
          <a:p>
            <a:r>
              <a:rPr lang="en-IN" dirty="0"/>
              <a:t>Other References</a:t>
            </a:r>
          </a:p>
          <a:p>
            <a:pPr lvl="1"/>
            <a:r>
              <a:rPr lang="en-IN" dirty="0"/>
              <a:t>Jon Kleinberg &amp; Éva Tardos, Algorithm Design</a:t>
            </a:r>
          </a:p>
          <a:p>
            <a:pPr lvl="1"/>
            <a:r>
              <a:rPr lang="en-IN" dirty="0"/>
              <a:t>Sanjoy Dasgupta, Christos Papadimitriou &amp; Umesh Vazirani, Algorithms</a:t>
            </a:r>
          </a:p>
          <a:p>
            <a:pPr lvl="1"/>
            <a:r>
              <a:rPr lang="en-IN" dirty="0"/>
              <a:t>Luciano Ramalho, Fluent Python</a:t>
            </a:r>
          </a:p>
          <a:p>
            <a:pPr lvl="1"/>
            <a:r>
              <a:rPr lang="en-US" dirty="0"/>
              <a:t>Steve Freeman &amp; Nat Pryce, Growing Object-Oriented Software, Guided by Tests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4280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9AC80-CAB1-E8F0-131A-49FE2A4E4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 to Software Design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B0515-3E2C-275F-4F2C-8D2C4CCCB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Software design principles provide core guidelines for writing extensible, maintainable, and clean code. The principles are not tied to a particular programming language but largely serve as a foundational concept for object-oriented software design. </a:t>
            </a:r>
          </a:p>
          <a:p>
            <a:r>
              <a:rPr lang="en-IN" dirty="0"/>
              <a:t>Key Goals – </a:t>
            </a:r>
          </a:p>
          <a:p>
            <a:pPr lvl="1"/>
            <a:r>
              <a:rPr lang="en-US" dirty="0"/>
              <a:t>Improving code readability and modularity</a:t>
            </a:r>
          </a:p>
          <a:p>
            <a:pPr lvl="1"/>
            <a:r>
              <a:rPr lang="en-IN" dirty="0"/>
              <a:t>Enabling scalability and testability</a:t>
            </a:r>
          </a:p>
          <a:p>
            <a:pPr lvl="1"/>
            <a:r>
              <a:rPr lang="en-IN" dirty="0"/>
              <a:t>Promoting separation of concerns</a:t>
            </a:r>
          </a:p>
          <a:p>
            <a:pPr lvl="1"/>
            <a:r>
              <a:rPr lang="en-US" dirty="0"/>
              <a:t>Facilitating refactoring and evolution of software systems</a:t>
            </a:r>
            <a:endParaRPr lang="en-IN" dirty="0"/>
          </a:p>
          <a:p>
            <a:r>
              <a:rPr lang="en-IN" dirty="0"/>
              <a:t>In this lecture, we focus on SOLID principles given by Robert C. Martin.</a:t>
            </a:r>
          </a:p>
        </p:txBody>
      </p:sp>
    </p:spTree>
    <p:extLst>
      <p:ext uri="{BB962C8B-B14F-4D97-AF65-F5344CB8AC3E}">
        <p14:creationId xmlns:p14="http://schemas.microsoft.com/office/powerpoint/2010/main" val="1772041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66663-23EF-EF7F-E600-FF4396ADB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 – Single Responsibility Principle (SRP)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D4881-802A-D242-029F-E200A7557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class should have only one task to perform or to change. In other words, it should have just one job or responsibility. </a:t>
            </a:r>
          </a:p>
          <a:p>
            <a:pPr lvl="1"/>
            <a:r>
              <a:rPr lang="en-US" dirty="0"/>
              <a:t>Encapsulation of behavior must align with cohesion.</a:t>
            </a:r>
          </a:p>
          <a:p>
            <a:pPr lvl="1"/>
            <a:r>
              <a:rPr lang="en-US" dirty="0"/>
              <a:t>Combining unrelated responsibilities introduces high coupling and fragile designs.</a:t>
            </a:r>
          </a:p>
          <a:p>
            <a:pPr lvl="1"/>
            <a:r>
              <a:rPr lang="en-US" dirty="0"/>
              <a:t>Encourages modular class structure and better maintainability.</a:t>
            </a:r>
            <a:endParaRPr lang="en-IN" dirty="0"/>
          </a:p>
          <a:p>
            <a:r>
              <a:rPr lang="en-IN" dirty="0"/>
              <a:t>Sometimes, multi-functional classes becomes the bottleneck during software development due to overlapping reasons. </a:t>
            </a:r>
          </a:p>
          <a:p>
            <a:r>
              <a:rPr lang="en-IN" dirty="0"/>
              <a:t>SRP helps the classes to have a well-defined purpose and facilitate in module reuse and unit testing. </a:t>
            </a:r>
          </a:p>
        </p:txBody>
      </p:sp>
    </p:spTree>
    <p:extLst>
      <p:ext uri="{BB962C8B-B14F-4D97-AF65-F5344CB8AC3E}">
        <p14:creationId xmlns:p14="http://schemas.microsoft.com/office/powerpoint/2010/main" val="546745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022FD-A994-156A-9A29-7C6B0C18B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 – Open/Closes Principle (OCP)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A25D6-D82F-5F3E-2B96-263A7C58A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All the software entities such as classes, modules, and functions should be open for extension but closed for modification. </a:t>
            </a:r>
          </a:p>
          <a:p>
            <a:pPr lvl="1"/>
            <a:r>
              <a:rPr lang="en-US" dirty="0"/>
              <a:t>The goal is to minimize ripple effects when new behavior is introduced.</a:t>
            </a:r>
          </a:p>
          <a:p>
            <a:pPr lvl="1"/>
            <a:r>
              <a:rPr lang="en-US" dirty="0"/>
              <a:t>Promotes use of abstraction and inheritance.</a:t>
            </a:r>
          </a:p>
          <a:p>
            <a:pPr lvl="1"/>
            <a:r>
              <a:rPr lang="en-US" dirty="0"/>
              <a:t>Core logic remains untouched while allowing external extensions via interfaces, polymorphism.</a:t>
            </a:r>
            <a:endParaRPr lang="en-IN" dirty="0"/>
          </a:p>
          <a:p>
            <a:r>
              <a:rPr lang="en-IN" dirty="0"/>
              <a:t>Over generalization of the code can lead to unnecessary complexity. Therefore, the balance is critical.</a:t>
            </a:r>
          </a:p>
          <a:p>
            <a:r>
              <a:rPr lang="en-IN" dirty="0"/>
              <a:t>OCP helps to build flexible systems that are adaptable to new requirements with causing minimal internal disruption.</a:t>
            </a:r>
          </a:p>
        </p:txBody>
      </p:sp>
    </p:spTree>
    <p:extLst>
      <p:ext uri="{BB962C8B-B14F-4D97-AF65-F5344CB8AC3E}">
        <p14:creationId xmlns:p14="http://schemas.microsoft.com/office/powerpoint/2010/main" val="2687286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EDC72-4406-4D91-F772-1A72DE9FB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 – Liskov Substitution Principle (LSP)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9E0FC-8E77-D3A4-AAC4-D6BC77648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Objects of a superclass should be able to be replaced with the objects of its subclass without affecting the correctness of the code.</a:t>
            </a:r>
          </a:p>
          <a:p>
            <a:pPr lvl="1"/>
            <a:r>
              <a:rPr lang="en-US" dirty="0"/>
              <a:t>Coined by Barbara Liskov (1987), this principle ensures that subtype polymorphism maintains logical contract.</a:t>
            </a:r>
          </a:p>
          <a:p>
            <a:pPr lvl="1"/>
            <a:r>
              <a:rPr lang="en-US" dirty="0"/>
              <a:t>Subclasses must honor the preconditions and postconditions of the base class.</a:t>
            </a:r>
          </a:p>
          <a:p>
            <a:pPr lvl="1"/>
            <a:r>
              <a:rPr lang="en-US" dirty="0"/>
              <a:t>Violation leads to subtle bugs in polymorphic systems.</a:t>
            </a:r>
            <a:endParaRPr lang="en-IN" dirty="0"/>
          </a:p>
          <a:p>
            <a:r>
              <a:rPr lang="en-IN" dirty="0"/>
              <a:t>LSP helps to ensure that behavioural consistency across class hierarchies. </a:t>
            </a:r>
          </a:p>
          <a:p>
            <a:r>
              <a:rPr lang="en-IN" dirty="0"/>
              <a:t>It is critical for extensible APIs and frameworks. </a:t>
            </a:r>
          </a:p>
        </p:txBody>
      </p:sp>
    </p:spTree>
    <p:extLst>
      <p:ext uri="{BB962C8B-B14F-4D97-AF65-F5344CB8AC3E}">
        <p14:creationId xmlns:p14="http://schemas.microsoft.com/office/powerpoint/2010/main" val="1633544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722A3-A00C-FD3A-4F34-B56BFBC8E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 – Interface Segregation Principle (ISP)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699D0-7155-0502-0F61-CA06AF201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clients should never be forced to depend on the methods, which are not in use.</a:t>
            </a:r>
          </a:p>
          <a:p>
            <a:pPr lvl="1"/>
            <a:r>
              <a:rPr lang="en-US" dirty="0"/>
              <a:t>Large interfaces should be split into smaller, role-specific interfaces.</a:t>
            </a:r>
          </a:p>
          <a:p>
            <a:pPr lvl="1"/>
            <a:r>
              <a:rPr lang="en-US" dirty="0"/>
              <a:t>ISP complements SRP by applying it to interfaces rather than classes.</a:t>
            </a:r>
          </a:p>
          <a:p>
            <a:pPr lvl="1"/>
            <a:r>
              <a:rPr lang="en-US" dirty="0"/>
              <a:t>Reduces the burden of "fat" interfaces which impose irrelevant contracts on clients.</a:t>
            </a:r>
            <a:endParaRPr lang="en-IN" dirty="0"/>
          </a:p>
          <a:p>
            <a:r>
              <a:rPr lang="en-IN" dirty="0"/>
              <a:t>The expected design outcome is to make sure that clients should be able to implement the necessary behaviour. </a:t>
            </a:r>
          </a:p>
          <a:p>
            <a:r>
              <a:rPr lang="en-IN" dirty="0"/>
              <a:t>It helps to increase coupling and reduce side-effects of change. </a:t>
            </a:r>
          </a:p>
        </p:txBody>
      </p:sp>
    </p:spTree>
    <p:extLst>
      <p:ext uri="{BB962C8B-B14F-4D97-AF65-F5344CB8AC3E}">
        <p14:creationId xmlns:p14="http://schemas.microsoft.com/office/powerpoint/2010/main" val="3210168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A9837-18CB-A204-2E4E-1F7EEE15D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 – Dependency Inversion Principle (DIP)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0D3C2-6B2C-A149-F2FC-EE1F1D53E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As per the DIP, high level modules should not depend on the low level modules. Both of them should depend on the abstractions. </a:t>
            </a:r>
          </a:p>
          <a:p>
            <a:r>
              <a:rPr lang="en-IN" dirty="0"/>
              <a:t>Further, abstraction should not depend on the details. </a:t>
            </a:r>
          </a:p>
          <a:p>
            <a:pPr lvl="1"/>
            <a:r>
              <a:rPr lang="en-IN" dirty="0"/>
              <a:t>Emphasizes decoupling via abstraction.</a:t>
            </a:r>
          </a:p>
          <a:p>
            <a:pPr lvl="1"/>
            <a:r>
              <a:rPr lang="en-US" dirty="0"/>
              <a:t>Reduces rigid coupling between layers (e.g., business logic and data access).</a:t>
            </a:r>
          </a:p>
          <a:p>
            <a:pPr lvl="1"/>
            <a:r>
              <a:rPr lang="en-US" dirty="0"/>
              <a:t>Enables dependency injection and mocking in unit tests.</a:t>
            </a:r>
            <a:endParaRPr lang="en-IN" dirty="0"/>
          </a:p>
          <a:p>
            <a:r>
              <a:rPr lang="en-IN" dirty="0"/>
              <a:t>DIP promotes independent development of modules. It helps in easier testability by substituting real dependencies with mocks or stubs. </a:t>
            </a:r>
          </a:p>
        </p:txBody>
      </p:sp>
    </p:spTree>
    <p:extLst>
      <p:ext uri="{BB962C8B-B14F-4D97-AF65-F5344CB8AC3E}">
        <p14:creationId xmlns:p14="http://schemas.microsoft.com/office/powerpoint/2010/main" val="2738577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4BA3E-C981-E7EE-F1D5-92FA5EB8F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Overview of UML Diagrams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EF7FB-5446-EABB-0D38-953EEAFE7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Unified modelling language (UML) provides a standardized visual syntax that helps to model object-oriented systems. </a:t>
            </a:r>
          </a:p>
          <a:p>
            <a:r>
              <a:rPr lang="en-IN" dirty="0"/>
              <a:t>Features – </a:t>
            </a:r>
          </a:p>
          <a:p>
            <a:pPr lvl="1"/>
            <a:r>
              <a:rPr lang="en-US" dirty="0"/>
              <a:t>Represents static structure of classes in a system.</a:t>
            </a:r>
          </a:p>
          <a:p>
            <a:pPr lvl="1"/>
            <a:r>
              <a:rPr lang="en-US" dirty="0"/>
              <a:t>Shows classes, their attributes, methods, and relationships (association, generalization, dependency, aggregation, composition).</a:t>
            </a:r>
          </a:p>
          <a:p>
            <a:pPr lvl="1"/>
            <a:r>
              <a:rPr lang="en-IN" dirty="0"/>
              <a:t>Facilitates system planning, communication, and documentation.</a:t>
            </a:r>
          </a:p>
          <a:p>
            <a:r>
              <a:rPr lang="en-IN" dirty="0"/>
              <a:t>UML Class Diagrams are primarily used in software design phase during implementation. </a:t>
            </a:r>
          </a:p>
          <a:p>
            <a:r>
              <a:rPr lang="en-IN" dirty="0"/>
              <a:t>It is also helpful in reverse engineering existing systems. </a:t>
            </a:r>
          </a:p>
        </p:txBody>
      </p:sp>
    </p:spTree>
    <p:extLst>
      <p:ext uri="{BB962C8B-B14F-4D97-AF65-F5344CB8AC3E}">
        <p14:creationId xmlns:p14="http://schemas.microsoft.com/office/powerpoint/2010/main" val="4264950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11895-75E5-E13C-9430-3CAAF29FD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UML Syntax and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5FADC-4317-ADCA-01D4-8634B91CF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Class Box Structure</a:t>
            </a:r>
          </a:p>
          <a:p>
            <a:pPr lvl="1"/>
            <a:r>
              <a:rPr lang="en-US" dirty="0"/>
              <a:t>Top: Class Name (Italic if abstract)</a:t>
            </a:r>
          </a:p>
          <a:p>
            <a:pPr lvl="1"/>
            <a:r>
              <a:rPr lang="en-US" dirty="0"/>
              <a:t>Middle: Attributes (with visibility: + public, - private, # protected)</a:t>
            </a:r>
          </a:p>
          <a:p>
            <a:pPr lvl="1"/>
            <a:r>
              <a:rPr lang="en-US" dirty="0"/>
              <a:t>Bottom: Methods/Operations (with return type and visibility)</a:t>
            </a:r>
            <a:endParaRPr lang="en-IN" dirty="0"/>
          </a:p>
          <a:p>
            <a:r>
              <a:rPr lang="en-IN" dirty="0"/>
              <a:t>Relationships</a:t>
            </a:r>
          </a:p>
          <a:p>
            <a:pPr lvl="1"/>
            <a:r>
              <a:rPr lang="en-US" b="1" dirty="0"/>
              <a:t>Association</a:t>
            </a:r>
            <a:r>
              <a:rPr lang="en-US" dirty="0"/>
              <a:t>: Structural relationship (solid line)</a:t>
            </a:r>
          </a:p>
          <a:p>
            <a:pPr lvl="1"/>
            <a:r>
              <a:rPr lang="en-US" b="1" dirty="0"/>
              <a:t>Inheritance (Generalization)</a:t>
            </a:r>
            <a:r>
              <a:rPr lang="en-US" dirty="0"/>
              <a:t>: Arrow from child to parent</a:t>
            </a:r>
          </a:p>
          <a:p>
            <a:pPr lvl="1"/>
            <a:r>
              <a:rPr lang="en-US" b="1" dirty="0"/>
              <a:t>Aggregation</a:t>
            </a:r>
            <a:r>
              <a:rPr lang="en-US" dirty="0"/>
              <a:t>: Hollow diamond (whole-part relationship)</a:t>
            </a:r>
          </a:p>
          <a:p>
            <a:pPr lvl="1"/>
            <a:r>
              <a:rPr lang="en-US" b="1" dirty="0"/>
              <a:t>Composition</a:t>
            </a:r>
            <a:r>
              <a:rPr lang="en-US" dirty="0"/>
              <a:t>: Filled diamond (strong ownership)</a:t>
            </a:r>
          </a:p>
          <a:p>
            <a:pPr lvl="1"/>
            <a:r>
              <a:rPr lang="en-US" b="1" dirty="0"/>
              <a:t>Dependency</a:t>
            </a:r>
            <a:r>
              <a:rPr lang="en-US" dirty="0"/>
              <a:t>: Dashed arrow (temporary usage)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0223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BA97A-F347-C9E1-6485-02815E588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Semantics of Class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44EA2-3D73-B969-92D0-799E1F44F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Association</a:t>
            </a:r>
          </a:p>
          <a:p>
            <a:pPr lvl="1"/>
            <a:r>
              <a:rPr lang="en-IN" dirty="0"/>
              <a:t>Bi-directional or unidirectional</a:t>
            </a:r>
          </a:p>
          <a:p>
            <a:pPr lvl="1"/>
            <a:r>
              <a:rPr lang="en-IN" dirty="0"/>
              <a:t>Optional navigability arrow</a:t>
            </a:r>
          </a:p>
          <a:p>
            <a:r>
              <a:rPr lang="en-IN" dirty="0"/>
              <a:t>Aggregation vs Composition</a:t>
            </a:r>
          </a:p>
          <a:p>
            <a:pPr lvl="1"/>
            <a:r>
              <a:rPr lang="en-US" dirty="0"/>
              <a:t>Aggregation implies weaker ownership; parts may exist independently.</a:t>
            </a:r>
          </a:p>
          <a:p>
            <a:pPr lvl="1"/>
            <a:r>
              <a:rPr lang="en-US" dirty="0"/>
              <a:t>Composition implies stronger dependency; parts die with the whole.</a:t>
            </a:r>
            <a:endParaRPr lang="en-IN" dirty="0"/>
          </a:p>
          <a:p>
            <a:r>
              <a:rPr lang="en-IN" dirty="0"/>
              <a:t>Inheritance/Generalization</a:t>
            </a:r>
          </a:p>
          <a:p>
            <a:pPr lvl="1"/>
            <a:r>
              <a:rPr lang="en-IN" dirty="0"/>
              <a:t>Promotes reuse through abstraction</a:t>
            </a:r>
          </a:p>
          <a:p>
            <a:pPr lvl="1"/>
            <a:r>
              <a:rPr lang="en-US" dirty="0"/>
              <a:t>Subclasses inherit structure and behavior</a:t>
            </a:r>
            <a:endParaRPr lang="en-IN" dirty="0"/>
          </a:p>
          <a:p>
            <a:r>
              <a:rPr lang="en-IN" dirty="0"/>
              <a:t>Realization</a:t>
            </a:r>
          </a:p>
          <a:p>
            <a:pPr lvl="1"/>
            <a:r>
              <a:rPr lang="en-US" dirty="0"/>
              <a:t>Interface implementation shown using dashed line with hollow triangle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6098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B69F-3DA2-D2A3-9332-E374F5561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 to TDD (Test Driven Development)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A730E-36FD-1C13-095D-72EDE95D5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software development methodology where tests are written before the actual code.</a:t>
            </a:r>
          </a:p>
          <a:p>
            <a:r>
              <a:rPr lang="en-IN" dirty="0"/>
              <a:t>TDD Cycle (Red-Green-Refactor)</a:t>
            </a:r>
          </a:p>
          <a:p>
            <a:pPr lvl="1"/>
            <a:r>
              <a:rPr lang="en-US" b="1" dirty="0"/>
              <a:t>Red</a:t>
            </a:r>
            <a:r>
              <a:rPr lang="en-US" dirty="0"/>
              <a:t>: Write a failing test case (asserting expected behavior).</a:t>
            </a:r>
          </a:p>
          <a:p>
            <a:pPr lvl="1"/>
            <a:r>
              <a:rPr lang="en-US" b="1" dirty="0"/>
              <a:t>Green</a:t>
            </a:r>
            <a:r>
              <a:rPr lang="en-US" dirty="0"/>
              <a:t>: Write minimum code to make test pass.</a:t>
            </a:r>
          </a:p>
          <a:p>
            <a:pPr lvl="1"/>
            <a:r>
              <a:rPr lang="en-US" b="1" dirty="0"/>
              <a:t>Refactor</a:t>
            </a:r>
            <a:r>
              <a:rPr lang="en-US" dirty="0"/>
              <a:t>: Clean code while preserving test pass.</a:t>
            </a:r>
            <a:endParaRPr lang="en-IN" dirty="0"/>
          </a:p>
          <a:p>
            <a:r>
              <a:rPr lang="en-IN" dirty="0"/>
              <a:t>Features –</a:t>
            </a:r>
          </a:p>
          <a:p>
            <a:pPr lvl="1"/>
            <a:r>
              <a:rPr lang="en-IN" dirty="0"/>
              <a:t>Encourages minimal viable functionality</a:t>
            </a:r>
          </a:p>
          <a:p>
            <a:pPr lvl="1"/>
            <a:r>
              <a:rPr lang="en-US" dirty="0"/>
              <a:t>Promotes clean, modular design through refactoring</a:t>
            </a:r>
          </a:p>
          <a:p>
            <a:pPr lvl="1"/>
            <a:r>
              <a:rPr lang="en-US" dirty="0"/>
              <a:t>Closely aligned with Agile and Extreme Programming (XP) practices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2999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A504A-1823-567D-5C8F-5D403F6C3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TDD and Design Principles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852DD-BEBF-69C8-BA56-DC079ED24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TDD relevance to SOLID principles –</a:t>
            </a:r>
          </a:p>
          <a:p>
            <a:pPr lvl="1"/>
            <a:r>
              <a:rPr lang="en-US" b="1" dirty="0"/>
              <a:t>SRP</a:t>
            </a:r>
            <a:r>
              <a:rPr lang="en-US" dirty="0"/>
              <a:t>: Encourages single-purpose methods/functions to pass tests.</a:t>
            </a:r>
          </a:p>
          <a:p>
            <a:pPr lvl="1"/>
            <a:r>
              <a:rPr lang="en-US" b="1" dirty="0"/>
              <a:t>OCP</a:t>
            </a:r>
            <a:r>
              <a:rPr lang="en-US" dirty="0"/>
              <a:t>: As tests codify expected behavior, changes are made through extension.</a:t>
            </a:r>
          </a:p>
          <a:p>
            <a:pPr lvl="1"/>
            <a:r>
              <a:rPr lang="en-US" b="1" dirty="0"/>
              <a:t>LSP</a:t>
            </a:r>
            <a:r>
              <a:rPr lang="en-US" dirty="0"/>
              <a:t>: Enforced by ensuring tests do not break when subclasses are substituted.</a:t>
            </a:r>
          </a:p>
          <a:p>
            <a:pPr lvl="1"/>
            <a:r>
              <a:rPr lang="en-US" b="1" dirty="0"/>
              <a:t>ISP</a:t>
            </a:r>
            <a:r>
              <a:rPr lang="en-US" dirty="0"/>
              <a:t>: Encourages lean interfaces with just enough methods to pass the tests.</a:t>
            </a:r>
          </a:p>
          <a:p>
            <a:pPr lvl="1"/>
            <a:r>
              <a:rPr lang="en-US" b="1" dirty="0"/>
              <a:t>DIP</a:t>
            </a:r>
            <a:r>
              <a:rPr lang="en-US" dirty="0"/>
              <a:t>: Tests highlight the need for abstraction; real dependencies are swapped with mocks.</a:t>
            </a:r>
            <a:endParaRPr lang="en-IN" dirty="0"/>
          </a:p>
          <a:p>
            <a:r>
              <a:rPr lang="en-IN" dirty="0"/>
              <a:t>Test Types –</a:t>
            </a:r>
          </a:p>
          <a:p>
            <a:pPr lvl="1"/>
            <a:r>
              <a:rPr lang="en-US" b="1" dirty="0"/>
              <a:t>Unit Tests</a:t>
            </a:r>
            <a:r>
              <a:rPr lang="en-US" dirty="0"/>
              <a:t>: Validate individual methods/classes</a:t>
            </a:r>
          </a:p>
          <a:p>
            <a:pPr lvl="1"/>
            <a:r>
              <a:rPr lang="en-US" b="1" dirty="0"/>
              <a:t>Integration Tests</a:t>
            </a:r>
            <a:r>
              <a:rPr lang="en-US" dirty="0"/>
              <a:t>: Validate interaction between units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2505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2D3-32D3-72E5-DA48-32ACA397E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FDC02-205D-266B-3CC7-CC73032B1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SOLID Principles provide a strong theoretical foundation for maintainable OOP design.</a:t>
            </a:r>
          </a:p>
          <a:p>
            <a:r>
              <a:rPr lang="en-US" dirty="0"/>
              <a:t>SRP, OCP, LSP, ISP, and DIP collectively enforce modularity, abstraction, and decoupling.</a:t>
            </a:r>
          </a:p>
          <a:p>
            <a:r>
              <a:rPr lang="en-US" dirty="0"/>
              <a:t>UML Class Diagrams enable precise communication of class structures, relationships, and behaviors.</a:t>
            </a:r>
          </a:p>
          <a:p>
            <a:r>
              <a:rPr lang="en-US" dirty="0"/>
              <a:t>Proper use of UML assists in system design, reverse engineering, and documentation.</a:t>
            </a:r>
          </a:p>
          <a:p>
            <a:r>
              <a:rPr lang="en-US" dirty="0"/>
              <a:t>TDD promotes writing better code by enforcing the discipline of small, verifiable units of behavior.</a:t>
            </a:r>
          </a:p>
          <a:p>
            <a:r>
              <a:rPr lang="en-US" dirty="0"/>
              <a:t>The Red-Green-Refactor cycle results in evolutionary, testable, and agile-compliant software systems.</a:t>
            </a:r>
          </a:p>
        </p:txBody>
      </p:sp>
    </p:spTree>
    <p:extLst>
      <p:ext uri="{BB962C8B-B14F-4D97-AF65-F5344CB8AC3E}">
        <p14:creationId xmlns:p14="http://schemas.microsoft.com/office/powerpoint/2010/main" val="13613630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197</TotalTime>
  <Words>1130</Words>
  <Application>Microsoft Office PowerPoint</Application>
  <PresentationFormat>Widescreen</PresentationFormat>
  <Paragraphs>114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Ion</vt:lpstr>
      <vt:lpstr>Object Oriented Programming</vt:lpstr>
      <vt:lpstr>Lecture 4: SOLID Principles, UML Class Diagram</vt:lpstr>
      <vt:lpstr>Intro to Software Design Principles</vt:lpstr>
      <vt:lpstr>S – Single Responsibility Principle (SRP)</vt:lpstr>
      <vt:lpstr>O – Open/Closes Principle (OCP)</vt:lpstr>
      <vt:lpstr>L – Liskov Substitution Principle (LSP)</vt:lpstr>
      <vt:lpstr>I – Interface Segregation Principle (ISP)</vt:lpstr>
      <vt:lpstr>D – Dependency Inversion Principle (DIP)</vt:lpstr>
      <vt:lpstr>Overview of UML Diagrams</vt:lpstr>
      <vt:lpstr>UML Syntax and Elements</vt:lpstr>
      <vt:lpstr>Semantics of Class Relationships</vt:lpstr>
      <vt:lpstr>Introduction to TDD (Test Driven Development)</vt:lpstr>
      <vt:lpstr>TDD and Design Principles Integration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Br. Puneet</dc:creator>
  <cp:lastModifiedBy>Br. Puneet</cp:lastModifiedBy>
  <cp:revision>6</cp:revision>
  <dcterms:created xsi:type="dcterms:W3CDTF">2025-06-02T18:03:59Z</dcterms:created>
  <dcterms:modified xsi:type="dcterms:W3CDTF">2025-06-12T08:57:17Z</dcterms:modified>
</cp:coreProperties>
</file>