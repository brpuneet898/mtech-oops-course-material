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10: </a:t>
            </a:r>
            <a:r>
              <a:rPr lang="en-US" b="1" dirty="0"/>
              <a:t>Graphs – BFS, DFS, Topological Sort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9F41-0A0D-0FFB-8671-D8148CEC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Recap: Graph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6DCFA-1F0C-049B-CEF1-DB569C96C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Graph?</a:t>
            </a:r>
            <a:br>
              <a:rPr lang="en-IN" dirty="0"/>
            </a:br>
            <a:r>
              <a:rPr lang="en-US" dirty="0"/>
              <a:t>A graph 𝐺=(𝑉,𝐸), where 𝑉 is a set of vertices and 𝐸⊆𝑉×𝑉 is a set of edges.</a:t>
            </a:r>
            <a:endParaRPr lang="en-IN" dirty="0"/>
          </a:p>
          <a:p>
            <a:r>
              <a:rPr lang="en-IN" dirty="0"/>
              <a:t>Types: </a:t>
            </a:r>
            <a:r>
              <a:rPr lang="en-US" dirty="0"/>
              <a:t>Directed vs Undirected, Weighted vs Unweighted, Cyclic vs Acyclic, Connected vs Disconnected.</a:t>
            </a:r>
          </a:p>
          <a:p>
            <a:r>
              <a:rPr lang="en-US" dirty="0"/>
              <a:t>How to represent graphs?</a:t>
            </a:r>
          </a:p>
          <a:p>
            <a:pPr lvl="1"/>
            <a:r>
              <a:rPr lang="en-US" dirty="0"/>
              <a:t>Adjacency List: Efficient for sparse graphs</a:t>
            </a:r>
          </a:p>
          <a:p>
            <a:pPr lvl="1"/>
            <a:r>
              <a:rPr lang="en-IN" dirty="0"/>
              <a:t>Adjacency Matrix: Suitable for dense graphs</a:t>
            </a:r>
          </a:p>
          <a:p>
            <a:r>
              <a:rPr lang="en-IN" dirty="0"/>
              <a:t>Traversal Goal: </a:t>
            </a:r>
            <a:r>
              <a:rPr lang="en-US" dirty="0"/>
              <a:t>Visit all vertices/edges systematically to analyze structure, connectivity, and ordering.</a:t>
            </a:r>
          </a:p>
        </p:txBody>
      </p:sp>
    </p:spTree>
    <p:extLst>
      <p:ext uri="{BB962C8B-B14F-4D97-AF65-F5344CB8AC3E}">
        <p14:creationId xmlns:p14="http://schemas.microsoft.com/office/powerpoint/2010/main" val="148710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12DD-0680-562A-7FD1-203AF043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Graph Traversal: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E9E36-BEBA-3BB2-DB44-E5D256201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Traversal =&gt; systematic process of visiting vertices.</a:t>
            </a:r>
          </a:p>
          <a:p>
            <a:r>
              <a:rPr lang="en-US" dirty="0"/>
              <a:t>Requirements</a:t>
            </a:r>
          </a:p>
          <a:p>
            <a:pPr lvl="1"/>
            <a:r>
              <a:rPr lang="en-US" dirty="0"/>
              <a:t>Every vertex should be visited exactly once (or accounted for).</a:t>
            </a:r>
          </a:p>
          <a:p>
            <a:pPr lvl="1"/>
            <a:r>
              <a:rPr lang="en-IN" dirty="0"/>
              <a:t>Must handle disconnected components.</a:t>
            </a:r>
            <a:endParaRPr lang="en-US" dirty="0"/>
          </a:p>
          <a:p>
            <a:r>
              <a:rPr lang="en-US" dirty="0"/>
              <a:t>Graph Traversal Applications</a:t>
            </a:r>
          </a:p>
          <a:p>
            <a:pPr lvl="1"/>
            <a:r>
              <a:rPr lang="en-IN" dirty="0"/>
              <a:t>Connectivity testing</a:t>
            </a:r>
          </a:p>
          <a:p>
            <a:pPr lvl="1"/>
            <a:r>
              <a:rPr lang="en-IN" dirty="0"/>
              <a:t>Pathfinding</a:t>
            </a:r>
          </a:p>
          <a:p>
            <a:pPr lvl="1"/>
            <a:r>
              <a:rPr lang="en-IN" dirty="0"/>
              <a:t>Topological ordering </a:t>
            </a:r>
          </a:p>
          <a:p>
            <a:pPr lvl="1"/>
            <a:r>
              <a:rPr lang="en-US" dirty="0"/>
              <a:t>Detection of cycles, bridges, articulation points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89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8046-641E-A4D3-A1B1-580BE627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BFS (Breadth First Search):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9C4FD-296A-EC8B-E227-98C9AC9E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BFS is a level-order traversal of a graph, expanding outward from a source.</a:t>
            </a:r>
          </a:p>
          <a:p>
            <a:r>
              <a:rPr lang="en-US" dirty="0"/>
              <a:t>Process –</a:t>
            </a:r>
          </a:p>
          <a:p>
            <a:pPr lvl="1"/>
            <a:r>
              <a:rPr lang="en-US" dirty="0"/>
              <a:t>Employs a queue to maintain frontier of discovered but not fully explored vertices.</a:t>
            </a:r>
          </a:p>
          <a:p>
            <a:pPr lvl="1"/>
            <a:r>
              <a:rPr lang="en-US" dirty="0"/>
              <a:t>Explores neighbors' layer by layer (distance-wise in unweighted graphs).</a:t>
            </a:r>
          </a:p>
          <a:p>
            <a:r>
              <a:rPr lang="en-US" dirty="0"/>
              <a:t>Properties –</a:t>
            </a:r>
          </a:p>
          <a:p>
            <a:pPr lvl="1"/>
            <a:r>
              <a:rPr lang="en-US" dirty="0"/>
              <a:t>Produces a BFS tree/forest.</a:t>
            </a:r>
          </a:p>
          <a:p>
            <a:pPr lvl="1"/>
            <a:r>
              <a:rPr lang="en-US" dirty="0"/>
              <a:t>Captures shortest path (minimum edge count) from source in unweighted graphs.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29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3494-B220-110A-D5A3-6B571A30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BFS: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57B1C-3E4A-F19A-298E-1D9D4766B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all vertices as unvisited.</a:t>
            </a:r>
          </a:p>
          <a:p>
            <a:r>
              <a:rPr lang="en-IN" dirty="0"/>
              <a:t>Select a source vertex 𝑠.</a:t>
            </a:r>
          </a:p>
          <a:p>
            <a:r>
              <a:rPr lang="pt-BR" dirty="0"/>
              <a:t>Enqueue 𝑠; mark as visited.</a:t>
            </a:r>
          </a:p>
          <a:p>
            <a:r>
              <a:rPr lang="en-IN" dirty="0"/>
              <a:t>While queue not empty:</a:t>
            </a:r>
          </a:p>
          <a:p>
            <a:pPr lvl="1"/>
            <a:r>
              <a:rPr lang="pt-BR" dirty="0"/>
              <a:t>Dequeue a vertex 𝑢.</a:t>
            </a:r>
          </a:p>
          <a:p>
            <a:pPr lvl="1"/>
            <a:r>
              <a:rPr lang="en-US" dirty="0"/>
              <a:t>For each neighbor 𝑣 of 𝑢:</a:t>
            </a:r>
          </a:p>
          <a:p>
            <a:pPr lvl="2"/>
            <a:r>
              <a:rPr lang="en-IN" dirty="0"/>
              <a:t>If 𝑣 unvisited → enqueue 𝑣, mark as visited.</a:t>
            </a:r>
          </a:p>
          <a:p>
            <a:r>
              <a:rPr lang="en-IN" dirty="0"/>
              <a:t>Continue until queue empty.</a:t>
            </a:r>
          </a:p>
          <a:p>
            <a:endParaRPr lang="en-IN" dirty="0"/>
          </a:p>
          <a:p>
            <a:r>
              <a:rPr lang="pt-BR" dirty="0"/>
              <a:t>Complexity: 𝑂(∣𝑉∣+∣𝐸∣) (using adjacency list).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67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401C-1AD2-DDCC-747A-2EF6BEC5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BFS: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B6EB9-9655-814B-D159-CDB48C18F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Discovery levels</a:t>
            </a:r>
          </a:p>
          <a:p>
            <a:pPr lvl="1"/>
            <a:r>
              <a:rPr lang="en-US" dirty="0"/>
              <a:t>Vertices partitioned into levels based on shortest path distance from source.</a:t>
            </a:r>
            <a:endParaRPr lang="en-IN" dirty="0"/>
          </a:p>
          <a:p>
            <a:r>
              <a:rPr lang="en-IN" dirty="0"/>
              <a:t>Shortest path guarantee</a:t>
            </a:r>
          </a:p>
          <a:p>
            <a:pPr lvl="1"/>
            <a:r>
              <a:rPr lang="en-IN" dirty="0"/>
              <a:t>BFS tree encodes minimum edge distance from source.</a:t>
            </a:r>
          </a:p>
          <a:p>
            <a:r>
              <a:rPr lang="en-IN" dirty="0"/>
              <a:t>Structure</a:t>
            </a:r>
          </a:p>
          <a:p>
            <a:pPr lvl="1"/>
            <a:r>
              <a:rPr lang="en-US" dirty="0"/>
              <a:t>Generates a spanning tree (if connected).</a:t>
            </a:r>
          </a:p>
          <a:p>
            <a:pPr lvl="1"/>
            <a:r>
              <a:rPr lang="en-US" dirty="0"/>
              <a:t>For disconnected graphs → spanning forest.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05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3F08-40FA-0551-37E1-9D57EF56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DFS (Depth First Search):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31412-35DA-1163-909D-1E5F82AAD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DFS explores as deeply as possible along one branch before backtracking.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Employs recursion or an explicit stack.</a:t>
            </a:r>
          </a:p>
          <a:p>
            <a:pPr lvl="1"/>
            <a:r>
              <a:rPr lang="en-US" dirty="0"/>
              <a:t>Vertices marked with timestamps (discovery, finishing).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Produces a DFS tree/forest.</a:t>
            </a:r>
          </a:p>
          <a:p>
            <a:pPr lvl="1"/>
            <a:r>
              <a:rPr lang="en-US" dirty="0"/>
              <a:t>Natural way to classify edges and detect cycles.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40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E574-F948-92A3-4691-73020E6E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DFS: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8BAA0-BF72-12C8-C3EB-9E61F76CD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Mark all vertices unvisited.</a:t>
            </a:r>
          </a:p>
          <a:p>
            <a:r>
              <a:rPr lang="en-US" dirty="0"/>
              <a:t>For each vertex 𝑢 in 𝑉:</a:t>
            </a:r>
          </a:p>
          <a:p>
            <a:pPr lvl="1"/>
            <a:r>
              <a:rPr lang="en-US" dirty="0"/>
              <a:t>If 𝑢 unvisited → call DFS(𝑢).</a:t>
            </a:r>
          </a:p>
          <a:p>
            <a:r>
              <a:rPr lang="en-IN" dirty="0"/>
              <a:t>DFS(𝑢):</a:t>
            </a:r>
          </a:p>
          <a:p>
            <a:pPr lvl="1"/>
            <a:r>
              <a:rPr lang="en-IN" dirty="0"/>
              <a:t>Mark 𝑢 as visited.</a:t>
            </a:r>
          </a:p>
          <a:p>
            <a:pPr lvl="1"/>
            <a:r>
              <a:rPr lang="en-US" dirty="0"/>
              <a:t>For each neighbor 𝑣 of 𝑢:</a:t>
            </a:r>
          </a:p>
          <a:p>
            <a:pPr lvl="2"/>
            <a:r>
              <a:rPr lang="en-US" dirty="0"/>
              <a:t>If 𝑣 unvisited → recursively DFS(𝑣).</a:t>
            </a:r>
          </a:p>
          <a:p>
            <a:pPr lvl="1"/>
            <a:r>
              <a:rPr lang="en-US" dirty="0"/>
              <a:t>Mark 𝑢 as finished.</a:t>
            </a:r>
            <a:endParaRPr lang="en-IN" dirty="0"/>
          </a:p>
          <a:p>
            <a:endParaRPr lang="en-IN" dirty="0"/>
          </a:p>
          <a:p>
            <a:r>
              <a:rPr lang="en-IN" dirty="0"/>
              <a:t>Complexity: 𝑂(∣𝑉∣+∣𝐸∣).</a:t>
            </a:r>
          </a:p>
        </p:txBody>
      </p:sp>
    </p:spTree>
    <p:extLst>
      <p:ext uri="{BB962C8B-B14F-4D97-AF65-F5344CB8AC3E}">
        <p14:creationId xmlns:p14="http://schemas.microsoft.com/office/powerpoint/2010/main" val="2213224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6391-2DD8-9D60-B380-112A246E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DFS: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ABBFE-2036-7373-9E4F-41735A21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Time</a:t>
            </a:r>
          </a:p>
          <a:p>
            <a:pPr lvl="1"/>
            <a:r>
              <a:rPr lang="en-US" dirty="0"/>
              <a:t>Each vertex 𝑢 has discovery time 𝑑[𝑢] and finishing time 𝑓[𝑢].</a:t>
            </a:r>
            <a:endParaRPr lang="en-IN" dirty="0"/>
          </a:p>
          <a:p>
            <a:r>
              <a:rPr lang="en-IN" dirty="0"/>
              <a:t>Edge classification for directed graphs</a:t>
            </a:r>
          </a:p>
          <a:p>
            <a:pPr lvl="1"/>
            <a:r>
              <a:rPr lang="en-US" dirty="0"/>
              <a:t>Tree edges: discovered first time.</a:t>
            </a:r>
          </a:p>
          <a:p>
            <a:pPr lvl="1"/>
            <a:r>
              <a:rPr lang="en-IN" dirty="0"/>
              <a:t>Back edges: indicate cycles.</a:t>
            </a:r>
          </a:p>
          <a:p>
            <a:pPr lvl="1"/>
            <a:r>
              <a:rPr lang="en-US" dirty="0"/>
              <a:t>Forward edges: non-tree, but point to descendant.</a:t>
            </a:r>
          </a:p>
          <a:p>
            <a:pPr lvl="1"/>
            <a:r>
              <a:rPr lang="en-IN" dirty="0"/>
              <a:t>Cross edges: other relations.</a:t>
            </a:r>
          </a:p>
          <a:p>
            <a:r>
              <a:rPr lang="en-IN" dirty="0"/>
              <a:t>Applications</a:t>
            </a:r>
          </a:p>
          <a:p>
            <a:pPr lvl="1"/>
            <a:r>
              <a:rPr lang="en-IN" dirty="0"/>
              <a:t>Cycle detections and topological ordering</a:t>
            </a:r>
          </a:p>
          <a:p>
            <a:pPr lvl="1"/>
            <a:r>
              <a:rPr lang="en-IN" dirty="0"/>
              <a:t>Strongly connected components</a:t>
            </a:r>
          </a:p>
        </p:txBody>
      </p:sp>
    </p:spTree>
    <p:extLst>
      <p:ext uri="{BB962C8B-B14F-4D97-AF65-F5344CB8AC3E}">
        <p14:creationId xmlns:p14="http://schemas.microsoft.com/office/powerpoint/2010/main" val="215764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9A7C-5C54-8318-CFD1-11B901E8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Topological Sort: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9575-D8A5-3232-5A06-2A323F7E7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ordering of vertices of a DAG (Directed Acyclic Graph) such that for every directed edge (𝑢,𝑣), 𝑢 appears before 𝑣.</a:t>
            </a:r>
          </a:p>
          <a:p>
            <a:r>
              <a:rPr lang="en-US" dirty="0"/>
              <a:t>Existence condition</a:t>
            </a:r>
          </a:p>
          <a:p>
            <a:pPr lvl="1"/>
            <a:r>
              <a:rPr lang="en-US" dirty="0"/>
              <a:t>Only defined for DAGs (acyclic directed graphs).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Scheduling tasks with precedence constraints.</a:t>
            </a:r>
          </a:p>
          <a:p>
            <a:pPr lvl="1"/>
            <a:r>
              <a:rPr lang="en-US" dirty="0"/>
              <a:t>Dependency resolution (compilers, build systems).</a:t>
            </a:r>
          </a:p>
          <a:p>
            <a:pPr lvl="1"/>
            <a:r>
              <a:rPr lang="en-US" dirty="0"/>
              <a:t>Ordering of events in causal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69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88AF-A9C9-53AE-D9D7-A227F703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Topological Sort: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ECA1-E0D7-C97D-35F4-7A0957EF6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DFS-Based</a:t>
            </a:r>
          </a:p>
          <a:p>
            <a:pPr lvl="1"/>
            <a:r>
              <a:rPr lang="en-IN" dirty="0"/>
              <a:t>Perform DFS on DAG.</a:t>
            </a:r>
          </a:p>
          <a:p>
            <a:pPr lvl="1"/>
            <a:r>
              <a:rPr lang="en-US" dirty="0"/>
              <a:t>Append vertices to ordering in reverse of finishing times.</a:t>
            </a:r>
          </a:p>
          <a:p>
            <a:pPr lvl="1"/>
            <a:r>
              <a:rPr lang="en-IN" dirty="0"/>
              <a:t>Produces valid topological ordering.</a:t>
            </a:r>
          </a:p>
          <a:p>
            <a:r>
              <a:rPr lang="en-IN" dirty="0"/>
              <a:t>Kahn’s Algorithm</a:t>
            </a:r>
          </a:p>
          <a:p>
            <a:pPr lvl="1"/>
            <a:r>
              <a:rPr lang="en-US" dirty="0"/>
              <a:t>Initialize in-degree of all vertices.</a:t>
            </a:r>
          </a:p>
          <a:p>
            <a:pPr lvl="1"/>
            <a:r>
              <a:rPr lang="en-US" dirty="0"/>
              <a:t>Repeatedly remove vertices with in-degree zero, append to ordering.</a:t>
            </a:r>
          </a:p>
          <a:p>
            <a:pPr lvl="1"/>
            <a:r>
              <a:rPr lang="en-IN" dirty="0"/>
              <a:t>Update in-degrees of neighbours.</a:t>
            </a:r>
          </a:p>
          <a:p>
            <a:pPr lvl="1"/>
            <a:r>
              <a:rPr lang="en-US" dirty="0"/>
              <a:t>If all vertices processed → valid order; else → cycle detected.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750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5ED2-B8D2-1A91-C176-55E081E5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Topological Sort: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88402-AA6A-ED22-4866-9AE62F576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Uniqueness</a:t>
            </a:r>
          </a:p>
          <a:p>
            <a:pPr lvl="1"/>
            <a:r>
              <a:rPr lang="en-US" dirty="0"/>
              <a:t>If graph has multiple valid orders, uniqueness is lost. Unique ordering exists </a:t>
            </a:r>
            <a:r>
              <a:rPr lang="en-US" dirty="0" err="1"/>
              <a:t>iff</a:t>
            </a:r>
            <a:r>
              <a:rPr lang="en-US" dirty="0"/>
              <a:t> DAG has no two vertices with equal "freedom of placement."</a:t>
            </a:r>
            <a:endParaRPr lang="en-IN" dirty="0"/>
          </a:p>
          <a:p>
            <a:r>
              <a:rPr lang="en-IN" dirty="0"/>
              <a:t>Complexity</a:t>
            </a:r>
          </a:p>
          <a:p>
            <a:pPr lvl="1"/>
            <a:r>
              <a:rPr lang="en-IN" dirty="0"/>
              <a:t>𝑂(∣𝑉∣+∣𝐸∣) for both algorithms.</a:t>
            </a:r>
          </a:p>
          <a:p>
            <a:r>
              <a:rPr lang="en-IN" dirty="0"/>
              <a:t>Cycle Detection</a:t>
            </a:r>
          </a:p>
          <a:p>
            <a:pPr lvl="1"/>
            <a:r>
              <a:rPr lang="en-US" dirty="0"/>
              <a:t>Failure to generate full ordering indicates cycle in graph.</a:t>
            </a:r>
            <a:endParaRPr lang="en-IN" dirty="0"/>
          </a:p>
          <a:p>
            <a:r>
              <a:rPr lang="en-IN" dirty="0"/>
              <a:t>Relation to Partial Orders</a:t>
            </a:r>
          </a:p>
          <a:p>
            <a:pPr lvl="1"/>
            <a:r>
              <a:rPr lang="en-US" dirty="0"/>
              <a:t>Topological ordering is a linear extension of the partial order defined by DAG.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619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BFS</a:t>
            </a:r>
          </a:p>
          <a:p>
            <a:pPr lvl="1"/>
            <a:r>
              <a:rPr lang="en-IN" dirty="0"/>
              <a:t>Level-order exploration using queue.</a:t>
            </a:r>
          </a:p>
          <a:p>
            <a:pPr lvl="1"/>
            <a:r>
              <a:rPr lang="en-US" dirty="0"/>
              <a:t>Captures shortest paths in unweighted graphs.</a:t>
            </a:r>
          </a:p>
          <a:p>
            <a:r>
              <a:rPr lang="en-US" dirty="0"/>
              <a:t>DFS</a:t>
            </a:r>
          </a:p>
          <a:p>
            <a:pPr lvl="1"/>
            <a:r>
              <a:rPr lang="en-US" dirty="0"/>
              <a:t>Deep exploration using recursion/stack.</a:t>
            </a:r>
          </a:p>
          <a:p>
            <a:pPr lvl="1"/>
            <a:r>
              <a:rPr lang="en-US" dirty="0"/>
              <a:t>Classifies edges, detects cycles, timestamps analysis.</a:t>
            </a:r>
          </a:p>
          <a:p>
            <a:r>
              <a:rPr lang="en-US" dirty="0"/>
              <a:t>Topological Sort</a:t>
            </a:r>
          </a:p>
          <a:p>
            <a:pPr lvl="1"/>
            <a:r>
              <a:rPr lang="en-US" dirty="0"/>
              <a:t>Defined for DAGs, orders vertices respecting edges.</a:t>
            </a:r>
          </a:p>
          <a:p>
            <a:pPr lvl="1"/>
            <a:r>
              <a:rPr lang="en-US" dirty="0"/>
              <a:t>Can be implemented via DFS or Kahn’s algorithm.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717</TotalTime>
  <Words>856</Words>
  <Application>Microsoft Office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Object Oriented Programming</vt:lpstr>
      <vt:lpstr>Lecture 10: Graphs – BFS, DFS, Topological Sort</vt:lpstr>
      <vt:lpstr>Recap: Graph Fundamentals</vt:lpstr>
      <vt:lpstr>Graph Traversal: Concepts</vt:lpstr>
      <vt:lpstr>BFS (Breadth First Search): Core Idea</vt:lpstr>
      <vt:lpstr>BFS: Algorithm</vt:lpstr>
      <vt:lpstr>BFS: Theory</vt:lpstr>
      <vt:lpstr>DFS (Depth First Search): Core Idea</vt:lpstr>
      <vt:lpstr>DFS: Algorithm</vt:lpstr>
      <vt:lpstr>DFS: Theory</vt:lpstr>
      <vt:lpstr>Topological Sort: Core Idea</vt:lpstr>
      <vt:lpstr>Topological Sort: Algorithms</vt:lpstr>
      <vt:lpstr>Topological Sort: Properties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22</cp:revision>
  <dcterms:created xsi:type="dcterms:W3CDTF">2025-06-02T18:03:59Z</dcterms:created>
  <dcterms:modified xsi:type="dcterms:W3CDTF">2025-08-19T13:33:40Z</dcterms:modified>
</cp:coreProperties>
</file>