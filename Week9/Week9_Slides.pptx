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81" r:id="rId9"/>
    <p:sldId id="275" r:id="rId10"/>
    <p:sldId id="276" r:id="rId11"/>
    <p:sldId id="277" r:id="rId12"/>
    <p:sldId id="278" r:id="rId13"/>
    <p:sldId id="279" r:id="rId14"/>
    <p:sldId id="28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9: </a:t>
            </a:r>
            <a:r>
              <a:rPr lang="en-US" b="1" dirty="0"/>
              <a:t>Trees: BST &amp; AVL; Heaps, Priority Queues</a:t>
            </a:r>
            <a:endParaRPr lang="en-IN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DE84-AD71-9A1D-65BF-639C38D3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Binary Search Trees (BST) – Concept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69AF-3A54-2446-FF03-33B4F2DDF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BST is a node-based tree, which has the following property – For any node N, all keys in it’s left subtree &lt; </a:t>
            </a:r>
            <a:r>
              <a:rPr lang="en-IN" dirty="0" err="1"/>
              <a:t>N.key</a:t>
            </a:r>
            <a:r>
              <a:rPr lang="en-IN" dirty="0"/>
              <a:t> and right subtree must be &gt; </a:t>
            </a:r>
            <a:r>
              <a:rPr lang="en-IN" dirty="0" err="1"/>
              <a:t>N.key</a:t>
            </a:r>
            <a:r>
              <a:rPr lang="en-IN" dirty="0"/>
              <a:t>. </a:t>
            </a:r>
          </a:p>
          <a:p>
            <a:r>
              <a:rPr lang="en-IN" dirty="0"/>
              <a:t>Follows recursive structure – each subtree must also be a BST.</a:t>
            </a:r>
          </a:p>
          <a:p>
            <a:r>
              <a:rPr lang="en-IN" dirty="0"/>
              <a:t>Key Operations:</a:t>
            </a:r>
          </a:p>
          <a:p>
            <a:pPr lvl="1"/>
            <a:r>
              <a:rPr lang="en-IN" dirty="0"/>
              <a:t>Search(x), Insert(x), Delete(x) – all in O(log n) in ideal conditions.</a:t>
            </a:r>
          </a:p>
          <a:p>
            <a:r>
              <a:rPr lang="en-US" dirty="0"/>
              <a:t>Worst Case: O(n) when tree degenerates.</a:t>
            </a:r>
          </a:p>
          <a:p>
            <a:r>
              <a:rPr lang="en-US" dirty="0"/>
              <a:t>In-order Traversal of a BST returns the nodes in sorted order.</a:t>
            </a:r>
          </a:p>
          <a:p>
            <a:r>
              <a:rPr lang="en-US" dirty="0"/>
              <a:t>It acts as a basis for dictionary ADTs and dynamic sets.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1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D7E6-A880-FDF7-E71A-B8AAF63B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BST – Properties and 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80D39-23B5-25E8-2060-BE934C65AA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Height of an unbalanced BST: up to n-1 (linear height).</a:t>
                </a:r>
              </a:p>
              <a:p>
                <a:r>
                  <a:rPr lang="en-US" dirty="0"/>
                  <a:t>Number of distinct BSTs with n nodes = Catalan number: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US" dirty="0"/>
                  <a:t>BST does not guarantee balance , which means performance degrades for skewed insertions.</a:t>
                </a:r>
              </a:p>
              <a:p>
                <a:r>
                  <a:rPr lang="en-US" dirty="0"/>
                  <a:t>Deletion complexity increases due to handling 0, 1, or 2 children.</a:t>
                </a:r>
              </a:p>
              <a:p>
                <a:r>
                  <a:rPr lang="en-US" dirty="0"/>
                  <a:t>Lack of self-balancing motivates need for AVL and Red-Black Trees.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80D39-23B5-25E8-2060-BE934C65AA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1" t="-8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6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C97D-991D-319F-6950-68091652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AVL Trees – Motivation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9451-F85B-2E7C-DF47-E90789C25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AVL Tree: First self-balancing binary search tree (Adelson-</a:t>
            </a:r>
            <a:r>
              <a:rPr lang="en-US" dirty="0" err="1"/>
              <a:t>Velsky</a:t>
            </a:r>
            <a:r>
              <a:rPr lang="en-US" dirty="0"/>
              <a:t> &amp; Landis, 1962).</a:t>
            </a:r>
          </a:p>
          <a:p>
            <a:r>
              <a:rPr lang="en-US" dirty="0"/>
              <a:t>Maintains balance factor ∈ {-1, 0, 1} at every node.</a:t>
            </a:r>
          </a:p>
          <a:p>
            <a:r>
              <a:rPr lang="en-US" dirty="0"/>
              <a:t>Balance Factor = Height(Left Subtree) − Height(Right Subtree)</a:t>
            </a:r>
          </a:p>
          <a:p>
            <a:r>
              <a:rPr lang="en-US" dirty="0"/>
              <a:t>Tree is rebalanced using rotations after insertions/deletions.</a:t>
            </a:r>
          </a:p>
          <a:p>
            <a:r>
              <a:rPr lang="en-US" dirty="0"/>
              <a:t>Ensures height remains O(log n), avoiding skew.</a:t>
            </a:r>
          </a:p>
          <a:p>
            <a:r>
              <a:rPr lang="en-US" dirty="0"/>
              <a:t>Applications where strict worst-case time is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44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8500-90B5-E061-EF5E-8F103FF6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AVL Trees – Rotation and 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39F59-A29E-E631-D54E-74EB3C03F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Rebalancing triggered when balance factor becomes ±2:</a:t>
            </a:r>
          </a:p>
          <a:p>
            <a:pPr lvl="1"/>
            <a:r>
              <a:rPr lang="en-US" dirty="0"/>
              <a:t>Single Right Rotation (LL): Left-heavy imbalance</a:t>
            </a:r>
          </a:p>
          <a:p>
            <a:pPr lvl="1"/>
            <a:r>
              <a:rPr lang="en-US" dirty="0"/>
              <a:t>Single Left Rotation (RR): Right-heavy imbalance</a:t>
            </a:r>
          </a:p>
          <a:p>
            <a:pPr lvl="1"/>
            <a:r>
              <a:rPr lang="en-US" dirty="0"/>
              <a:t>Left-Right Rotation (LR): Left-right imbalance</a:t>
            </a:r>
          </a:p>
          <a:p>
            <a:pPr lvl="1"/>
            <a:r>
              <a:rPr lang="en-US" dirty="0"/>
              <a:t>Right-Left Rotation (RL): Right-left imbalance</a:t>
            </a:r>
          </a:p>
          <a:p>
            <a:r>
              <a:rPr lang="en-IN" dirty="0"/>
              <a:t>Rotations preserve in-order sequence.</a:t>
            </a:r>
          </a:p>
          <a:p>
            <a:r>
              <a:rPr lang="en-US" dirty="0"/>
              <a:t>Rebalancing takes O(1) per rotation; O(log n) total per operation.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36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FDCD-C807-7094-1B1A-8D89B34B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AVL Trees – Analysis and Bounds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ACA23-7609-456A-1F58-EFB9F1494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AVL trees have tighter height bounds than plain BSTs.</a:t>
                </a:r>
              </a:p>
              <a:p>
                <a:r>
                  <a:rPr lang="en-US" dirty="0"/>
                  <a:t>Height bound of AVL with </a:t>
                </a:r>
                <a:r>
                  <a:rPr lang="en-US" i="1" dirty="0"/>
                  <a:t>n</a:t>
                </a:r>
                <a:r>
                  <a:rPr lang="en-US" dirty="0"/>
                  <a:t> nodes: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≤1.44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−1.328</m:t>
                    </m:r>
                  </m:oMath>
                </a14:m>
                <a:endParaRPr lang="en-US" dirty="0"/>
              </a:p>
              <a:p>
                <a:r>
                  <a:rPr lang="en-IN" dirty="0"/>
                  <a:t>Insert/Delete operations:</a:t>
                </a:r>
              </a:p>
              <a:p>
                <a:pPr lvl="1"/>
                <a:r>
                  <a:rPr lang="pt-BR" dirty="0"/>
                  <a:t>Traverse path → O(log n)</a:t>
                </a:r>
              </a:p>
              <a:p>
                <a:pPr lvl="1"/>
                <a:r>
                  <a:rPr lang="en-US" dirty="0"/>
                  <a:t>At most O(log n) rotations in worst case (insert: 1, delete: many)</a:t>
                </a:r>
                <a:endParaRPr lang="en-IN" dirty="0"/>
              </a:p>
              <a:p>
                <a:r>
                  <a:rPr lang="en-US" dirty="0"/>
                  <a:t>Space overhead: Additional storage for node height or balance factor.</a:t>
                </a:r>
              </a:p>
              <a:p>
                <a:r>
                  <a:rPr lang="en-US" dirty="0"/>
                  <a:t>More balanced → better cache locality and predictable access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ACA23-7609-456A-1F58-EFB9F1494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1" t="-8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95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C5B1-3B3E-A0F7-CAD2-0867B499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AVL – Rotation Example</a:t>
            </a:r>
          </a:p>
        </p:txBody>
      </p:sp>
      <p:pic>
        <p:nvPicPr>
          <p:cNvPr id="1026" name="Picture 2" descr="AVL Tree Algorithm">
            <a:extLst>
              <a:ext uri="{FF2B5EF4-FFF2-40B4-BE49-F238E27FC236}">
                <a16:creationId xmlns:a16="http://schemas.microsoft.com/office/drawing/2014/main" id="{BB1BA476-D332-B7EA-C4E3-E932D0EF4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050" y="1853247"/>
            <a:ext cx="8816377" cy="360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894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E700-863B-5B39-1E7B-FE12B635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Heap – Concepts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1B42-A14A-5CD2-C7F3-3EF26A323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heap is a binary tree where each node satisfies the heap-order property:</a:t>
            </a:r>
          </a:p>
          <a:p>
            <a:pPr lvl="1"/>
            <a:r>
              <a:rPr lang="en-US" b="1" dirty="0"/>
              <a:t>Min-Heap</a:t>
            </a:r>
            <a:r>
              <a:rPr lang="en-US" dirty="0"/>
              <a:t>: key(parent) ≤ key(children)</a:t>
            </a:r>
          </a:p>
          <a:p>
            <a:pPr lvl="1"/>
            <a:r>
              <a:rPr lang="en-US" b="1" dirty="0"/>
              <a:t>Max-Heap</a:t>
            </a:r>
            <a:r>
              <a:rPr lang="en-US" dirty="0"/>
              <a:t>: key(parent) ≥ key(children)</a:t>
            </a:r>
          </a:p>
          <a:p>
            <a:r>
              <a:rPr lang="en-US" dirty="0"/>
              <a:t>Implemented as complete binary tree:</a:t>
            </a:r>
          </a:p>
          <a:p>
            <a:pPr lvl="1"/>
            <a:r>
              <a:rPr lang="en-US" dirty="0"/>
              <a:t>Efficiently stored in an array.</a:t>
            </a:r>
          </a:p>
          <a:p>
            <a:pPr lvl="1"/>
            <a:r>
              <a:rPr lang="en-IN" dirty="0"/>
              <a:t>Parent(i) = ⌊i/2⌋, Left(i) = 2i, Right(i) = 2i+1</a:t>
            </a:r>
            <a:endParaRPr lang="en-US" dirty="0"/>
          </a:p>
          <a:p>
            <a:r>
              <a:rPr lang="en-US" dirty="0"/>
              <a:t>Not suitable for binary search but ideal for priority-based scheduling.</a:t>
            </a:r>
          </a:p>
          <a:p>
            <a:r>
              <a:rPr lang="en-US" dirty="0"/>
              <a:t>No ordering among siblings/subtrees — only parent-child relation matters.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179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C4EA-0BAE-9711-10A3-0090DA18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Heap – Deep Dive Theory</a:t>
            </a:r>
            <a:br>
              <a:rPr lang="en-IN" b="1" dirty="0"/>
            </a:b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27265-03E3-2FE1-D251-028B8CD870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Insert(x): </a:t>
                </a:r>
                <a:r>
                  <a:rPr lang="en-US" dirty="0"/>
                  <a:t>Place x at end of array, "bubble up" to maintain heap → O(log n).</a:t>
                </a:r>
              </a:p>
              <a:p>
                <a:r>
                  <a:rPr lang="en-IN" dirty="0"/>
                  <a:t>Extract-Min/Max(): </a:t>
                </a:r>
                <a:r>
                  <a:rPr lang="en-US" dirty="0"/>
                  <a:t>Remove root, replace with last element, "bubble down" → O(log n).</a:t>
                </a:r>
              </a:p>
              <a:p>
                <a:r>
                  <a:rPr lang="en-IN" dirty="0"/>
                  <a:t>Build-Heap(A):</a:t>
                </a:r>
              </a:p>
              <a:p>
                <a:pPr lvl="1"/>
                <a:r>
                  <a:rPr lang="en-US" dirty="0"/>
                  <a:t>Convert unordered array into a heap → O(n).</a:t>
                </a:r>
              </a:p>
              <a:p>
                <a:pPr lvl="1"/>
                <a:r>
                  <a:rPr lang="en-IN" dirty="0"/>
                  <a:t>Done using bottom-up </a:t>
                </a:r>
                <a:r>
                  <a:rPr lang="en-IN" dirty="0" err="1"/>
                  <a:t>heapify</a:t>
                </a:r>
                <a:r>
                  <a:rPr lang="en-IN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IN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unc>
                          <m:func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i="1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sup>
                      <m:e>
                        <m:f>
                          <m:fPr>
                            <m:ctrlPr>
                              <a:rPr lang="en-IN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i="1" smtClean="0">
                        <a:latin typeface="Cambria Math" panose="02040503050406030204" pitchFamily="18" charset="0"/>
                      </a:rPr>
                      <m:t>⋅ⅈ=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US" dirty="0"/>
                  <a:t>Heap is not BST: No search guarantees or in-order traversal.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27265-03E3-2FE1-D251-028B8CD87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1" t="-8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64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9138-A464-D250-5C24-95D41765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Priority Queue – ADT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02B1E-2AFA-AD0A-FC2B-3438E9A45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Priority Queue: Data structure supporting:</a:t>
            </a:r>
          </a:p>
          <a:p>
            <a:pPr lvl="1"/>
            <a:r>
              <a:rPr lang="en-US" dirty="0"/>
              <a:t>Insertion with a priority value</a:t>
            </a:r>
          </a:p>
          <a:p>
            <a:pPr lvl="1"/>
            <a:r>
              <a:rPr lang="en-US" dirty="0"/>
              <a:t>Removal of item with highest (or lowest) priority</a:t>
            </a:r>
            <a:endParaRPr lang="en-IN" dirty="0"/>
          </a:p>
          <a:p>
            <a:r>
              <a:rPr lang="en-US" dirty="0"/>
              <a:t>Real-life analogies: CPU scheduling, bandwidth management, hospital ER.</a:t>
            </a:r>
          </a:p>
          <a:p>
            <a:r>
              <a:rPr lang="en-US" dirty="0"/>
              <a:t>Supported Operations:</a:t>
            </a:r>
          </a:p>
          <a:p>
            <a:pPr lvl="1"/>
            <a:r>
              <a:rPr lang="en-US" dirty="0"/>
              <a:t>insert(x, p), get-max/min(), remove-max/min()</a:t>
            </a:r>
          </a:p>
          <a:p>
            <a:pPr lvl="1"/>
            <a:r>
              <a:rPr lang="en-US" dirty="0"/>
              <a:t>change-priority(x, p’)</a:t>
            </a:r>
          </a:p>
          <a:p>
            <a:r>
              <a:rPr lang="en-US" dirty="0"/>
              <a:t>Heaps are the most efficient general-purpose implementation.</a:t>
            </a:r>
          </a:p>
          <a:p>
            <a:r>
              <a:rPr lang="en-US" dirty="0"/>
              <a:t>Alternative: Fibonacci Heaps for amortized time optimization.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746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6448-0037-C022-5D61-8B7ABAE1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Priority Queue – Heap vs Balanced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9884-54C6-86F5-B990-108EA1AF5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Binary heaps are more space-efficient and cache-friendly.</a:t>
            </a:r>
          </a:p>
          <a:p>
            <a:r>
              <a:rPr lang="en-US" dirty="0"/>
              <a:t>BSTs provide ordered traversals, which heaps do not.</a:t>
            </a:r>
          </a:p>
          <a:p>
            <a:r>
              <a:rPr lang="en-US" dirty="0"/>
              <a:t>Choose structure based on operation requirements.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C84E85-B121-7701-BE7C-9A15884FB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352741"/>
              </p:ext>
            </p:extLst>
          </p:nvPr>
        </p:nvGraphicFramePr>
        <p:xfrm>
          <a:off x="1169358" y="2316480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525026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853212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50436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Binary 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Balanced BST (AVL)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574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Insert(x)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130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Find min/max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444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Delete min/max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86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Change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16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Storage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Array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Pointer 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5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77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93A7-CA95-63E4-89F5-56E2321C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and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2D1F-59B3-612B-30AE-CAF2990BE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Binary Search Tree (BST)</a:t>
            </a:r>
          </a:p>
          <a:p>
            <a:pPr lvl="1"/>
            <a:r>
              <a:rPr lang="en-US" dirty="0"/>
              <a:t>Search trees, sets/maps, memory indexing</a:t>
            </a:r>
            <a:endParaRPr lang="en-IN" dirty="0"/>
          </a:p>
          <a:p>
            <a:r>
              <a:rPr lang="en-IN" dirty="0"/>
              <a:t>AVL Trees</a:t>
            </a:r>
          </a:p>
          <a:p>
            <a:pPr lvl="1"/>
            <a:r>
              <a:rPr lang="en-US" dirty="0"/>
              <a:t>High-speed lookup where insert/delete is rare</a:t>
            </a:r>
          </a:p>
          <a:p>
            <a:pPr lvl="1"/>
            <a:r>
              <a:rPr lang="en-IN" dirty="0"/>
              <a:t>Databases, language compilers</a:t>
            </a:r>
          </a:p>
          <a:p>
            <a:r>
              <a:rPr lang="en-IN" dirty="0"/>
              <a:t>Heaps/Priority Queues</a:t>
            </a:r>
          </a:p>
          <a:p>
            <a:pPr lvl="1"/>
            <a:r>
              <a:rPr lang="en-IN" dirty="0"/>
              <a:t>Operating system schedulers</a:t>
            </a:r>
          </a:p>
          <a:p>
            <a:pPr lvl="1"/>
            <a:r>
              <a:rPr lang="en-IN" dirty="0"/>
              <a:t>Event-driven simulations</a:t>
            </a:r>
          </a:p>
          <a:p>
            <a:pPr lvl="1"/>
            <a:r>
              <a:rPr lang="en-US" dirty="0"/>
              <a:t>Dijkstra’s &amp; Prim’s algorithms (graph problems)</a:t>
            </a:r>
          </a:p>
          <a:p>
            <a:pPr lvl="1"/>
            <a:r>
              <a:rPr lang="en-IN" dirty="0"/>
              <a:t>Huffman encoding for compression</a:t>
            </a:r>
          </a:p>
        </p:txBody>
      </p:sp>
    </p:spTree>
    <p:extLst>
      <p:ext uri="{BB962C8B-B14F-4D97-AF65-F5344CB8AC3E}">
        <p14:creationId xmlns:p14="http://schemas.microsoft.com/office/powerpoint/2010/main" val="2492061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56DA-3BB3-23F5-3069-E71697C3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Advanced Balanced Trees – Beyond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2EA1E-EA27-AA13-E089-069CA724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AVL Trees are one among many self-balancing trees:</a:t>
            </a:r>
          </a:p>
          <a:p>
            <a:pPr lvl="1"/>
            <a:r>
              <a:rPr lang="en-US" b="1" dirty="0"/>
              <a:t>Red-Black Trees</a:t>
            </a:r>
            <a:r>
              <a:rPr lang="en-US" dirty="0"/>
              <a:t>: More relaxed balancing, fewer rotations</a:t>
            </a:r>
          </a:p>
          <a:p>
            <a:pPr lvl="1"/>
            <a:r>
              <a:rPr lang="en-US" b="1" dirty="0"/>
              <a:t>Splay Trees</a:t>
            </a:r>
            <a:r>
              <a:rPr lang="en-US" dirty="0"/>
              <a:t>: Self-adjusting trees; frequently accessed items bubble up</a:t>
            </a:r>
          </a:p>
          <a:p>
            <a:pPr lvl="1"/>
            <a:r>
              <a:rPr lang="en-US" b="1" dirty="0"/>
              <a:t>B-Trees</a:t>
            </a:r>
            <a:r>
              <a:rPr lang="en-US" dirty="0"/>
              <a:t>: Designed for disk-based access (multi-way branching)</a:t>
            </a:r>
          </a:p>
          <a:p>
            <a:pPr lvl="1"/>
            <a:r>
              <a:rPr lang="en-US" b="1" dirty="0"/>
              <a:t>Fibonacci Heaps</a:t>
            </a:r>
            <a:r>
              <a:rPr lang="en-US" dirty="0"/>
              <a:t>: Very fast decrease-key (used in advanced graph algorithms)</a:t>
            </a:r>
          </a:p>
          <a:p>
            <a:r>
              <a:rPr lang="en-US" dirty="0"/>
              <a:t>Students are requested to explore – </a:t>
            </a:r>
          </a:p>
          <a:p>
            <a:pPr lvl="1"/>
            <a:r>
              <a:rPr lang="en-US" dirty="0"/>
              <a:t>AVL tree proof of balance and rotation correctness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841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BSTs offer efficient ordered data representation, but are sensitive to input order.</a:t>
            </a:r>
          </a:p>
          <a:p>
            <a:r>
              <a:rPr lang="en-US" dirty="0"/>
              <a:t>AVL Trees guarantee log-time operations through strict balancing.</a:t>
            </a:r>
          </a:p>
          <a:p>
            <a:r>
              <a:rPr lang="en-US" dirty="0"/>
              <a:t>Rotations are key to maintaining balance in AVL Trees.</a:t>
            </a:r>
          </a:p>
          <a:p>
            <a:r>
              <a:rPr lang="en-US" dirty="0"/>
              <a:t>Heaps provide optimal performance for priority-based access.</a:t>
            </a:r>
          </a:p>
          <a:p>
            <a:r>
              <a:rPr lang="en-US" dirty="0"/>
              <a:t>Priority Queues abstract scheduling and resource management.</a:t>
            </a:r>
          </a:p>
          <a:p>
            <a:r>
              <a:rPr lang="en-US" dirty="0"/>
              <a:t>Implementation trade-offs should be evaluated for the context:</a:t>
            </a:r>
          </a:p>
          <a:p>
            <a:pPr lvl="1"/>
            <a:r>
              <a:rPr lang="en-US" dirty="0"/>
              <a:t>Time-critical systems → AVL or Heaps</a:t>
            </a:r>
          </a:p>
          <a:p>
            <a:pPr lvl="1"/>
            <a:r>
              <a:rPr lang="en-IN" dirty="0"/>
              <a:t>Disk access-heavy systems → B-Trees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699</TotalTime>
  <Words>1087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Century Gothic</vt:lpstr>
      <vt:lpstr>Wingdings 3</vt:lpstr>
      <vt:lpstr>Ion</vt:lpstr>
      <vt:lpstr>Object Oriented Programming</vt:lpstr>
      <vt:lpstr>Lecture 9: Trees: BST &amp; AVL; Heaps, Priority Queues</vt:lpstr>
      <vt:lpstr>Binary Search Trees (BST) – Concept </vt:lpstr>
      <vt:lpstr>BST – Properties and Limitations</vt:lpstr>
      <vt:lpstr>AVL Trees – Motivation </vt:lpstr>
      <vt:lpstr>AVL Trees – Rotation and Branching</vt:lpstr>
      <vt:lpstr>AVL Trees – Analysis and Bounds</vt:lpstr>
      <vt:lpstr>AVL – Rotation Example</vt:lpstr>
      <vt:lpstr>Heap – Concepts </vt:lpstr>
      <vt:lpstr>Heap – Deep Dive Theory </vt:lpstr>
      <vt:lpstr>Priority Queue – ADT </vt:lpstr>
      <vt:lpstr>Priority Queue – Heap vs Balanced Trees</vt:lpstr>
      <vt:lpstr>Applications and Use Cases</vt:lpstr>
      <vt:lpstr>Advanced Balanced Trees – Beyond Theory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20</cp:revision>
  <dcterms:created xsi:type="dcterms:W3CDTF">2025-06-02T18:03:59Z</dcterms:created>
  <dcterms:modified xsi:type="dcterms:W3CDTF">2025-07-29T10:47:39Z</dcterms:modified>
</cp:coreProperties>
</file>