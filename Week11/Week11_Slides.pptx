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11: Shortest paths (Dijkstra), MST (Prim, Kruskal)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A2A8-1119-B17D-CCB0-9409C2FF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Graph Algorithms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834D-A3CF-1AFE-27D2-DD1C089CF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Graphs model networks: communication, transportation, electrical circuits, dependencies.</a:t>
            </a:r>
          </a:p>
          <a:p>
            <a:r>
              <a:rPr lang="en-US" dirty="0"/>
              <a:t>Two central problems studied in graph theory:</a:t>
            </a:r>
          </a:p>
          <a:p>
            <a:pPr lvl="1"/>
            <a:r>
              <a:rPr lang="en-US" b="1" dirty="0"/>
              <a:t>Shortest Paths</a:t>
            </a:r>
            <a:r>
              <a:rPr lang="en-US" dirty="0"/>
              <a:t>: Find minimum-cost path between nodes.</a:t>
            </a:r>
          </a:p>
          <a:p>
            <a:pPr lvl="1"/>
            <a:r>
              <a:rPr lang="en-US" b="1" dirty="0"/>
              <a:t>Minimum Spanning Tree (MST)</a:t>
            </a:r>
            <a:r>
              <a:rPr lang="en-US" dirty="0"/>
              <a:t>: Connect all vertices with minimal total edge cost, without cycles.</a:t>
            </a:r>
          </a:p>
          <a:p>
            <a:r>
              <a:rPr lang="en-US" dirty="0"/>
              <a:t>Both problems are fundamental in optimization, network design, and algorithmic analysis.</a:t>
            </a:r>
          </a:p>
          <a:p>
            <a:r>
              <a:rPr lang="en-US" dirty="0"/>
              <a:t>Efficiency critical: large graphs (e.g., Internet, road maps) demand near-optimal time complexity solutions.</a:t>
            </a:r>
          </a:p>
        </p:txBody>
      </p:sp>
    </p:spTree>
    <p:extLst>
      <p:ext uri="{BB962C8B-B14F-4D97-AF65-F5344CB8AC3E}">
        <p14:creationId xmlns:p14="http://schemas.microsoft.com/office/powerpoint/2010/main" val="300065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C076-9570-270E-34C6-B0920A4E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Shortest Path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0A696-EBE6-9E90-68CC-296A1107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Weighted, directed or undirected graph 𝐺=(𝑉,𝐸), weight function 𝑤:𝐸→𝑅+.</a:t>
            </a:r>
          </a:p>
          <a:p>
            <a:r>
              <a:rPr lang="en-IN" dirty="0"/>
              <a:t>Single-Source Shortest Path (SSSP): Given source 𝑠∈𝑉, compute minimum distance 𝑑(𝑠,𝑣) for all 𝑣∈𝑉.</a:t>
            </a:r>
          </a:p>
          <a:p>
            <a:r>
              <a:rPr lang="en-IN" dirty="0"/>
              <a:t>Properties</a:t>
            </a:r>
          </a:p>
          <a:p>
            <a:pPr lvl="1"/>
            <a:r>
              <a:rPr lang="en-IN" dirty="0"/>
              <a:t>Distances satisfy triangle inequality: 𝑑(𝑢,𝑣)≤𝑑(𝑢,𝑥)+𝑑(𝑥,𝑣).</a:t>
            </a:r>
          </a:p>
          <a:p>
            <a:pPr lvl="1"/>
            <a:r>
              <a:rPr lang="en-US" dirty="0"/>
              <a:t>Optimal substructure: shortest path from 𝑠 to 𝑣 passes through optimal shortest paths to intermediate vertices.</a:t>
            </a:r>
            <a:endParaRPr lang="en-IN" dirty="0"/>
          </a:p>
          <a:p>
            <a:r>
              <a:rPr lang="en-IN" dirty="0"/>
              <a:t>Constraints</a:t>
            </a:r>
          </a:p>
          <a:p>
            <a:pPr lvl="1"/>
            <a:r>
              <a:rPr lang="en-US" dirty="0"/>
              <a:t>Edge weights must be non-negative for Dijkstra’s correctness.</a:t>
            </a:r>
          </a:p>
          <a:p>
            <a:pPr lvl="1"/>
            <a:r>
              <a:rPr lang="en-US" dirty="0"/>
              <a:t>With negative edges → Bellman-Ford is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00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37A7-FD13-6DEB-F4CF-C3CC3E16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Dijkstra’s Algorithm: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6863-4E74-919C-7290-0E6835727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algorithm for SSSP with non-negative weights.</a:t>
            </a:r>
          </a:p>
          <a:p>
            <a:r>
              <a:rPr lang="en-US" dirty="0"/>
              <a:t>Maintains set of vertices with known shortest distances, expanding outward from source.</a:t>
            </a:r>
          </a:p>
          <a:p>
            <a:r>
              <a:rPr lang="en-US" dirty="0"/>
              <a:t>Process –</a:t>
            </a:r>
          </a:p>
          <a:p>
            <a:pPr lvl="1"/>
            <a:r>
              <a:rPr lang="en-US" dirty="0"/>
              <a:t>Initialize all distances as ∞, except 𝑑(𝑠)=0.</a:t>
            </a:r>
          </a:p>
          <a:p>
            <a:pPr lvl="1"/>
            <a:r>
              <a:rPr lang="en-US" dirty="0"/>
              <a:t>Repeatedly select the “closest” unexplored vertex 𝑢.</a:t>
            </a:r>
          </a:p>
          <a:p>
            <a:pPr lvl="1"/>
            <a:r>
              <a:rPr lang="en-US" dirty="0"/>
              <a:t>Relax all edges (𝑢,𝑣): if 𝑑(𝑢)+𝑤(𝑢,𝑣)&lt;𝑑(𝑣), update 𝑑(𝑣).</a:t>
            </a:r>
          </a:p>
          <a:p>
            <a:r>
              <a:rPr lang="en-US" dirty="0"/>
              <a:t>Terminates when all vertices are processed.</a:t>
            </a:r>
          </a:p>
          <a:p>
            <a:r>
              <a:rPr lang="en-US" dirty="0"/>
              <a:t>Guarantees correctness due to greedy choice + triangle inequality.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448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004F-DB23-8C1E-1A70-8A0FF178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Dijkstra: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A5B1A-462E-C0C1-77A4-595EB58AD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Dijkstra(G, w, s):</a:t>
            </a:r>
          </a:p>
          <a:p>
            <a:pPr marL="0" indent="0">
              <a:buNone/>
            </a:pPr>
            <a:r>
              <a:rPr lang="en-IN" dirty="0"/>
              <a:t>  for each v ∈ V:</a:t>
            </a:r>
          </a:p>
          <a:p>
            <a:pPr marL="0" indent="0">
              <a:buNone/>
            </a:pPr>
            <a:r>
              <a:rPr lang="en-IN" dirty="0"/>
              <a:t>      d[v] ← ∞</a:t>
            </a:r>
          </a:p>
          <a:p>
            <a:pPr marL="0" indent="0">
              <a:buNone/>
            </a:pPr>
            <a:r>
              <a:rPr lang="en-IN" dirty="0"/>
              <a:t>      parent[v] ← NIL</a:t>
            </a:r>
          </a:p>
          <a:p>
            <a:pPr marL="0" indent="0">
              <a:buNone/>
            </a:pPr>
            <a:r>
              <a:rPr lang="en-IN" dirty="0"/>
              <a:t>  d[s] ← 0</a:t>
            </a:r>
          </a:p>
          <a:p>
            <a:pPr marL="0" indent="0">
              <a:buNone/>
            </a:pPr>
            <a:r>
              <a:rPr lang="en-IN" dirty="0"/>
              <a:t>  Q ← V   // priority queue </a:t>
            </a:r>
          </a:p>
          <a:p>
            <a:pPr marL="0" indent="0">
              <a:buNone/>
            </a:pPr>
            <a:r>
              <a:rPr lang="en-IN" dirty="0"/>
              <a:t>  while Q not empty:</a:t>
            </a:r>
          </a:p>
          <a:p>
            <a:pPr marL="0" indent="0">
              <a:buNone/>
            </a:pPr>
            <a:r>
              <a:rPr lang="en-IN" dirty="0"/>
              <a:t>      u ← Extract-Min(Q)</a:t>
            </a:r>
          </a:p>
          <a:p>
            <a:pPr marL="0" indent="0">
              <a:buNone/>
            </a:pPr>
            <a:r>
              <a:rPr lang="en-IN" dirty="0"/>
              <a:t>      for each (</a:t>
            </a:r>
            <a:r>
              <a:rPr lang="en-IN" dirty="0" err="1"/>
              <a:t>u,v</a:t>
            </a:r>
            <a:r>
              <a:rPr lang="en-IN" dirty="0"/>
              <a:t>) ∈ E:</a:t>
            </a:r>
          </a:p>
          <a:p>
            <a:pPr marL="0" indent="0">
              <a:buNone/>
            </a:pPr>
            <a:r>
              <a:rPr lang="en-IN" dirty="0"/>
              <a:t>          if d[v] &gt; d[u] + w(</a:t>
            </a:r>
            <a:r>
              <a:rPr lang="en-IN" dirty="0" err="1"/>
              <a:t>u,v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              d[v] ← d[u] + w(</a:t>
            </a:r>
            <a:r>
              <a:rPr lang="en-IN" dirty="0" err="1"/>
              <a:t>u,v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      parent[v] ← u</a:t>
            </a:r>
          </a:p>
          <a:p>
            <a:pPr marL="0" indent="0">
              <a:buNone/>
            </a:pPr>
            <a:r>
              <a:rPr lang="en-IN" dirty="0"/>
              <a:t>              Decrease-Key(Q, v, d[v])</a:t>
            </a:r>
          </a:p>
        </p:txBody>
      </p:sp>
    </p:spTree>
    <p:extLst>
      <p:ext uri="{BB962C8B-B14F-4D97-AF65-F5344CB8AC3E}">
        <p14:creationId xmlns:p14="http://schemas.microsoft.com/office/powerpoint/2010/main" val="16919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3114-6DDD-BBF7-7005-02CAF90F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Correctness of Dijkstra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52837-F69E-402E-A20C-8C05947FF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Loop Invariant</a:t>
            </a:r>
          </a:p>
          <a:p>
            <a:pPr lvl="1"/>
            <a:r>
              <a:rPr lang="en-US" dirty="0"/>
              <a:t>At each iteration, the distance 𝑑[𝑢] of extracted vertex 𝑢 is the true shortest distance from source.</a:t>
            </a:r>
            <a:endParaRPr lang="en-IN" dirty="0"/>
          </a:p>
          <a:p>
            <a:r>
              <a:rPr lang="en-IN" dirty="0"/>
              <a:t>Proof</a:t>
            </a:r>
          </a:p>
          <a:p>
            <a:pPr lvl="1"/>
            <a:r>
              <a:rPr lang="en-US" dirty="0"/>
              <a:t>Initially, 𝑑[𝑠]=0, correct.</a:t>
            </a:r>
          </a:p>
          <a:p>
            <a:pPr lvl="1"/>
            <a:r>
              <a:rPr lang="en-US" dirty="0"/>
              <a:t>Greedy choice ensures no shorter path exists via unexplored vertices, due to non-negative weights.</a:t>
            </a:r>
          </a:p>
          <a:p>
            <a:pPr lvl="1"/>
            <a:r>
              <a:rPr lang="en-US" dirty="0"/>
              <a:t>All vertices extracted once, hence all shortest distances computed.</a:t>
            </a:r>
            <a:endParaRPr lang="en-IN" dirty="0"/>
          </a:p>
          <a:p>
            <a:r>
              <a:rPr lang="en-IN" dirty="0"/>
              <a:t>Key condition</a:t>
            </a:r>
          </a:p>
          <a:p>
            <a:pPr lvl="1"/>
            <a:r>
              <a:rPr lang="en-US" dirty="0"/>
              <a:t>Correctness hinges on no negative weights.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67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BC80-00DD-D42D-9E3C-A8D40F99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Shortest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5F93C-FC86-35CF-5396-B4F52949A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Network routing (e.g., OSPF uses Dijkstra).</a:t>
            </a:r>
          </a:p>
          <a:p>
            <a:r>
              <a:rPr lang="en-US" dirty="0"/>
              <a:t>Geographic navigation systems (Google Maps, GPS).</a:t>
            </a:r>
          </a:p>
          <a:p>
            <a:r>
              <a:rPr lang="en-US" dirty="0"/>
              <a:t>Resource allocation in distributed systems.</a:t>
            </a:r>
            <a:endParaRPr lang="en-US" b="1" dirty="0"/>
          </a:p>
          <a:p>
            <a:r>
              <a:rPr lang="en-US" dirty="0"/>
              <a:t>Dependency resolution in compilers and task schedulers.</a:t>
            </a:r>
          </a:p>
          <a:p>
            <a:r>
              <a:rPr lang="en-US" dirty="0"/>
              <a:t>Used as subroutine in higher-level optimization algorithms (e.g., Johnson’s algorithm for all-pairs shortest paths).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2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9BEA-659B-C14F-2286-53194B1F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Minimum Spanning Trees (MSTs)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78496-6E3B-DA16-FB82-FF9F97F9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Input: Weighted, undirected graph 𝐺=(𝑉,𝐸).</a:t>
            </a:r>
          </a:p>
          <a:p>
            <a:r>
              <a:rPr lang="en-US" dirty="0"/>
              <a:t>Spanning Tree: Subgraph</a:t>
            </a:r>
          </a:p>
          <a:p>
            <a:pPr lvl="1"/>
            <a:r>
              <a:rPr lang="en-IN" dirty="0"/>
              <a:t>Connects all vertices.</a:t>
            </a:r>
          </a:p>
          <a:p>
            <a:pPr lvl="1"/>
            <a:r>
              <a:rPr lang="en-US" dirty="0"/>
              <a:t>Contains exactly ∣𝑉∣−1 edges.</a:t>
            </a:r>
          </a:p>
          <a:p>
            <a:r>
              <a:rPr lang="en-US" dirty="0"/>
              <a:t>MST</a:t>
            </a:r>
          </a:p>
          <a:p>
            <a:pPr lvl="1"/>
            <a:r>
              <a:rPr lang="en-US" dirty="0"/>
              <a:t>Spanning tree with minimum total edge weight.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MST is not unique if equal edge weights exist.</a:t>
            </a:r>
          </a:p>
          <a:p>
            <a:pPr lvl="1"/>
            <a:r>
              <a:rPr lang="en-US" dirty="0"/>
              <a:t>Cycle property: For any cycle, the maximum-weight edge cannot belong to MST.</a:t>
            </a:r>
          </a:p>
          <a:p>
            <a:pPr lvl="1"/>
            <a:r>
              <a:rPr lang="en-US" dirty="0"/>
              <a:t>Cut property: For any cut, the minimum-weight edge crossing the cut belongs to MST.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00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8C8E-B208-E307-6C26-A157C03E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Prim’s Algorithm: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F575-8281-4384-6CEF-1446F3666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Greedy algorithm, grows MST one edge at a time from an initial vertex.</a:t>
            </a:r>
          </a:p>
          <a:p>
            <a:r>
              <a:rPr lang="en-US" dirty="0"/>
              <a:t>Process – </a:t>
            </a:r>
          </a:p>
          <a:p>
            <a:pPr lvl="1"/>
            <a:r>
              <a:rPr lang="en-US" dirty="0"/>
              <a:t>Initialize tree 𝑇 with arbitrary start vertex.</a:t>
            </a:r>
          </a:p>
          <a:p>
            <a:pPr lvl="1"/>
            <a:r>
              <a:rPr lang="en-US" dirty="0"/>
              <a:t>Repeatedly add the minimum-weight edge connecting a vertex in 𝑇 to a vertex outside 𝑇.</a:t>
            </a:r>
          </a:p>
          <a:p>
            <a:pPr lvl="1"/>
            <a:r>
              <a:rPr lang="en-US" dirty="0"/>
              <a:t>Continue until all vertices included.</a:t>
            </a:r>
          </a:p>
          <a:p>
            <a:r>
              <a:rPr lang="en-US" dirty="0"/>
              <a:t>Efficient with priority queues</a:t>
            </a:r>
            <a:r>
              <a:rPr lang="en-IN" dirty="0"/>
              <a:t>.</a:t>
            </a:r>
          </a:p>
          <a:p>
            <a:r>
              <a:rPr lang="en-IN" dirty="0"/>
              <a:t>Complexity –</a:t>
            </a:r>
          </a:p>
          <a:p>
            <a:pPr lvl="1"/>
            <a:r>
              <a:rPr lang="en-US" dirty="0"/>
              <a:t>Binary Heap + Adjacency List: 𝑂(∣𝐸∣log⁡ ∣</a:t>
            </a:r>
            <a:r>
              <a:rPr lang="en-US" i="1" dirty="0"/>
              <a:t>V</a:t>
            </a:r>
            <a:r>
              <a:rPr lang="en-US" dirty="0"/>
              <a:t>∣.</a:t>
            </a:r>
          </a:p>
          <a:p>
            <a:pPr lvl="1"/>
            <a:r>
              <a:rPr lang="en-US" dirty="0"/>
              <a:t>Fibonacci Heap: 𝑂(∣𝐸∣+∣𝑉∣log∣𝑉∣).</a:t>
            </a:r>
          </a:p>
        </p:txBody>
      </p:sp>
    </p:spTree>
    <p:extLst>
      <p:ext uri="{BB962C8B-B14F-4D97-AF65-F5344CB8AC3E}">
        <p14:creationId xmlns:p14="http://schemas.microsoft.com/office/powerpoint/2010/main" val="2175221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59FB-B97B-2DE0-A27F-8BDA7FE0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Prim’s Algorithm: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D2C31-4F74-8F8A-00C3-2576DE29D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Prim(G, w):</a:t>
            </a:r>
          </a:p>
          <a:p>
            <a:pPr marL="0" indent="0">
              <a:buNone/>
            </a:pPr>
            <a:r>
              <a:rPr lang="en-IN" dirty="0"/>
              <a:t>  for each v ∈ V:</a:t>
            </a:r>
          </a:p>
          <a:p>
            <a:pPr marL="0" indent="0">
              <a:buNone/>
            </a:pPr>
            <a:r>
              <a:rPr lang="en-IN" dirty="0"/>
              <a:t>      key[v] ← ∞</a:t>
            </a:r>
          </a:p>
          <a:p>
            <a:pPr marL="0" indent="0">
              <a:buNone/>
            </a:pPr>
            <a:r>
              <a:rPr lang="en-IN" dirty="0"/>
              <a:t>      parent[v] ← NIL</a:t>
            </a:r>
          </a:p>
          <a:p>
            <a:pPr marL="0" indent="0">
              <a:buNone/>
            </a:pPr>
            <a:r>
              <a:rPr lang="en-IN" dirty="0"/>
              <a:t>  choose arbitrary root r</a:t>
            </a:r>
          </a:p>
          <a:p>
            <a:pPr marL="0" indent="0">
              <a:buNone/>
            </a:pPr>
            <a:r>
              <a:rPr lang="en-IN" dirty="0"/>
              <a:t>  key[r] ← 0</a:t>
            </a:r>
          </a:p>
          <a:p>
            <a:pPr marL="0" indent="0">
              <a:buNone/>
            </a:pPr>
            <a:r>
              <a:rPr lang="en-IN" dirty="0"/>
              <a:t>  Q ← V   // priority queue</a:t>
            </a:r>
          </a:p>
          <a:p>
            <a:pPr marL="0" indent="0">
              <a:buNone/>
            </a:pPr>
            <a:r>
              <a:rPr lang="en-IN" dirty="0"/>
              <a:t>  while Q not empty:</a:t>
            </a:r>
          </a:p>
          <a:p>
            <a:pPr marL="0" indent="0">
              <a:buNone/>
            </a:pPr>
            <a:r>
              <a:rPr lang="en-IN" dirty="0"/>
              <a:t>      u ← Extract-Min(Q)</a:t>
            </a:r>
          </a:p>
          <a:p>
            <a:pPr marL="0" indent="0">
              <a:buNone/>
            </a:pPr>
            <a:r>
              <a:rPr lang="en-IN" dirty="0"/>
              <a:t>      for each (</a:t>
            </a:r>
            <a:r>
              <a:rPr lang="en-IN" dirty="0" err="1"/>
              <a:t>u,v</a:t>
            </a:r>
            <a:r>
              <a:rPr lang="en-IN" dirty="0"/>
              <a:t>) ∈ E:</a:t>
            </a:r>
          </a:p>
          <a:p>
            <a:pPr marL="0" indent="0">
              <a:buNone/>
            </a:pPr>
            <a:r>
              <a:rPr lang="en-IN" dirty="0"/>
              <a:t>          if v ∈ Q and w(</a:t>
            </a:r>
            <a:r>
              <a:rPr lang="en-IN" dirty="0" err="1"/>
              <a:t>u,v</a:t>
            </a:r>
            <a:r>
              <a:rPr lang="en-IN" dirty="0"/>
              <a:t>) &lt; key[v]:</a:t>
            </a:r>
          </a:p>
          <a:p>
            <a:pPr marL="0" indent="0">
              <a:buNone/>
            </a:pPr>
            <a:r>
              <a:rPr lang="en-IN" dirty="0"/>
              <a:t>              parent[v] ← u</a:t>
            </a:r>
          </a:p>
          <a:p>
            <a:pPr marL="0" indent="0">
              <a:buNone/>
            </a:pPr>
            <a:r>
              <a:rPr lang="en-IN" dirty="0"/>
              <a:t>              key[v] ← w(</a:t>
            </a:r>
            <a:r>
              <a:rPr lang="en-IN" dirty="0" err="1"/>
              <a:t>u,v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      Decrease-Key(Q, v, key[v])</a:t>
            </a:r>
          </a:p>
        </p:txBody>
      </p:sp>
    </p:spTree>
    <p:extLst>
      <p:ext uri="{BB962C8B-B14F-4D97-AF65-F5344CB8AC3E}">
        <p14:creationId xmlns:p14="http://schemas.microsoft.com/office/powerpoint/2010/main" val="2715252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FAD2C-253B-7779-0C62-A50B022C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Kruskal’s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C939A-EA67-2C4B-F1E4-95F203E8C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algorithm, edge-centric rather than vertex-centric.</a:t>
            </a:r>
          </a:p>
          <a:p>
            <a:r>
              <a:rPr lang="en-US" dirty="0"/>
              <a:t>Process – </a:t>
            </a:r>
          </a:p>
          <a:p>
            <a:pPr lvl="1"/>
            <a:r>
              <a:rPr lang="en-US" dirty="0"/>
              <a:t>Sort all edges by non-decreasing weight.</a:t>
            </a:r>
          </a:p>
          <a:p>
            <a:pPr lvl="1"/>
            <a:r>
              <a:rPr lang="en-IN" dirty="0"/>
              <a:t>Initialize MST as empty.</a:t>
            </a:r>
          </a:p>
          <a:p>
            <a:pPr lvl="1"/>
            <a:r>
              <a:rPr lang="en-US" dirty="0"/>
              <a:t>For each edge in sorted order: If adding edge does not form a cycle, include it. </a:t>
            </a:r>
            <a:r>
              <a:rPr lang="en-IN" dirty="0"/>
              <a:t>Otherwise, discard.</a:t>
            </a:r>
            <a:endParaRPr lang="en-US" dirty="0"/>
          </a:p>
          <a:p>
            <a:pPr lvl="1"/>
            <a:r>
              <a:rPr lang="en-US" dirty="0"/>
              <a:t>Continue until MST has ∣𝑉∣−1 edges.</a:t>
            </a:r>
          </a:p>
          <a:p>
            <a:r>
              <a:rPr lang="en-US" dirty="0"/>
              <a:t>Cycle detection handled using Disjoint Set Union (Union-Find) with path compression.</a:t>
            </a:r>
          </a:p>
          <a:p>
            <a:r>
              <a:rPr lang="en-US" dirty="0"/>
              <a:t>Complexity: 𝑂(∣𝐸∣log⁡|𝐸∣), dominated by edge sorting.</a:t>
            </a:r>
          </a:p>
        </p:txBody>
      </p:sp>
    </p:spTree>
    <p:extLst>
      <p:ext uri="{BB962C8B-B14F-4D97-AF65-F5344CB8AC3E}">
        <p14:creationId xmlns:p14="http://schemas.microsoft.com/office/powerpoint/2010/main" val="3695461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F67E-1F8F-F058-F3D7-903133A9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MST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125F9-36EC-9350-6388-945A23C0F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Applications –</a:t>
            </a:r>
          </a:p>
          <a:p>
            <a:pPr lvl="1"/>
            <a:r>
              <a:rPr lang="en-US" dirty="0"/>
              <a:t>Network design: telecommunication, power grids, road networks.</a:t>
            </a:r>
          </a:p>
          <a:p>
            <a:pPr lvl="1"/>
            <a:r>
              <a:rPr lang="en-US" dirty="0"/>
              <a:t>Clustering: MST forms basis for hierarchical clustering algorithms.</a:t>
            </a:r>
          </a:p>
          <a:p>
            <a:pPr lvl="1"/>
            <a:r>
              <a:rPr lang="en-US" dirty="0"/>
              <a:t>Approximation algorithms: used in traveling salesman heuristics.</a:t>
            </a:r>
            <a:endParaRPr lang="en-IN" dirty="0"/>
          </a:p>
          <a:p>
            <a:r>
              <a:rPr lang="en-IN" dirty="0"/>
              <a:t>Critical Observations –</a:t>
            </a:r>
          </a:p>
          <a:p>
            <a:pPr lvl="1"/>
            <a:r>
              <a:rPr lang="en-US" dirty="0"/>
              <a:t>Both Prim’s and Kruskal’s algorithms exploit cut property of MST.</a:t>
            </a:r>
          </a:p>
          <a:p>
            <a:pPr lvl="1"/>
            <a:r>
              <a:rPr lang="en-US" dirty="0"/>
              <a:t>Choice between algorithms depends on graph density:</a:t>
            </a:r>
          </a:p>
          <a:p>
            <a:pPr lvl="2"/>
            <a:r>
              <a:rPr lang="en-US" dirty="0"/>
              <a:t>Sparse graphs: Kruskal often more efficient.</a:t>
            </a:r>
          </a:p>
          <a:p>
            <a:pPr lvl="2"/>
            <a:r>
              <a:rPr lang="en-US" dirty="0"/>
              <a:t>Dense graphs: Prim with efficient priority queue preferred.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845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Shortest path problem</a:t>
            </a:r>
          </a:p>
          <a:p>
            <a:pPr lvl="1"/>
            <a:r>
              <a:rPr lang="en-IN" dirty="0"/>
              <a:t>Dijkstra’s Algorithm – Greedy, non-negative weights, 𝑂((𝑉+𝐸)log⁡𝑉).</a:t>
            </a:r>
          </a:p>
          <a:p>
            <a:pPr lvl="1"/>
            <a:r>
              <a:rPr lang="en-US" dirty="0"/>
              <a:t>Correctness rooted in triangle inequality and greedy property.</a:t>
            </a:r>
            <a:endParaRPr lang="en-IN" dirty="0"/>
          </a:p>
          <a:p>
            <a:r>
              <a:rPr lang="en-IN" dirty="0"/>
              <a:t>Minimum spanning tree problem</a:t>
            </a:r>
          </a:p>
          <a:p>
            <a:pPr lvl="1"/>
            <a:r>
              <a:rPr lang="en-IN" dirty="0"/>
              <a:t>Prim’s Algorithm – grows tree vertex by vertex.</a:t>
            </a:r>
          </a:p>
          <a:p>
            <a:pPr lvl="1"/>
            <a:r>
              <a:rPr lang="en-US" dirty="0"/>
              <a:t>Kruskal’s Algorithm – grows tree edge by edge.</a:t>
            </a:r>
            <a:endParaRPr lang="en-IN" dirty="0"/>
          </a:p>
          <a:p>
            <a:r>
              <a:rPr lang="en-US" dirty="0"/>
              <a:t>Both problems demonstrate power of greedy strategies in graph optimization. Proofs of optimality are based on structural properties of graphs; detailed proofs recommended for self-study.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737</TotalTime>
  <Words>1185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Object Oriented Programming</vt:lpstr>
      <vt:lpstr>Lecture 11: Shortest paths (Dijkstra), MST (Prim, Kruskal)</vt:lpstr>
      <vt:lpstr>Graph Algorithms Recap</vt:lpstr>
      <vt:lpstr>Shortest Path Problem</vt:lpstr>
      <vt:lpstr>Dijkstra’s Algorithm: Core Idea</vt:lpstr>
      <vt:lpstr>Dijkstra: Pseudocode</vt:lpstr>
      <vt:lpstr>Correctness of Dijkstra</vt:lpstr>
      <vt:lpstr>Applications of Shortest Path</vt:lpstr>
      <vt:lpstr>Minimum Spanning Trees (MSTs)</vt:lpstr>
      <vt:lpstr>Prim’s Algorithm: Core Idea</vt:lpstr>
      <vt:lpstr>Prim’s Algorithm: Pseudocode</vt:lpstr>
      <vt:lpstr>Kruskal’s Algorithm</vt:lpstr>
      <vt:lpstr>MST Overview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23</cp:revision>
  <dcterms:created xsi:type="dcterms:W3CDTF">2025-06-02T18:03:59Z</dcterms:created>
  <dcterms:modified xsi:type="dcterms:W3CDTF">2025-08-19T13:55:39Z</dcterms:modified>
</cp:coreProperties>
</file>