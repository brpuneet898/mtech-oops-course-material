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12: Divide‑&amp;‑conquer; Memoisation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4D43-BF50-74EC-38A3-60BFAC1B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Divide &amp; Conquer: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7107F-7E21-5D7A-8D05-D8A984BAB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paradigm where a complex problem is solved by breaking it down into smaller subproblems, solving them independently, and combining their results.</a:t>
            </a:r>
          </a:p>
          <a:p>
            <a:r>
              <a:rPr lang="en-US" dirty="0"/>
              <a:t>Steps involved –</a:t>
            </a:r>
          </a:p>
          <a:p>
            <a:pPr lvl="1"/>
            <a:r>
              <a:rPr lang="en-US" b="1" dirty="0"/>
              <a:t>Divide</a:t>
            </a:r>
            <a:r>
              <a:rPr lang="en-US" dirty="0"/>
              <a:t>: Partition the problem into subproblems of smaller size.</a:t>
            </a:r>
          </a:p>
          <a:p>
            <a:pPr lvl="1"/>
            <a:r>
              <a:rPr lang="en-US" b="1" dirty="0"/>
              <a:t>Conquer</a:t>
            </a:r>
            <a:r>
              <a:rPr lang="en-US" dirty="0"/>
              <a:t>: Solve the subproblems (recursively if needed).</a:t>
            </a:r>
          </a:p>
          <a:p>
            <a:pPr lvl="1"/>
            <a:r>
              <a:rPr lang="en-US" b="1" dirty="0"/>
              <a:t>Combine</a:t>
            </a:r>
            <a:r>
              <a:rPr lang="en-US" dirty="0"/>
              <a:t>: Merge the solutions to obtain the final result.</a:t>
            </a:r>
          </a:p>
          <a:p>
            <a:r>
              <a:rPr lang="en-US" dirty="0"/>
              <a:t>Applicable for problems that exhibit recursive substructure and efficient combination.</a:t>
            </a:r>
          </a:p>
          <a:p>
            <a:r>
              <a:rPr lang="en-US" dirty="0"/>
              <a:t>Example: </a:t>
            </a:r>
            <a:r>
              <a:rPr lang="en-IN" dirty="0"/>
              <a:t>Sorting (Merge Sort, Quick Sort), Matrix Multiplication, Closest Pair of Points.</a:t>
            </a:r>
          </a:p>
        </p:txBody>
      </p:sp>
    </p:spTree>
    <p:extLst>
      <p:ext uri="{BB962C8B-B14F-4D97-AF65-F5344CB8AC3E}">
        <p14:creationId xmlns:p14="http://schemas.microsoft.com/office/powerpoint/2010/main" val="1398864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B1AD-9591-C658-D7EA-FC709C8B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Divide &amp; Conquer: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8899-5658-AB47-7974-2A84ADB01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subproblem resembles the original problem in form.</a:t>
            </a:r>
          </a:p>
          <a:p>
            <a:r>
              <a:rPr lang="en-US" dirty="0"/>
              <a:t>Subproblem size reduces significantly with each division.</a:t>
            </a:r>
          </a:p>
          <a:p>
            <a:r>
              <a:rPr lang="en-US" dirty="0"/>
              <a:t>Efficiency depends on how costly it is to merge solutions.</a:t>
            </a:r>
          </a:p>
          <a:p>
            <a:r>
              <a:rPr lang="en-US" dirty="0"/>
              <a:t>Typically implemented using recursive functions.</a:t>
            </a:r>
          </a:p>
          <a:p>
            <a:r>
              <a:rPr lang="en-US" dirty="0"/>
              <a:t>Performance often studied via recurrence relations.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16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0C6EC-19B1-6EF5-62F9-BA911C49A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Divide &amp; Conquer: Recurrence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8526-2025-C840-E640-A4A2C9E4A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General recurrence form: T(n)=</a:t>
            </a:r>
            <a:r>
              <a:rPr lang="en-IN" dirty="0" err="1"/>
              <a:t>aT</a:t>
            </a:r>
            <a:r>
              <a:rPr lang="en-IN" dirty="0"/>
              <a:t>(n/b​)+f(n), where</a:t>
            </a:r>
            <a:br>
              <a:rPr lang="en-IN" dirty="0"/>
            </a:br>
            <a:r>
              <a:rPr lang="en-IN" dirty="0"/>
              <a:t>a: Number of subproblems</a:t>
            </a:r>
            <a:br>
              <a:rPr lang="en-IN" dirty="0"/>
            </a:br>
            <a:r>
              <a:rPr lang="en-US" dirty="0"/>
              <a:t>𝑛/𝑏: Size of each subproblem</a:t>
            </a:r>
            <a:br>
              <a:rPr lang="en-US" dirty="0"/>
            </a:br>
            <a:r>
              <a:rPr lang="en-US" dirty="0"/>
              <a:t>𝑓(𝑛): Cost of dividing and combining</a:t>
            </a:r>
            <a:endParaRPr lang="en-IN" dirty="0"/>
          </a:p>
          <a:p>
            <a:r>
              <a:rPr lang="en-IN" dirty="0"/>
              <a:t>Techniques used for the solution –</a:t>
            </a:r>
          </a:p>
          <a:p>
            <a:pPr lvl="1"/>
            <a:r>
              <a:rPr lang="en-IN" dirty="0"/>
              <a:t>Iterative expansion</a:t>
            </a:r>
          </a:p>
          <a:p>
            <a:pPr lvl="1"/>
            <a:r>
              <a:rPr lang="en-IN" dirty="0"/>
              <a:t>Master theorem</a:t>
            </a:r>
          </a:p>
          <a:p>
            <a:pPr lvl="1"/>
            <a:r>
              <a:rPr lang="en-IN" dirty="0"/>
              <a:t>Recursion tree method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31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8185B-036D-BF0B-02FD-986780CB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Master Theorem: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46BBC-5624-5DCC-5BFE-C5B726D09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recurrence 𝑇(𝑛)=𝑎𝑇(𝑛/𝑏)+𝑓(𝑛):</a:t>
            </a:r>
            <a:br>
              <a:rPr lang="en-IN" dirty="0"/>
            </a:br>
            <a:r>
              <a:rPr lang="en-IN" dirty="0"/>
              <a:t>(show how it is calculated)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  <a:p>
            <a:r>
              <a:rPr lang="en-US" dirty="0"/>
              <a:t>Quickly determines asymptotic runtime of divide-&amp;-conquer algorithms.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936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3025-2A1C-C9AC-5BCD-37084B3C9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of Divide &amp;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CFF6F-76CB-AABD-A436-B67732170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Natural recursive decomposition.</a:t>
            </a:r>
          </a:p>
          <a:p>
            <a:r>
              <a:rPr lang="en-US" dirty="0"/>
              <a:t>Subproblems can often be solved independently.</a:t>
            </a:r>
          </a:p>
          <a:p>
            <a:r>
              <a:rPr lang="en-US" dirty="0"/>
              <a:t>Reduces large problems to smaller, manageable units.</a:t>
            </a:r>
          </a:p>
          <a:p>
            <a:r>
              <a:rPr lang="en-US" dirty="0"/>
              <a:t>Improves time complexities in multiple known algorithms like merge sort.</a:t>
            </a:r>
          </a:p>
          <a:p>
            <a:r>
              <a:rPr lang="en-US" dirty="0"/>
              <a:t>Works across searching, sorting, numerical computation, geometry,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929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1D193-FE87-5B1D-072E-8FB29F76E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Limitations of Divide &amp;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78F7F-D304-EB76-11F7-D8B30E62E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 calls may add overhead.</a:t>
            </a:r>
          </a:p>
          <a:p>
            <a:r>
              <a:rPr lang="en-US" dirty="0"/>
              <a:t>Same subproblems may be solved multiple times (e.g., Fibonacci).</a:t>
            </a:r>
          </a:p>
          <a:p>
            <a:r>
              <a:rPr lang="en-US" dirty="0"/>
              <a:t>Recursion depth may lead to high stack usage.</a:t>
            </a:r>
          </a:p>
          <a:p>
            <a:r>
              <a:rPr lang="en-US" dirty="0"/>
              <a:t>Some problems have costly merging steps, resulting in non-trivial combinations.</a:t>
            </a:r>
          </a:p>
          <a:p>
            <a:r>
              <a:rPr lang="en-US" dirty="0"/>
              <a:t>In some cases, iterative or greedy methods outperform. That means these algorithms are not universally optimal.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775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1E182-4D14-1A3E-B050-B6576644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Memoisation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CF861-0F15-6EE1-030E-F31C40433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Optimization technique that stores results of expensive function calls and reuses them when the same inputs occur again.</a:t>
            </a:r>
          </a:p>
          <a:p>
            <a:r>
              <a:rPr lang="en-US" dirty="0"/>
              <a:t>How it results in paradigm shift?</a:t>
            </a:r>
          </a:p>
          <a:p>
            <a:pPr lvl="1"/>
            <a:r>
              <a:rPr lang="en-US" dirty="0"/>
              <a:t>Instead of recomputing subproblems (as in pure divide-&amp;-conquer), reuse cached results.</a:t>
            </a:r>
            <a:endParaRPr lang="en-IN" dirty="0"/>
          </a:p>
          <a:p>
            <a:r>
              <a:rPr lang="en-IN" dirty="0"/>
              <a:t>Most commonly used in:</a:t>
            </a:r>
          </a:p>
          <a:p>
            <a:pPr lvl="1"/>
            <a:r>
              <a:rPr lang="en-IN" dirty="0"/>
              <a:t>Dynamic Programming.</a:t>
            </a:r>
          </a:p>
          <a:p>
            <a:r>
              <a:rPr lang="en-IN" dirty="0"/>
              <a:t>What is its difference from simple caching methodology?</a:t>
            </a:r>
          </a:p>
          <a:p>
            <a:pPr lvl="1"/>
            <a:r>
              <a:rPr lang="en-US" dirty="0"/>
              <a:t>Memoisation is tied to recursive subproblem structure.</a:t>
            </a:r>
          </a:p>
        </p:txBody>
      </p:sp>
    </p:spTree>
    <p:extLst>
      <p:ext uri="{BB962C8B-B14F-4D97-AF65-F5344CB8AC3E}">
        <p14:creationId xmlns:p14="http://schemas.microsoft.com/office/powerpoint/2010/main" val="3971905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4662-F52C-A8B3-DA18-E1D98759C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Memoisation: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070E-7176-1FE2-99CB-6CB9CE256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Recursive + Cache –</a:t>
            </a:r>
          </a:p>
          <a:p>
            <a:pPr lvl="1"/>
            <a:r>
              <a:rPr lang="en-US" dirty="0"/>
              <a:t>Call function → check if result already computed.</a:t>
            </a:r>
          </a:p>
          <a:p>
            <a:pPr lvl="1"/>
            <a:r>
              <a:rPr lang="en-US" dirty="0"/>
              <a:t>If yes → return stored result.</a:t>
            </a:r>
          </a:p>
          <a:p>
            <a:pPr lvl="1"/>
            <a:r>
              <a:rPr lang="en-US" dirty="0"/>
              <a:t>If no → compute recursively, store result, return.</a:t>
            </a:r>
            <a:endParaRPr lang="en-IN" dirty="0"/>
          </a:p>
          <a:p>
            <a:r>
              <a:rPr lang="en-IN" dirty="0"/>
              <a:t>Benefits</a:t>
            </a:r>
          </a:p>
          <a:p>
            <a:pPr lvl="1"/>
            <a:r>
              <a:rPr lang="en-IN" dirty="0"/>
              <a:t>Avoids redundant computation.</a:t>
            </a:r>
          </a:p>
          <a:p>
            <a:pPr lvl="1"/>
            <a:r>
              <a:rPr lang="en-US" dirty="0"/>
              <a:t>Significant reduction in runtime for overlapping subproblems.</a:t>
            </a:r>
            <a:endParaRPr lang="en-IN" dirty="0"/>
          </a:p>
          <a:p>
            <a:r>
              <a:rPr lang="en-IN" dirty="0"/>
              <a:t>Memory Trade-off</a:t>
            </a:r>
          </a:p>
          <a:p>
            <a:pPr lvl="1"/>
            <a:r>
              <a:rPr lang="en-US" dirty="0"/>
              <a:t>Requires additional storage proportional to number of subproblems.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003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23AF-5DF2-AE59-674E-31F91601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Divide &amp; Conquer vs Memoisation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0C467F-2657-E286-5E7F-FF263178F9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3308672"/>
              </p:ext>
            </p:extLst>
          </p:nvPr>
        </p:nvGraphicFramePr>
        <p:xfrm>
          <a:off x="1103313" y="2052638"/>
          <a:ext cx="8947149" cy="385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383">
                  <a:extLst>
                    <a:ext uri="{9D8B030D-6E8A-4147-A177-3AD203B41FA5}">
                      <a16:colId xmlns:a16="http://schemas.microsoft.com/office/drawing/2014/main" val="2200558956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1961328926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4279314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Divide &amp; Conquer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Memoisation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210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Break into independent subproblems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 and reuse overlapping subproblems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775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Recurrence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 exponential if overlap exists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Reduced to polynomial via reuse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54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Typical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Sorting, numerical 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Dynamic programming, combinatorics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30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recompute same subproblem multiple times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Eliminates recomputation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200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124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6258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4384-43D6-0AA3-E7C8-16F24C85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Role of Overlapping Subproblems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E53F4-24C3-F7E1-F1EF-C49F130A2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Choosing the correct paradigm depends on problem structure.</a:t>
            </a:r>
            <a:endParaRPr lang="en-IN" dirty="0"/>
          </a:p>
          <a:p>
            <a:r>
              <a:rPr lang="en-IN" dirty="0"/>
              <a:t>Key features –</a:t>
            </a:r>
          </a:p>
          <a:p>
            <a:pPr lvl="1"/>
            <a:r>
              <a:rPr lang="en-US" dirty="0"/>
              <a:t>Divide-&amp;-conquer is efficient when subproblems are independent.</a:t>
            </a:r>
          </a:p>
          <a:p>
            <a:pPr lvl="1"/>
            <a:r>
              <a:rPr lang="en-US" dirty="0"/>
              <a:t>Memoisation is essential when subproblems are overlapping.</a:t>
            </a:r>
            <a:endParaRPr lang="en-IN" dirty="0"/>
          </a:p>
          <a:p>
            <a:r>
              <a:rPr lang="en-IN" dirty="0"/>
              <a:t>Examples</a:t>
            </a:r>
          </a:p>
          <a:p>
            <a:pPr lvl="1"/>
            <a:r>
              <a:rPr lang="en-US" dirty="0"/>
              <a:t>Independent → Merge Sort, Quick Sort.</a:t>
            </a:r>
          </a:p>
          <a:p>
            <a:pPr lvl="1"/>
            <a:r>
              <a:rPr lang="en-IN" dirty="0"/>
              <a:t>Overlapping → Fibonacci, Matrix Chain Multiplication, Optimal BST.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706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59AA3-A2D9-0813-C77D-1BC21DD10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Practical Considerations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92BFB-30F1-9B52-EC38-249B11434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Algorithm Design</a:t>
            </a:r>
          </a:p>
          <a:p>
            <a:pPr lvl="1"/>
            <a:r>
              <a:rPr lang="en-IN" dirty="0"/>
              <a:t>Start with recursive formulation.</a:t>
            </a:r>
          </a:p>
          <a:p>
            <a:pPr lvl="1"/>
            <a:r>
              <a:rPr lang="en-US" dirty="0"/>
              <a:t>Analyze: Are subproblems overlapping? Is combination efficient?</a:t>
            </a:r>
          </a:p>
          <a:p>
            <a:pPr lvl="1"/>
            <a:r>
              <a:rPr lang="en-IN" dirty="0"/>
              <a:t>Decide:</a:t>
            </a:r>
          </a:p>
          <a:p>
            <a:pPr lvl="2"/>
            <a:r>
              <a:rPr lang="en-IN" dirty="0"/>
              <a:t>If independent → pure divide-&amp;-conquer.</a:t>
            </a:r>
          </a:p>
          <a:p>
            <a:pPr lvl="2"/>
            <a:r>
              <a:rPr lang="en-US" dirty="0"/>
              <a:t>If overlapping → augment with Memoisation.</a:t>
            </a:r>
            <a:endParaRPr lang="en-IN" dirty="0"/>
          </a:p>
          <a:p>
            <a:r>
              <a:rPr lang="en-IN" dirty="0"/>
              <a:t>Trade-off Balance</a:t>
            </a:r>
          </a:p>
          <a:p>
            <a:pPr lvl="1"/>
            <a:r>
              <a:rPr lang="en-IN" dirty="0"/>
              <a:t>Time vs. space.</a:t>
            </a:r>
          </a:p>
          <a:p>
            <a:pPr lvl="1"/>
            <a:r>
              <a:rPr lang="en-IN" dirty="0"/>
              <a:t>Recursive elegance vs. iterative optimisation.</a:t>
            </a:r>
          </a:p>
          <a:p>
            <a:r>
              <a:rPr lang="en-US" dirty="0"/>
              <a:t>Memoisation can often be replaced with bottom-up DP for iterative efficiency.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829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AB9E-AE0A-E6D7-AB17-9AF6EFAE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FFD5-4A6D-0E4A-3750-7CC5B705C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Divide-&amp;-Conquer: Recursive decomposition; efficient for independent subproblems.</a:t>
            </a:r>
          </a:p>
          <a:p>
            <a:r>
              <a:rPr lang="en-US" dirty="0"/>
              <a:t>Memoisation: Caching technique; critical when subproblems overlap.</a:t>
            </a:r>
          </a:p>
          <a:p>
            <a:r>
              <a:rPr lang="en-US" dirty="0"/>
              <a:t>Master Theorem: Provides asymptotic analysis framework for divide-&amp;-conquer recurrences.</a:t>
            </a:r>
          </a:p>
          <a:p>
            <a:r>
              <a:rPr lang="en-US" dirty="0"/>
              <a:t>Benefits: Clear design, potential parallelism, efficiency gains.</a:t>
            </a:r>
          </a:p>
          <a:p>
            <a:r>
              <a:rPr lang="en-IN" dirty="0"/>
              <a:t>Limitations: Recursive overhead, duplicate computations, stack usage.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3225-BB86-9D04-9B59-A5EB56004DB2}"/>
              </a:ext>
            </a:extLst>
          </p:cNvPr>
          <p:cNvSpPr txBox="1"/>
          <p:nvPr/>
        </p:nvSpPr>
        <p:spPr>
          <a:xfrm>
            <a:off x="646111" y="6405282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Disclaimer – For course use only; do not redistribute.</a:t>
            </a:r>
          </a:p>
        </p:txBody>
      </p:sp>
    </p:spTree>
    <p:extLst>
      <p:ext uri="{BB962C8B-B14F-4D97-AF65-F5344CB8AC3E}">
        <p14:creationId xmlns:p14="http://schemas.microsoft.com/office/powerpoint/2010/main" val="33683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764</TotalTime>
  <Words>805</Words>
  <Application>Microsoft Office PowerPoint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Object Oriented Programming</vt:lpstr>
      <vt:lpstr>Lecture 12: Divide‑&amp;‑conquer; Memoisation</vt:lpstr>
      <vt:lpstr>Divide &amp; Conquer: Core Idea</vt:lpstr>
      <vt:lpstr>Divide &amp; Conquer: Properties</vt:lpstr>
      <vt:lpstr>Divide &amp; Conquer: Recurrence Relation</vt:lpstr>
      <vt:lpstr>Master Theorem: Overview</vt:lpstr>
      <vt:lpstr>Benefits of Divide &amp; Conquer</vt:lpstr>
      <vt:lpstr>Limitations of Divide &amp; Conquer</vt:lpstr>
      <vt:lpstr>Memoisation Introduction</vt:lpstr>
      <vt:lpstr>Memoisation: Core Idea</vt:lpstr>
      <vt:lpstr>Divide &amp; Conquer vs Memoisation</vt:lpstr>
      <vt:lpstr>Role of Overlapping Subproblems</vt:lpstr>
      <vt:lpstr>Practical Considerations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26</cp:revision>
  <dcterms:created xsi:type="dcterms:W3CDTF">2025-06-02T18:03:59Z</dcterms:created>
  <dcterms:modified xsi:type="dcterms:W3CDTF">2025-08-19T14:26:24Z</dcterms:modified>
</cp:coreProperties>
</file>