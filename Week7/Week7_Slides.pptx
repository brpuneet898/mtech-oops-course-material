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0" r:id="rId4"/>
    <p:sldId id="271" r:id="rId5"/>
    <p:sldId id="272" r:id="rId6"/>
    <p:sldId id="273" r:id="rId7"/>
    <p:sldId id="274" r:id="rId8"/>
    <p:sldId id="275" r:id="rId9"/>
    <p:sldId id="276" r:id="rId10"/>
    <p:sldId id="277" r:id="rId11"/>
    <p:sldId id="278" r:id="rId12"/>
    <p:sldId id="279" r:id="rId13"/>
    <p:sldId id="280" r:id="rId14"/>
    <p:sldId id="269" r:id="rId15"/>
    <p:sldId id="28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2798866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28761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140608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22A558-B964-4799-A94A-632D1601F177}"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635221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22A558-B964-4799-A94A-632D1601F177}" type="datetimeFigureOut">
              <a:rPr lang="en-IN" smtClean="0"/>
              <a:t>29-07-2025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1968318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4242548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853860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1041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22A558-B964-4799-A94A-632D1601F177}"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9077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22A558-B964-4799-A94A-632D1601F177}" type="datetimeFigureOut">
              <a:rPr lang="en-IN" smtClean="0"/>
              <a:t>29-07-2025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6196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2507772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63552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2047903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15709649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255160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1101533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22A558-B964-4799-A94A-632D1601F177}" type="datetimeFigureOut">
              <a:rPr lang="en-IN" smtClean="0"/>
              <a:t>29-07-2025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D2B58B-FD0C-4F00-BD84-F347C5097BE5}" type="slidenum">
              <a:rPr lang="en-IN" smtClean="0"/>
              <a:t>‹#›</a:t>
            </a:fld>
            <a:endParaRPr lang="en-IN"/>
          </a:p>
        </p:txBody>
      </p:sp>
    </p:spTree>
    <p:extLst>
      <p:ext uri="{BB962C8B-B14F-4D97-AF65-F5344CB8AC3E}">
        <p14:creationId xmlns:p14="http://schemas.microsoft.com/office/powerpoint/2010/main" val="3989182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322A558-B964-4799-A94A-632D1601F177}" type="datetimeFigureOut">
              <a:rPr lang="en-IN" smtClean="0"/>
              <a:t>29-07-2025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3D2B58B-FD0C-4F00-BD84-F347C5097BE5}" type="slidenum">
              <a:rPr lang="en-IN" smtClean="0"/>
              <a:t>‹#›</a:t>
            </a:fld>
            <a:endParaRPr lang="en-IN"/>
          </a:p>
        </p:txBody>
      </p:sp>
    </p:spTree>
    <p:extLst>
      <p:ext uri="{BB962C8B-B14F-4D97-AF65-F5344CB8AC3E}">
        <p14:creationId xmlns:p14="http://schemas.microsoft.com/office/powerpoint/2010/main" val="55736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63AABD4-F519-466D-7AF3-CDA074CD25AD}"/>
              </a:ext>
            </a:extLst>
          </p:cNvPr>
          <p:cNvSpPr>
            <a:spLocks noGrp="1"/>
          </p:cNvSpPr>
          <p:nvPr>
            <p:ph type="ctrTitle"/>
          </p:nvPr>
        </p:nvSpPr>
        <p:spPr>
          <a:xfrm>
            <a:off x="1154955" y="1447800"/>
            <a:ext cx="8825658" cy="3329581"/>
          </a:xfrm>
        </p:spPr>
        <p:txBody>
          <a:bodyPr/>
          <a:lstStyle/>
          <a:p>
            <a:r>
              <a:rPr lang="en-IN" b="1" dirty="0"/>
              <a:t>Object Oriented Programming</a:t>
            </a:r>
          </a:p>
        </p:txBody>
      </p:sp>
      <p:sp>
        <p:nvSpPr>
          <p:cNvPr id="5" name="Subtitle 2">
            <a:extLst>
              <a:ext uri="{FF2B5EF4-FFF2-40B4-BE49-F238E27FC236}">
                <a16:creationId xmlns:a16="http://schemas.microsoft.com/office/drawing/2014/main" id="{BEFE8F5E-158C-1F0E-A2EF-4DEC2D247C42}"/>
              </a:ext>
            </a:extLst>
          </p:cNvPr>
          <p:cNvSpPr>
            <a:spLocks noGrp="1"/>
          </p:cNvSpPr>
          <p:nvPr>
            <p:ph type="subTitle" idx="1"/>
          </p:nvPr>
        </p:nvSpPr>
        <p:spPr>
          <a:xfrm>
            <a:off x="1154955" y="4777380"/>
            <a:ext cx="8825658" cy="861420"/>
          </a:xfrm>
        </p:spPr>
        <p:txBody>
          <a:bodyPr/>
          <a:lstStyle/>
          <a:p>
            <a:r>
              <a:rPr lang="en-IN" dirty="0"/>
              <a:t>Dr. Neelesh S. Upadhye</a:t>
            </a:r>
          </a:p>
        </p:txBody>
      </p:sp>
      <p:sp>
        <p:nvSpPr>
          <p:cNvPr id="6" name="TextBox 5">
            <a:extLst>
              <a:ext uri="{FF2B5EF4-FFF2-40B4-BE49-F238E27FC236}">
                <a16:creationId xmlns:a16="http://schemas.microsoft.com/office/drawing/2014/main" id="{B67EA1EB-3246-ED57-264B-B69B210A7094}"/>
              </a:ext>
            </a:extLst>
          </p:cNvPr>
          <p:cNvSpPr txBox="1"/>
          <p:nvPr/>
        </p:nvSpPr>
        <p:spPr>
          <a:xfrm>
            <a:off x="1154955" y="5888736"/>
            <a:ext cx="3637534" cy="369332"/>
          </a:xfrm>
          <a:prstGeom prst="rect">
            <a:avLst/>
          </a:prstGeom>
          <a:noFill/>
        </p:spPr>
        <p:txBody>
          <a:bodyPr wrap="none" rtlCol="0">
            <a:spAutoFit/>
          </a:bodyPr>
          <a:lstStyle/>
          <a:p>
            <a:r>
              <a:rPr lang="en-IN" dirty="0"/>
              <a:t>Slides are prepared by Puneet</a:t>
            </a:r>
          </a:p>
        </p:txBody>
      </p:sp>
    </p:spTree>
    <p:extLst>
      <p:ext uri="{BB962C8B-B14F-4D97-AF65-F5344CB8AC3E}">
        <p14:creationId xmlns:p14="http://schemas.microsoft.com/office/powerpoint/2010/main" val="3644633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547E280-AB7F-D69E-B992-B2698FF710FA}"/>
              </a:ext>
            </a:extLst>
          </p:cNvPr>
          <p:cNvSpPr>
            <a:spLocks noGrp="1"/>
          </p:cNvSpPr>
          <p:nvPr>
            <p:ph type="title"/>
          </p:nvPr>
        </p:nvSpPr>
        <p:spPr>
          <a:xfrm>
            <a:off x="646111" y="452718"/>
            <a:ext cx="9567737" cy="1400530"/>
          </a:xfrm>
        </p:spPr>
        <p:txBody>
          <a:bodyPr/>
          <a:lstStyle/>
          <a:p>
            <a:r>
              <a:rPr lang="en-IN" b="1" dirty="0"/>
              <a:t>Lecture 7: </a:t>
            </a:r>
            <a:r>
              <a:rPr lang="fr-FR" b="1" dirty="0"/>
              <a:t>Merge &amp; </a:t>
            </a:r>
            <a:r>
              <a:rPr lang="fr-FR" b="1" dirty="0" err="1"/>
              <a:t>Quicksort</a:t>
            </a:r>
            <a:r>
              <a:rPr lang="fr-FR" b="1" dirty="0"/>
              <a:t>, </a:t>
            </a:r>
            <a:r>
              <a:rPr lang="fr-FR" b="1" dirty="0" err="1"/>
              <a:t>Timsort</a:t>
            </a:r>
            <a:r>
              <a:rPr lang="fr-FR" b="1" dirty="0"/>
              <a:t> </a:t>
            </a:r>
            <a:r>
              <a:rPr lang="fr-FR" b="1" dirty="0" err="1"/>
              <a:t>Idea</a:t>
            </a:r>
            <a:endParaRPr lang="en-IN" b="1" dirty="0"/>
          </a:p>
        </p:txBody>
      </p:sp>
      <p:sp>
        <p:nvSpPr>
          <p:cNvPr id="7" name="Content Placeholder 2">
            <a:extLst>
              <a:ext uri="{FF2B5EF4-FFF2-40B4-BE49-F238E27FC236}">
                <a16:creationId xmlns:a16="http://schemas.microsoft.com/office/drawing/2014/main" id="{7D34D681-F8FC-DB16-6CD3-FEBBBB3440C4}"/>
              </a:ext>
            </a:extLst>
          </p:cNvPr>
          <p:cNvSpPr>
            <a:spLocks noGrp="1"/>
          </p:cNvSpPr>
          <p:nvPr>
            <p:ph idx="1"/>
          </p:nvPr>
        </p:nvSpPr>
        <p:spPr>
          <a:xfrm>
            <a:off x="1103312" y="2052918"/>
            <a:ext cx="8946541" cy="4195481"/>
          </a:xfrm>
        </p:spPr>
        <p:txBody>
          <a:bodyPr>
            <a:normAutofit lnSpcReduction="10000"/>
          </a:bodyPr>
          <a:lstStyle/>
          <a:p>
            <a:pPr marL="0" indent="0">
              <a:buNone/>
            </a:pPr>
            <a:r>
              <a:rPr lang="en-IN" b="1" dirty="0"/>
              <a:t>References</a:t>
            </a:r>
          </a:p>
          <a:p>
            <a:pPr marL="0" indent="0">
              <a:buNone/>
            </a:pPr>
            <a:endParaRPr lang="en-IN" dirty="0"/>
          </a:p>
          <a:p>
            <a:r>
              <a:rPr lang="en-IN" dirty="0"/>
              <a:t>Core Text</a:t>
            </a:r>
          </a:p>
          <a:p>
            <a:pPr lvl="1"/>
            <a:r>
              <a:rPr lang="en-US" dirty="0"/>
              <a:t>Goodrich, </a:t>
            </a:r>
            <a:r>
              <a:rPr lang="en-US" dirty="0" err="1"/>
              <a:t>Tamassia</a:t>
            </a:r>
            <a:r>
              <a:rPr lang="en-US" dirty="0"/>
              <a:t> &amp; Goldwasser, Data Structures and Algorithms in Python</a:t>
            </a:r>
            <a:endParaRPr lang="en-IN" dirty="0"/>
          </a:p>
          <a:p>
            <a:r>
              <a:rPr lang="en-IN" dirty="0"/>
              <a:t>Other References</a:t>
            </a:r>
          </a:p>
          <a:p>
            <a:pPr lvl="1"/>
            <a:r>
              <a:rPr lang="en-IN" dirty="0"/>
              <a:t>Jon Kleinberg &amp; Éva Tardos, Algorithm Design</a:t>
            </a:r>
          </a:p>
          <a:p>
            <a:pPr lvl="1"/>
            <a:r>
              <a:rPr lang="en-IN" dirty="0"/>
              <a:t>Sanjoy Dasgupta, Christos Papadimitriou &amp; Umesh Vazirani, Algorithms</a:t>
            </a:r>
          </a:p>
          <a:p>
            <a:pPr lvl="1"/>
            <a:r>
              <a:rPr lang="en-IN" dirty="0"/>
              <a:t>Luciano Ramalho, Fluent Python</a:t>
            </a:r>
          </a:p>
          <a:p>
            <a:pPr lvl="1"/>
            <a:r>
              <a:rPr lang="en-US" dirty="0"/>
              <a:t>Steve Freeman &amp; Nat Pryce, Growing Object-Oriented Software, Guided by Tests</a:t>
            </a:r>
            <a:endParaRPr lang="en-IN" dirty="0"/>
          </a:p>
        </p:txBody>
      </p:sp>
    </p:spTree>
    <p:extLst>
      <p:ext uri="{BB962C8B-B14F-4D97-AF65-F5344CB8AC3E}">
        <p14:creationId xmlns:p14="http://schemas.microsoft.com/office/powerpoint/2010/main" val="684280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E4115-F565-2C48-3C29-3CD6A03E8A31}"/>
              </a:ext>
            </a:extLst>
          </p:cNvPr>
          <p:cNvSpPr>
            <a:spLocks noGrp="1"/>
          </p:cNvSpPr>
          <p:nvPr>
            <p:ph type="title"/>
          </p:nvPr>
        </p:nvSpPr>
        <p:spPr/>
        <p:txBody>
          <a:bodyPr/>
          <a:lstStyle/>
          <a:p>
            <a:r>
              <a:rPr lang="en-IN" b="1" dirty="0"/>
              <a:t>Sorting Problem Recap</a:t>
            </a:r>
          </a:p>
        </p:txBody>
      </p:sp>
      <p:sp>
        <p:nvSpPr>
          <p:cNvPr id="3" name="Content Placeholder 2">
            <a:extLst>
              <a:ext uri="{FF2B5EF4-FFF2-40B4-BE49-F238E27FC236}">
                <a16:creationId xmlns:a16="http://schemas.microsoft.com/office/drawing/2014/main" id="{3B4A291F-3DFF-79FA-AB37-91DFC5BD2398}"/>
              </a:ext>
            </a:extLst>
          </p:cNvPr>
          <p:cNvSpPr>
            <a:spLocks noGrp="1"/>
          </p:cNvSpPr>
          <p:nvPr>
            <p:ph idx="1"/>
          </p:nvPr>
        </p:nvSpPr>
        <p:spPr/>
        <p:txBody>
          <a:bodyPr/>
          <a:lstStyle/>
          <a:p>
            <a:r>
              <a:rPr lang="en-US" dirty="0"/>
              <a:t>Sorting is the process of arranging elements in a defined order, commonly ascending or descending.</a:t>
            </a:r>
          </a:p>
          <a:p>
            <a:r>
              <a:rPr lang="en-US" dirty="0"/>
              <a:t>Input: We provide a list of n comparable elements.</a:t>
            </a:r>
          </a:p>
          <a:p>
            <a:r>
              <a:rPr lang="en-US" dirty="0"/>
              <a:t>Output: A defined permutation of input such that the array is for i &lt; j, array[i] &lt;= array[j].</a:t>
            </a:r>
          </a:p>
          <a:p>
            <a:r>
              <a:rPr lang="en-US" dirty="0"/>
              <a:t>Sorting is essential for efficient searching, data analysis, compression, and visualization. </a:t>
            </a:r>
          </a:p>
          <a:p>
            <a:r>
              <a:rPr lang="en-US" dirty="0"/>
              <a:t>For comparison-based sorting, lower bound is Ω(n log n) in worst case (proved via decision tree argument). The goal is to match this lower bound while continuing to optimize the space and practical efficiencies.</a:t>
            </a:r>
          </a:p>
        </p:txBody>
      </p:sp>
    </p:spTree>
    <p:extLst>
      <p:ext uri="{BB962C8B-B14F-4D97-AF65-F5344CB8AC3E}">
        <p14:creationId xmlns:p14="http://schemas.microsoft.com/office/powerpoint/2010/main" val="272431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BEF6-B45B-6303-07EE-8DD7CCFD5CFB}"/>
              </a:ext>
            </a:extLst>
          </p:cNvPr>
          <p:cNvSpPr>
            <a:spLocks noGrp="1"/>
          </p:cNvSpPr>
          <p:nvPr>
            <p:ph type="title"/>
          </p:nvPr>
        </p:nvSpPr>
        <p:spPr/>
        <p:txBody>
          <a:bodyPr/>
          <a:lstStyle/>
          <a:p>
            <a:r>
              <a:rPr lang="en-IN" b="1" dirty="0"/>
              <a:t>Merge Sort - Concepts</a:t>
            </a:r>
          </a:p>
        </p:txBody>
      </p:sp>
      <p:sp>
        <p:nvSpPr>
          <p:cNvPr id="3" name="Content Placeholder 2">
            <a:extLst>
              <a:ext uri="{FF2B5EF4-FFF2-40B4-BE49-F238E27FC236}">
                <a16:creationId xmlns:a16="http://schemas.microsoft.com/office/drawing/2014/main" id="{CB8EBA72-74E1-6F9D-5063-160772F73D08}"/>
              </a:ext>
            </a:extLst>
          </p:cNvPr>
          <p:cNvSpPr>
            <a:spLocks noGrp="1"/>
          </p:cNvSpPr>
          <p:nvPr>
            <p:ph idx="1"/>
          </p:nvPr>
        </p:nvSpPr>
        <p:spPr/>
        <p:txBody>
          <a:bodyPr>
            <a:normAutofit lnSpcReduction="10000"/>
          </a:bodyPr>
          <a:lstStyle/>
          <a:p>
            <a:r>
              <a:rPr lang="en-IN" dirty="0"/>
              <a:t>Type: Divide and Conquer</a:t>
            </a:r>
          </a:p>
          <a:p>
            <a:r>
              <a:rPr lang="en-IN" dirty="0"/>
              <a:t>Steps:</a:t>
            </a:r>
          </a:p>
          <a:p>
            <a:pPr lvl="1"/>
            <a:r>
              <a:rPr lang="en-US" dirty="0"/>
              <a:t>Divide the unsorted list into two roughly equal halves.</a:t>
            </a:r>
          </a:p>
          <a:p>
            <a:pPr lvl="1"/>
            <a:r>
              <a:rPr lang="en-US" dirty="0"/>
              <a:t>Recursively sort each half using merge sort.</a:t>
            </a:r>
          </a:p>
          <a:p>
            <a:pPr lvl="1"/>
            <a:r>
              <a:rPr lang="en-US" dirty="0"/>
              <a:t>Merge the two sorted halves into one final sorted list.</a:t>
            </a:r>
            <a:endParaRPr lang="en-IN" dirty="0"/>
          </a:p>
          <a:p>
            <a:r>
              <a:rPr lang="en-IN" dirty="0"/>
              <a:t>Always divides the input completely before beginning any merge operation. </a:t>
            </a:r>
          </a:p>
          <a:p>
            <a:r>
              <a:rPr lang="en-US" dirty="0"/>
              <a:t>Time complexity: O(n log n) in every case.</a:t>
            </a:r>
          </a:p>
          <a:p>
            <a:r>
              <a:rPr lang="en-US" dirty="0"/>
              <a:t>Advantages: </a:t>
            </a:r>
          </a:p>
          <a:p>
            <a:pPr lvl="1"/>
            <a:r>
              <a:rPr lang="en-US" dirty="0"/>
              <a:t>Highly predictable performance, stable sort</a:t>
            </a:r>
          </a:p>
          <a:p>
            <a:pPr lvl="1"/>
            <a:r>
              <a:rPr lang="en-US" dirty="0"/>
              <a:t>Excellent choice for linked lists and external sorting scenarios</a:t>
            </a:r>
            <a:endParaRPr lang="en-IN" dirty="0"/>
          </a:p>
        </p:txBody>
      </p:sp>
    </p:spTree>
    <p:extLst>
      <p:ext uri="{BB962C8B-B14F-4D97-AF65-F5344CB8AC3E}">
        <p14:creationId xmlns:p14="http://schemas.microsoft.com/office/powerpoint/2010/main" val="2165010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F3C8-09A0-D7C7-677E-5BFDB4756F1E}"/>
              </a:ext>
            </a:extLst>
          </p:cNvPr>
          <p:cNvSpPr>
            <a:spLocks noGrp="1"/>
          </p:cNvSpPr>
          <p:nvPr>
            <p:ph type="title"/>
          </p:nvPr>
        </p:nvSpPr>
        <p:spPr/>
        <p:txBody>
          <a:bodyPr/>
          <a:lstStyle/>
          <a:p>
            <a:r>
              <a:rPr lang="en-IN" b="1" dirty="0"/>
              <a:t>Merge Operation and Internal Mechanics</a:t>
            </a:r>
          </a:p>
        </p:txBody>
      </p:sp>
      <p:sp>
        <p:nvSpPr>
          <p:cNvPr id="3" name="Content Placeholder 2">
            <a:extLst>
              <a:ext uri="{FF2B5EF4-FFF2-40B4-BE49-F238E27FC236}">
                <a16:creationId xmlns:a16="http://schemas.microsoft.com/office/drawing/2014/main" id="{765ACD29-8B1F-F113-094A-183CB7BE140B}"/>
              </a:ext>
            </a:extLst>
          </p:cNvPr>
          <p:cNvSpPr>
            <a:spLocks noGrp="1"/>
          </p:cNvSpPr>
          <p:nvPr>
            <p:ph idx="1"/>
          </p:nvPr>
        </p:nvSpPr>
        <p:spPr/>
        <p:txBody>
          <a:bodyPr>
            <a:normAutofit lnSpcReduction="10000"/>
          </a:bodyPr>
          <a:lstStyle/>
          <a:p>
            <a:r>
              <a:rPr lang="en-US" dirty="0"/>
              <a:t>Merging is the operation that combines two sorted sequences into a single sorted sequence.</a:t>
            </a:r>
          </a:p>
          <a:p>
            <a:r>
              <a:rPr lang="en-US" dirty="0"/>
              <a:t>Use two pointers to scan both arrays simultaneously.</a:t>
            </a:r>
          </a:p>
          <a:p>
            <a:pPr lvl="1"/>
            <a:r>
              <a:rPr lang="en-US" dirty="0"/>
              <a:t>At each step, move the smaller element to the output.</a:t>
            </a:r>
          </a:p>
          <a:p>
            <a:pPr lvl="1"/>
            <a:r>
              <a:rPr lang="en-US" dirty="0"/>
              <a:t>When one input is exhausted, append the remainder of the other.</a:t>
            </a:r>
          </a:p>
          <a:p>
            <a:r>
              <a:rPr lang="en-US" dirty="0"/>
              <a:t>Complexity</a:t>
            </a:r>
          </a:p>
          <a:p>
            <a:pPr lvl="1"/>
            <a:r>
              <a:rPr lang="en-US" dirty="0"/>
              <a:t>Time: O(n), where n is total length of two sequences</a:t>
            </a:r>
          </a:p>
          <a:p>
            <a:pPr lvl="1"/>
            <a:r>
              <a:rPr lang="en-US" dirty="0"/>
              <a:t>Space: O(n) auxiliary memory for standard array implementation</a:t>
            </a:r>
          </a:p>
          <a:p>
            <a:r>
              <a:rPr lang="en-US" dirty="0"/>
              <a:t>Code Implementation Notes – The key to its performance is the efficient linear-time merge step. You can choose to implement it iteratively or recursively. </a:t>
            </a:r>
            <a:endParaRPr lang="en-IN" dirty="0"/>
          </a:p>
        </p:txBody>
      </p:sp>
    </p:spTree>
    <p:extLst>
      <p:ext uri="{BB962C8B-B14F-4D97-AF65-F5344CB8AC3E}">
        <p14:creationId xmlns:p14="http://schemas.microsoft.com/office/powerpoint/2010/main" val="411361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271B-F92E-DBC7-5A65-79BB86A717C5}"/>
              </a:ext>
            </a:extLst>
          </p:cNvPr>
          <p:cNvSpPr>
            <a:spLocks noGrp="1"/>
          </p:cNvSpPr>
          <p:nvPr>
            <p:ph type="title"/>
          </p:nvPr>
        </p:nvSpPr>
        <p:spPr/>
        <p:txBody>
          <a:bodyPr/>
          <a:lstStyle/>
          <a:p>
            <a:r>
              <a:rPr lang="en-IN" b="1" dirty="0"/>
              <a:t>Merge Sort – Complexity and Behaviour</a:t>
            </a:r>
          </a:p>
        </p:txBody>
      </p:sp>
      <p:sp>
        <p:nvSpPr>
          <p:cNvPr id="3" name="Content Placeholder 2">
            <a:extLst>
              <a:ext uri="{FF2B5EF4-FFF2-40B4-BE49-F238E27FC236}">
                <a16:creationId xmlns:a16="http://schemas.microsoft.com/office/drawing/2014/main" id="{4D4A2FA6-21CD-E3CB-27BA-E8E23ADE28DA}"/>
              </a:ext>
            </a:extLst>
          </p:cNvPr>
          <p:cNvSpPr>
            <a:spLocks noGrp="1"/>
          </p:cNvSpPr>
          <p:nvPr>
            <p:ph idx="1"/>
          </p:nvPr>
        </p:nvSpPr>
        <p:spPr/>
        <p:txBody>
          <a:bodyPr/>
          <a:lstStyle/>
          <a:p>
            <a:r>
              <a:rPr lang="en-IN" dirty="0"/>
              <a:t>Time Complexity</a:t>
            </a:r>
          </a:p>
          <a:p>
            <a:pPr lvl="1"/>
            <a:r>
              <a:rPr lang="pt-BR" dirty="0"/>
              <a:t>(T(n) = 2T(n/2) + Θ(n))</a:t>
            </a:r>
          </a:p>
          <a:p>
            <a:pPr lvl="1"/>
            <a:r>
              <a:rPr lang="pt-BR" dirty="0"/>
              <a:t>Solve to T(n) = Θ(n log n) (via Master Theorem)</a:t>
            </a:r>
            <a:endParaRPr lang="en-IN" dirty="0"/>
          </a:p>
          <a:p>
            <a:r>
              <a:rPr lang="en-IN" dirty="0"/>
              <a:t>Space Complexity</a:t>
            </a:r>
          </a:p>
          <a:p>
            <a:pPr lvl="1"/>
            <a:r>
              <a:rPr lang="en-US" dirty="0"/>
              <a:t>O(n) additional memory for temporary arrays.</a:t>
            </a:r>
          </a:p>
          <a:p>
            <a:pPr lvl="1"/>
            <a:r>
              <a:rPr lang="en-US" dirty="0"/>
              <a:t>For linked lists, can be done in O(1) extra space.</a:t>
            </a:r>
            <a:endParaRPr lang="en-IN" dirty="0"/>
          </a:p>
          <a:p>
            <a:r>
              <a:rPr lang="en-IN" dirty="0"/>
              <a:t>Stability – Yes, equal elements retain original relative positions. </a:t>
            </a:r>
          </a:p>
          <a:p>
            <a:r>
              <a:rPr lang="en-IN" dirty="0"/>
              <a:t>Use Case - </a:t>
            </a:r>
            <a:r>
              <a:rPr lang="en-US" dirty="0"/>
              <a:t>External sorting where input doesn't fit into RAM.</a:t>
            </a:r>
          </a:p>
          <a:p>
            <a:r>
              <a:rPr lang="en-US" dirty="0"/>
              <a:t>Disadvantage – Primary concern for not in-place for arrays. Another concern is memory overhead. </a:t>
            </a:r>
          </a:p>
          <a:p>
            <a:endParaRPr lang="en-IN" dirty="0"/>
          </a:p>
        </p:txBody>
      </p:sp>
    </p:spTree>
    <p:extLst>
      <p:ext uri="{BB962C8B-B14F-4D97-AF65-F5344CB8AC3E}">
        <p14:creationId xmlns:p14="http://schemas.microsoft.com/office/powerpoint/2010/main" val="251148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B3044-81DD-21A5-B876-448BD84E8A96}"/>
              </a:ext>
            </a:extLst>
          </p:cNvPr>
          <p:cNvSpPr>
            <a:spLocks noGrp="1"/>
          </p:cNvSpPr>
          <p:nvPr>
            <p:ph type="title"/>
          </p:nvPr>
        </p:nvSpPr>
        <p:spPr/>
        <p:txBody>
          <a:bodyPr/>
          <a:lstStyle/>
          <a:p>
            <a:r>
              <a:rPr lang="en-IN" b="1" dirty="0"/>
              <a:t>Merge Sort – Design Considerations</a:t>
            </a:r>
          </a:p>
        </p:txBody>
      </p:sp>
      <p:sp>
        <p:nvSpPr>
          <p:cNvPr id="3" name="Content Placeholder 2">
            <a:extLst>
              <a:ext uri="{FF2B5EF4-FFF2-40B4-BE49-F238E27FC236}">
                <a16:creationId xmlns:a16="http://schemas.microsoft.com/office/drawing/2014/main" id="{4E1DBCDC-A6CC-9494-FC67-3AD2065FFD27}"/>
              </a:ext>
            </a:extLst>
          </p:cNvPr>
          <p:cNvSpPr>
            <a:spLocks noGrp="1"/>
          </p:cNvSpPr>
          <p:nvPr>
            <p:ph idx="1"/>
          </p:nvPr>
        </p:nvSpPr>
        <p:spPr/>
        <p:txBody>
          <a:bodyPr/>
          <a:lstStyle/>
          <a:p>
            <a:r>
              <a:rPr lang="en-IN" dirty="0"/>
              <a:t>Best for – </a:t>
            </a:r>
          </a:p>
          <a:p>
            <a:pPr lvl="1"/>
            <a:r>
              <a:rPr lang="en-US" dirty="0"/>
              <a:t>Very large datasets (especially on disk)</a:t>
            </a:r>
          </a:p>
          <a:p>
            <a:pPr lvl="1"/>
            <a:r>
              <a:rPr lang="en-US" dirty="0"/>
              <a:t>Linked lists due to pointer manipulation</a:t>
            </a:r>
            <a:endParaRPr lang="en-IN" dirty="0"/>
          </a:p>
          <a:p>
            <a:r>
              <a:rPr lang="en-IN" dirty="0"/>
              <a:t>Parallelism – </a:t>
            </a:r>
          </a:p>
          <a:p>
            <a:pPr lvl="1"/>
            <a:r>
              <a:rPr lang="en-US" dirty="0"/>
              <a:t>Merge sort’s divide stage is highly parallelizable</a:t>
            </a:r>
            <a:endParaRPr lang="en-IN" dirty="0"/>
          </a:p>
          <a:p>
            <a:r>
              <a:rPr lang="en-IN" dirty="0"/>
              <a:t>Merge sort variants – </a:t>
            </a:r>
          </a:p>
          <a:p>
            <a:pPr lvl="1"/>
            <a:r>
              <a:rPr lang="en-IN" dirty="0"/>
              <a:t>Bottom-up merge sort (iterative implementation)</a:t>
            </a:r>
          </a:p>
          <a:p>
            <a:pPr lvl="1"/>
            <a:r>
              <a:rPr lang="en-IN" dirty="0"/>
              <a:t>Natural merge sort (detects existing runs)</a:t>
            </a:r>
          </a:p>
          <a:p>
            <a:r>
              <a:rPr lang="en-IN" dirty="0"/>
              <a:t>Weakness – Space overhead in array-based implementation, not ideal for small datasets due to function call overhead. </a:t>
            </a:r>
          </a:p>
          <a:p>
            <a:pPr marL="0" indent="0">
              <a:buNone/>
            </a:pPr>
            <a:endParaRPr lang="en-IN" dirty="0"/>
          </a:p>
        </p:txBody>
      </p:sp>
    </p:spTree>
    <p:extLst>
      <p:ext uri="{BB962C8B-B14F-4D97-AF65-F5344CB8AC3E}">
        <p14:creationId xmlns:p14="http://schemas.microsoft.com/office/powerpoint/2010/main" val="229916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C7C6-A377-AB6B-758E-BEE28E7688AB}"/>
              </a:ext>
            </a:extLst>
          </p:cNvPr>
          <p:cNvSpPr>
            <a:spLocks noGrp="1"/>
          </p:cNvSpPr>
          <p:nvPr>
            <p:ph type="title"/>
          </p:nvPr>
        </p:nvSpPr>
        <p:spPr/>
        <p:txBody>
          <a:bodyPr/>
          <a:lstStyle/>
          <a:p>
            <a:r>
              <a:rPr lang="en-IN" b="1" dirty="0"/>
              <a:t>Quick Sort – Concepts</a:t>
            </a:r>
            <a:br>
              <a:rPr lang="en-IN" b="1" dirty="0"/>
            </a:br>
            <a:endParaRPr lang="en-IN" b="1" dirty="0"/>
          </a:p>
        </p:txBody>
      </p:sp>
      <p:sp>
        <p:nvSpPr>
          <p:cNvPr id="3" name="Content Placeholder 2">
            <a:extLst>
              <a:ext uri="{FF2B5EF4-FFF2-40B4-BE49-F238E27FC236}">
                <a16:creationId xmlns:a16="http://schemas.microsoft.com/office/drawing/2014/main" id="{16629E21-DE4B-EC4C-0A2B-AF63C54125A6}"/>
              </a:ext>
            </a:extLst>
          </p:cNvPr>
          <p:cNvSpPr>
            <a:spLocks noGrp="1"/>
          </p:cNvSpPr>
          <p:nvPr>
            <p:ph idx="1"/>
          </p:nvPr>
        </p:nvSpPr>
        <p:spPr/>
        <p:txBody>
          <a:bodyPr/>
          <a:lstStyle/>
          <a:p>
            <a:r>
              <a:rPr lang="en-IN" dirty="0"/>
              <a:t>Type: Divide and Conquer</a:t>
            </a:r>
          </a:p>
          <a:p>
            <a:r>
              <a:rPr lang="en-IN" dirty="0"/>
              <a:t>Steps:</a:t>
            </a:r>
          </a:p>
          <a:p>
            <a:pPr lvl="1"/>
            <a:r>
              <a:rPr lang="en-US" dirty="0"/>
              <a:t>Choose a pivot element from the array.</a:t>
            </a:r>
          </a:p>
          <a:p>
            <a:pPr lvl="1"/>
            <a:r>
              <a:rPr lang="en-US" dirty="0"/>
              <a:t>Partition array into two sub-arrays:</a:t>
            </a:r>
          </a:p>
          <a:p>
            <a:pPr lvl="2"/>
            <a:r>
              <a:rPr lang="en-IN" dirty="0"/>
              <a:t>Elements ≤ pivot</a:t>
            </a:r>
          </a:p>
          <a:p>
            <a:pPr lvl="2"/>
            <a:r>
              <a:rPr lang="en-IN" dirty="0"/>
              <a:t>Elements &gt; pivot</a:t>
            </a:r>
            <a:endParaRPr lang="en-US" dirty="0"/>
          </a:p>
          <a:p>
            <a:pPr lvl="1"/>
            <a:r>
              <a:rPr lang="en-US" dirty="0"/>
              <a:t>Recursively apply Quicksort on sub-arrays</a:t>
            </a:r>
          </a:p>
          <a:p>
            <a:r>
              <a:rPr lang="en-IN" dirty="0"/>
              <a:t>Key Features:</a:t>
            </a:r>
          </a:p>
          <a:p>
            <a:pPr lvl="1"/>
            <a:r>
              <a:rPr lang="en-IN" dirty="0"/>
              <a:t>In-place sort, not stable by default.</a:t>
            </a:r>
          </a:p>
          <a:p>
            <a:pPr lvl="1"/>
            <a:r>
              <a:rPr lang="en-IN" dirty="0"/>
              <a:t>Sensitive to pivot choice, fastest general-purpose sort in practice. </a:t>
            </a:r>
          </a:p>
        </p:txBody>
      </p:sp>
    </p:spTree>
    <p:extLst>
      <p:ext uri="{BB962C8B-B14F-4D97-AF65-F5344CB8AC3E}">
        <p14:creationId xmlns:p14="http://schemas.microsoft.com/office/powerpoint/2010/main" val="419785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AAE1-7EAA-EE16-B107-A5DABAB8A02B}"/>
              </a:ext>
            </a:extLst>
          </p:cNvPr>
          <p:cNvSpPr>
            <a:spLocks noGrp="1"/>
          </p:cNvSpPr>
          <p:nvPr>
            <p:ph type="title"/>
          </p:nvPr>
        </p:nvSpPr>
        <p:spPr/>
        <p:txBody>
          <a:bodyPr/>
          <a:lstStyle/>
          <a:p>
            <a:r>
              <a:rPr lang="en-IN" b="1" dirty="0"/>
              <a:t>Quick Sort Partitioning Schemes</a:t>
            </a:r>
          </a:p>
        </p:txBody>
      </p:sp>
      <p:sp>
        <p:nvSpPr>
          <p:cNvPr id="3" name="Content Placeholder 2">
            <a:extLst>
              <a:ext uri="{FF2B5EF4-FFF2-40B4-BE49-F238E27FC236}">
                <a16:creationId xmlns:a16="http://schemas.microsoft.com/office/drawing/2014/main" id="{42B31B78-EDF7-F8C9-C428-005120649F8A}"/>
              </a:ext>
            </a:extLst>
          </p:cNvPr>
          <p:cNvSpPr>
            <a:spLocks noGrp="1"/>
          </p:cNvSpPr>
          <p:nvPr>
            <p:ph idx="1"/>
          </p:nvPr>
        </p:nvSpPr>
        <p:spPr/>
        <p:txBody>
          <a:bodyPr/>
          <a:lstStyle/>
          <a:p>
            <a:r>
              <a:rPr lang="en-IN" dirty="0"/>
              <a:t>Two Common Schemes:</a:t>
            </a:r>
          </a:p>
          <a:p>
            <a:pPr lvl="1"/>
            <a:r>
              <a:rPr lang="en-US" b="1" dirty="0" err="1"/>
              <a:t>Lomuto</a:t>
            </a:r>
            <a:r>
              <a:rPr lang="en-US" b="1" dirty="0"/>
              <a:t> Partition: </a:t>
            </a:r>
            <a:r>
              <a:rPr lang="en-US" dirty="0"/>
              <a:t>Simple, but less efficient (more swaps)</a:t>
            </a:r>
          </a:p>
          <a:p>
            <a:pPr lvl="1"/>
            <a:r>
              <a:rPr lang="en-US" b="1" dirty="0"/>
              <a:t>Hoare Partition: </a:t>
            </a:r>
            <a:r>
              <a:rPr lang="en-US" dirty="0"/>
              <a:t>Fewer swaps, more efficient</a:t>
            </a:r>
            <a:endParaRPr lang="en-IN" dirty="0"/>
          </a:p>
          <a:p>
            <a:r>
              <a:rPr lang="en-IN" dirty="0"/>
              <a:t>Pivot Selection Strategies:</a:t>
            </a:r>
          </a:p>
          <a:p>
            <a:pPr lvl="1"/>
            <a:r>
              <a:rPr lang="en-US" dirty="0"/>
              <a:t>First element, last element, random element.</a:t>
            </a:r>
          </a:p>
          <a:p>
            <a:pPr lvl="1"/>
            <a:r>
              <a:rPr lang="en-US" dirty="0"/>
              <a:t>Median-of-three: Median of first, middle, last → improves balance</a:t>
            </a:r>
            <a:endParaRPr lang="en-IN" dirty="0"/>
          </a:p>
          <a:p>
            <a:r>
              <a:rPr lang="en-IN" dirty="0"/>
              <a:t>Goal of Partition: </a:t>
            </a:r>
            <a:r>
              <a:rPr lang="en-US" dirty="0"/>
              <a:t>Minimize unbalanced splits to avoid O(n²) worst case.</a:t>
            </a:r>
            <a:endParaRPr lang="en-IN" dirty="0"/>
          </a:p>
          <a:p>
            <a:r>
              <a:rPr lang="en-IN" dirty="0"/>
              <a:t>Randomized Quicksort: </a:t>
            </a:r>
            <a:r>
              <a:rPr lang="en-US" dirty="0"/>
              <a:t>Choose pivot randomly → Expected time O(n log n) with high probability.</a:t>
            </a:r>
            <a:endParaRPr lang="en-IN" dirty="0"/>
          </a:p>
        </p:txBody>
      </p:sp>
    </p:spTree>
    <p:extLst>
      <p:ext uri="{BB962C8B-B14F-4D97-AF65-F5344CB8AC3E}">
        <p14:creationId xmlns:p14="http://schemas.microsoft.com/office/powerpoint/2010/main" val="2420128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5BEB-EAEF-2451-8BBE-D712CC9D9538}"/>
              </a:ext>
            </a:extLst>
          </p:cNvPr>
          <p:cNvSpPr>
            <a:spLocks noGrp="1"/>
          </p:cNvSpPr>
          <p:nvPr>
            <p:ph type="title"/>
          </p:nvPr>
        </p:nvSpPr>
        <p:spPr/>
        <p:txBody>
          <a:bodyPr/>
          <a:lstStyle/>
          <a:p>
            <a:r>
              <a:rPr lang="en-IN" b="1" dirty="0"/>
              <a:t>Quick Sort Analysis</a:t>
            </a:r>
          </a:p>
        </p:txBody>
      </p:sp>
      <p:sp>
        <p:nvSpPr>
          <p:cNvPr id="3" name="Content Placeholder 2">
            <a:extLst>
              <a:ext uri="{FF2B5EF4-FFF2-40B4-BE49-F238E27FC236}">
                <a16:creationId xmlns:a16="http://schemas.microsoft.com/office/drawing/2014/main" id="{5B662004-A1E9-DB94-55D7-572EA190B576}"/>
              </a:ext>
            </a:extLst>
          </p:cNvPr>
          <p:cNvSpPr>
            <a:spLocks noGrp="1"/>
          </p:cNvSpPr>
          <p:nvPr>
            <p:ph idx="1"/>
          </p:nvPr>
        </p:nvSpPr>
        <p:spPr/>
        <p:txBody>
          <a:bodyPr/>
          <a:lstStyle/>
          <a:p>
            <a:r>
              <a:rPr lang="en-IN" dirty="0"/>
              <a:t>Best Case: </a:t>
            </a:r>
            <a:r>
              <a:rPr lang="pt-BR" dirty="0"/>
              <a:t>Balanced partition → T(n) = 2T(n/2) + Θ(n) ⇒ O(n log n)</a:t>
            </a:r>
            <a:endParaRPr lang="en-IN" dirty="0"/>
          </a:p>
          <a:p>
            <a:r>
              <a:rPr lang="en-IN" dirty="0"/>
              <a:t>Average Case: </a:t>
            </a:r>
            <a:r>
              <a:rPr lang="pt-BR" dirty="0"/>
              <a:t>Random inputs → O(n log n) expected</a:t>
            </a:r>
            <a:endParaRPr lang="en-IN" dirty="0"/>
          </a:p>
          <a:p>
            <a:r>
              <a:rPr lang="en-IN" dirty="0"/>
              <a:t>Worst Case: </a:t>
            </a:r>
            <a:r>
              <a:rPr lang="en-US" dirty="0"/>
              <a:t>Highly unbalanced (e.g., already sorted) → O(n²)</a:t>
            </a:r>
          </a:p>
          <a:p>
            <a:r>
              <a:rPr lang="en-US" dirty="0"/>
              <a:t>Space:</a:t>
            </a:r>
          </a:p>
          <a:p>
            <a:pPr lvl="1"/>
            <a:r>
              <a:rPr lang="en-IN" dirty="0"/>
              <a:t>In-place sorting.</a:t>
            </a:r>
          </a:p>
          <a:p>
            <a:pPr lvl="1"/>
            <a:r>
              <a:rPr lang="pt-BR" dirty="0"/>
              <a:t>Recursion stack: O(log n) expected, O(n) worst</a:t>
            </a:r>
            <a:endParaRPr lang="en-US" dirty="0"/>
          </a:p>
          <a:p>
            <a:r>
              <a:rPr lang="en-US" dirty="0"/>
              <a:t>How to optimize?</a:t>
            </a:r>
          </a:p>
          <a:p>
            <a:pPr lvl="1"/>
            <a:r>
              <a:rPr lang="en-IN" dirty="0"/>
              <a:t>Tail-call elimination.</a:t>
            </a:r>
          </a:p>
          <a:p>
            <a:pPr lvl="1"/>
            <a:r>
              <a:rPr lang="en-US" dirty="0"/>
              <a:t>Switch to insertion sort for small partitions</a:t>
            </a:r>
            <a:endParaRPr lang="en-IN" dirty="0"/>
          </a:p>
        </p:txBody>
      </p:sp>
    </p:spTree>
    <p:extLst>
      <p:ext uri="{BB962C8B-B14F-4D97-AF65-F5344CB8AC3E}">
        <p14:creationId xmlns:p14="http://schemas.microsoft.com/office/powerpoint/2010/main" val="3541313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28A74-75AF-754E-936B-AD45352925AD}"/>
              </a:ext>
            </a:extLst>
          </p:cNvPr>
          <p:cNvSpPr>
            <a:spLocks noGrp="1"/>
          </p:cNvSpPr>
          <p:nvPr>
            <p:ph type="title"/>
          </p:nvPr>
        </p:nvSpPr>
        <p:spPr/>
        <p:txBody>
          <a:bodyPr/>
          <a:lstStyle/>
          <a:p>
            <a:r>
              <a:rPr lang="en-IN" b="1" dirty="0"/>
              <a:t>Quick Sort Practical Use Cases</a:t>
            </a:r>
          </a:p>
        </p:txBody>
      </p:sp>
      <p:sp>
        <p:nvSpPr>
          <p:cNvPr id="3" name="Content Placeholder 2">
            <a:extLst>
              <a:ext uri="{FF2B5EF4-FFF2-40B4-BE49-F238E27FC236}">
                <a16:creationId xmlns:a16="http://schemas.microsoft.com/office/drawing/2014/main" id="{3372583D-5FD0-5A18-6E38-13BB332730BD}"/>
              </a:ext>
            </a:extLst>
          </p:cNvPr>
          <p:cNvSpPr>
            <a:spLocks noGrp="1"/>
          </p:cNvSpPr>
          <p:nvPr>
            <p:ph idx="1"/>
          </p:nvPr>
        </p:nvSpPr>
        <p:spPr/>
        <p:txBody>
          <a:bodyPr/>
          <a:lstStyle/>
          <a:p>
            <a:r>
              <a:rPr lang="en-IN" dirty="0"/>
              <a:t>Real-world efficiency</a:t>
            </a:r>
          </a:p>
          <a:p>
            <a:pPr lvl="1"/>
            <a:r>
              <a:rPr lang="en-US" dirty="0"/>
              <a:t>Excellent cache performance due to in-place nature.</a:t>
            </a:r>
          </a:p>
          <a:p>
            <a:pPr lvl="1"/>
            <a:r>
              <a:rPr lang="en-US" dirty="0"/>
              <a:t>Fewer data movements than merge sort.</a:t>
            </a:r>
            <a:endParaRPr lang="en-IN" dirty="0"/>
          </a:p>
          <a:p>
            <a:r>
              <a:rPr lang="en-IN" dirty="0"/>
              <a:t>Standard library implementations</a:t>
            </a:r>
          </a:p>
          <a:p>
            <a:pPr lvl="1"/>
            <a:r>
              <a:rPr lang="en-IN" dirty="0"/>
              <a:t>JavaScript, C++ STL (</a:t>
            </a:r>
            <a:r>
              <a:rPr lang="en-IN" dirty="0" err="1"/>
              <a:t>IntroSort</a:t>
            </a:r>
            <a:r>
              <a:rPr lang="en-IN" dirty="0"/>
              <a:t> hybrid), etc.</a:t>
            </a:r>
          </a:p>
          <a:p>
            <a:r>
              <a:rPr lang="en-IN" dirty="0"/>
              <a:t>How to improve it further?</a:t>
            </a:r>
          </a:p>
          <a:p>
            <a:pPr lvl="1"/>
            <a:r>
              <a:rPr lang="en-US" dirty="0"/>
              <a:t>Hybrid with insertion sort for small arrays (typically ≤ 16 elements).</a:t>
            </a:r>
          </a:p>
          <a:p>
            <a:pPr lvl="1"/>
            <a:r>
              <a:rPr lang="en-US" dirty="0"/>
              <a:t>Avoid recursion depth using explicit stack or tail-call removal.</a:t>
            </a:r>
            <a:endParaRPr lang="en-IN" dirty="0"/>
          </a:p>
          <a:p>
            <a:r>
              <a:rPr lang="en-IN" dirty="0"/>
              <a:t>Limitation: Unstable sort, not suitable if stability is needed.</a:t>
            </a:r>
          </a:p>
        </p:txBody>
      </p:sp>
    </p:spTree>
    <p:extLst>
      <p:ext uri="{BB962C8B-B14F-4D97-AF65-F5344CB8AC3E}">
        <p14:creationId xmlns:p14="http://schemas.microsoft.com/office/powerpoint/2010/main" val="2916034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695C-3BD7-5FD3-4D81-942F048682A5}"/>
              </a:ext>
            </a:extLst>
          </p:cNvPr>
          <p:cNvSpPr>
            <a:spLocks noGrp="1"/>
          </p:cNvSpPr>
          <p:nvPr>
            <p:ph type="title"/>
          </p:nvPr>
        </p:nvSpPr>
        <p:spPr/>
        <p:txBody>
          <a:bodyPr/>
          <a:lstStyle/>
          <a:p>
            <a:r>
              <a:rPr lang="en-IN" b="1" dirty="0" err="1"/>
              <a:t>Timsort</a:t>
            </a:r>
            <a:r>
              <a:rPr lang="en-IN" b="1" dirty="0"/>
              <a:t> Motivation</a:t>
            </a:r>
          </a:p>
        </p:txBody>
      </p:sp>
      <p:sp>
        <p:nvSpPr>
          <p:cNvPr id="3" name="Content Placeholder 2">
            <a:extLst>
              <a:ext uri="{FF2B5EF4-FFF2-40B4-BE49-F238E27FC236}">
                <a16:creationId xmlns:a16="http://schemas.microsoft.com/office/drawing/2014/main" id="{B27FA4E4-75D7-7F67-5211-76D6658B98E0}"/>
              </a:ext>
            </a:extLst>
          </p:cNvPr>
          <p:cNvSpPr>
            <a:spLocks noGrp="1"/>
          </p:cNvSpPr>
          <p:nvPr>
            <p:ph idx="1"/>
          </p:nvPr>
        </p:nvSpPr>
        <p:spPr/>
        <p:txBody>
          <a:bodyPr/>
          <a:lstStyle/>
          <a:p>
            <a:r>
              <a:rPr lang="en-US" dirty="0"/>
              <a:t>Real-world input often has pre-existing order:</a:t>
            </a:r>
          </a:p>
          <a:p>
            <a:pPr lvl="1"/>
            <a:r>
              <a:rPr lang="en-IN" dirty="0"/>
              <a:t>Partially sorted arrays</a:t>
            </a:r>
          </a:p>
          <a:p>
            <a:pPr lvl="1"/>
            <a:r>
              <a:rPr lang="en-IN" dirty="0"/>
              <a:t>Repeating patterns or runs</a:t>
            </a:r>
            <a:endParaRPr lang="en-US" dirty="0"/>
          </a:p>
          <a:p>
            <a:r>
              <a:rPr lang="en-US" dirty="0"/>
              <a:t>Merge sort is stable and consistent, but not adaptive.</a:t>
            </a:r>
          </a:p>
          <a:p>
            <a:r>
              <a:rPr lang="en-US" dirty="0"/>
              <a:t>Quicksort is fast but unstable and non-adaptive.</a:t>
            </a:r>
          </a:p>
          <a:p>
            <a:r>
              <a:rPr lang="en-US" dirty="0" err="1"/>
              <a:t>Timsort</a:t>
            </a:r>
            <a:r>
              <a:rPr lang="en-US" dirty="0"/>
              <a:t>:</a:t>
            </a:r>
          </a:p>
          <a:p>
            <a:pPr lvl="1"/>
            <a:r>
              <a:rPr lang="en-US" dirty="0"/>
              <a:t>Designed to handle real-world data efficiently.</a:t>
            </a:r>
          </a:p>
          <a:p>
            <a:pPr lvl="1"/>
            <a:r>
              <a:rPr lang="en-IN" dirty="0"/>
              <a:t>Adaptive, stable, hybrid sort.</a:t>
            </a:r>
          </a:p>
          <a:p>
            <a:pPr lvl="1"/>
            <a:r>
              <a:rPr lang="en-US" dirty="0"/>
              <a:t>Offers O(n) performance on nearly sorted data.</a:t>
            </a:r>
          </a:p>
          <a:p>
            <a:pPr lvl="1"/>
            <a:r>
              <a:rPr lang="en-US" dirty="0"/>
              <a:t>Widely accepted in Python and Java implementation.</a:t>
            </a:r>
          </a:p>
        </p:txBody>
      </p:sp>
    </p:spTree>
    <p:extLst>
      <p:ext uri="{BB962C8B-B14F-4D97-AF65-F5344CB8AC3E}">
        <p14:creationId xmlns:p14="http://schemas.microsoft.com/office/powerpoint/2010/main" val="2412244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2188-504F-D862-674B-C27E54D11B16}"/>
              </a:ext>
            </a:extLst>
          </p:cNvPr>
          <p:cNvSpPr>
            <a:spLocks noGrp="1"/>
          </p:cNvSpPr>
          <p:nvPr>
            <p:ph type="title"/>
          </p:nvPr>
        </p:nvSpPr>
        <p:spPr/>
        <p:txBody>
          <a:bodyPr/>
          <a:lstStyle/>
          <a:p>
            <a:r>
              <a:rPr lang="en-IN" b="1" dirty="0" err="1"/>
              <a:t>Timsort</a:t>
            </a:r>
            <a:r>
              <a:rPr lang="en-IN" b="1" dirty="0"/>
              <a:t> Hybrid Strategy</a:t>
            </a:r>
          </a:p>
        </p:txBody>
      </p:sp>
      <p:sp>
        <p:nvSpPr>
          <p:cNvPr id="3" name="Content Placeholder 2">
            <a:extLst>
              <a:ext uri="{FF2B5EF4-FFF2-40B4-BE49-F238E27FC236}">
                <a16:creationId xmlns:a16="http://schemas.microsoft.com/office/drawing/2014/main" id="{11432C54-3B02-6555-4B4D-214B61D440BE}"/>
              </a:ext>
            </a:extLst>
          </p:cNvPr>
          <p:cNvSpPr>
            <a:spLocks noGrp="1"/>
          </p:cNvSpPr>
          <p:nvPr>
            <p:ph idx="1"/>
          </p:nvPr>
        </p:nvSpPr>
        <p:spPr/>
        <p:txBody>
          <a:bodyPr>
            <a:normAutofit fontScale="92500" lnSpcReduction="20000"/>
          </a:bodyPr>
          <a:lstStyle/>
          <a:p>
            <a:r>
              <a:rPr lang="en-IN" dirty="0"/>
              <a:t>It combines </a:t>
            </a:r>
            <a:r>
              <a:rPr lang="en-US" dirty="0"/>
              <a:t>Insertion Sort for small or nearly sorted segments and </a:t>
            </a:r>
            <a:r>
              <a:rPr lang="nb-NO" dirty="0"/>
              <a:t>Merge Sort for merging sorted segments (runs).</a:t>
            </a:r>
          </a:p>
          <a:p>
            <a:r>
              <a:rPr lang="nb-NO" dirty="0"/>
              <a:t>Key Features:</a:t>
            </a:r>
          </a:p>
          <a:p>
            <a:pPr lvl="1"/>
            <a:r>
              <a:rPr lang="en-US" dirty="0"/>
              <a:t>Identifies natural runs (monotonic subarrays).</a:t>
            </a:r>
          </a:p>
          <a:p>
            <a:pPr lvl="1"/>
            <a:r>
              <a:rPr lang="en-US" dirty="0"/>
              <a:t>Extends short runs to a minimum size using insertion sort.</a:t>
            </a:r>
          </a:p>
          <a:p>
            <a:pPr lvl="1"/>
            <a:r>
              <a:rPr lang="en-US" dirty="0"/>
              <a:t>Efficient merging with stack of runs obeying specific invariants.</a:t>
            </a:r>
            <a:endParaRPr lang="nb-NO" dirty="0"/>
          </a:p>
          <a:p>
            <a:r>
              <a:rPr lang="nb-NO" dirty="0"/>
              <a:t>It </a:t>
            </a:r>
            <a:r>
              <a:rPr lang="en-US" dirty="0"/>
              <a:t>speeds up merging when one run dominates. Next, uses exponential search to skip comparisons.</a:t>
            </a:r>
          </a:p>
          <a:p>
            <a:r>
              <a:rPr lang="en-US" dirty="0"/>
              <a:t>Complexity:</a:t>
            </a:r>
          </a:p>
          <a:p>
            <a:pPr lvl="1"/>
            <a:r>
              <a:rPr lang="pt-BR" dirty="0"/>
              <a:t>Worst-case: O(n log n)</a:t>
            </a:r>
          </a:p>
          <a:p>
            <a:pPr lvl="1"/>
            <a:r>
              <a:rPr lang="en-US" dirty="0"/>
              <a:t>Best-case: O(n)</a:t>
            </a:r>
          </a:p>
          <a:p>
            <a:pPr lvl="1"/>
            <a:r>
              <a:rPr lang="en-IN" dirty="0"/>
              <a:t>Space: O(n) auxiliary memory</a:t>
            </a:r>
          </a:p>
        </p:txBody>
      </p:sp>
    </p:spTree>
    <p:extLst>
      <p:ext uri="{BB962C8B-B14F-4D97-AF65-F5344CB8AC3E}">
        <p14:creationId xmlns:p14="http://schemas.microsoft.com/office/powerpoint/2010/main" val="359920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AB9E-AE0A-E6D7-AB17-9AF6EFAE8DA4}"/>
              </a:ext>
            </a:extLst>
          </p:cNvPr>
          <p:cNvSpPr>
            <a:spLocks noGrp="1"/>
          </p:cNvSpPr>
          <p:nvPr>
            <p:ph type="title"/>
          </p:nvPr>
        </p:nvSpPr>
        <p:spPr/>
        <p:txBody>
          <a:bodyPr/>
          <a:lstStyle/>
          <a:p>
            <a:r>
              <a:rPr lang="en-IN" b="1" dirty="0"/>
              <a:t>Summary</a:t>
            </a:r>
          </a:p>
        </p:txBody>
      </p:sp>
      <p:sp>
        <p:nvSpPr>
          <p:cNvPr id="3" name="Content Placeholder 2">
            <a:extLst>
              <a:ext uri="{FF2B5EF4-FFF2-40B4-BE49-F238E27FC236}">
                <a16:creationId xmlns:a16="http://schemas.microsoft.com/office/drawing/2014/main" id="{51A1FFD5-4A6D-0E4A-3750-7CC5B705C9A9}"/>
              </a:ext>
            </a:extLst>
          </p:cNvPr>
          <p:cNvSpPr>
            <a:spLocks noGrp="1"/>
          </p:cNvSpPr>
          <p:nvPr>
            <p:ph idx="1"/>
          </p:nvPr>
        </p:nvSpPr>
        <p:spPr/>
        <p:txBody>
          <a:bodyPr/>
          <a:lstStyle/>
          <a:p>
            <a:r>
              <a:rPr lang="en-IN" dirty="0"/>
              <a:t>Merge Sort</a:t>
            </a:r>
          </a:p>
          <a:p>
            <a:pPr lvl="1"/>
            <a:r>
              <a:rPr lang="pt-BR" dirty="0"/>
              <a:t>Predictable O(n log n) time</a:t>
            </a:r>
          </a:p>
          <a:p>
            <a:pPr lvl="1"/>
            <a:r>
              <a:rPr lang="en-US" dirty="0"/>
              <a:t>Stable, good for linked lists and external data</a:t>
            </a:r>
            <a:endParaRPr lang="en-IN" dirty="0"/>
          </a:p>
          <a:p>
            <a:r>
              <a:rPr lang="en-IN" dirty="0"/>
              <a:t>Quick Sort</a:t>
            </a:r>
          </a:p>
          <a:p>
            <a:pPr lvl="1"/>
            <a:r>
              <a:rPr lang="en-IN" dirty="0"/>
              <a:t>Generally fastest in practice, in-place, but not stable.</a:t>
            </a:r>
          </a:p>
          <a:p>
            <a:pPr lvl="1"/>
            <a:r>
              <a:rPr lang="pt-BR" dirty="0"/>
              <a:t>Sensitive to pivot; average O(n log n), worst O(n²)</a:t>
            </a:r>
            <a:endParaRPr lang="en-IN" dirty="0"/>
          </a:p>
          <a:p>
            <a:r>
              <a:rPr lang="en-IN" dirty="0" err="1"/>
              <a:t>Timsort</a:t>
            </a:r>
            <a:endParaRPr lang="en-IN" dirty="0"/>
          </a:p>
          <a:p>
            <a:pPr lvl="1"/>
            <a:r>
              <a:rPr lang="en-IN" dirty="0"/>
              <a:t>Hybrid, adaptive, stable.</a:t>
            </a:r>
          </a:p>
          <a:p>
            <a:pPr lvl="1"/>
            <a:r>
              <a:rPr lang="en-US" dirty="0"/>
              <a:t>Exploits structure in real-world data.</a:t>
            </a:r>
          </a:p>
          <a:p>
            <a:pPr lvl="1"/>
            <a:r>
              <a:rPr lang="en-US" dirty="0"/>
              <a:t>Chosen for many production-grade language libraries.</a:t>
            </a:r>
            <a:endParaRPr lang="en-IN" dirty="0"/>
          </a:p>
        </p:txBody>
      </p:sp>
      <p:sp>
        <p:nvSpPr>
          <p:cNvPr id="4" name="TextBox 3">
            <a:extLst>
              <a:ext uri="{FF2B5EF4-FFF2-40B4-BE49-F238E27FC236}">
                <a16:creationId xmlns:a16="http://schemas.microsoft.com/office/drawing/2014/main" id="{FA913225-BB86-9D04-9B59-A5EB56004DB2}"/>
              </a:ext>
            </a:extLst>
          </p:cNvPr>
          <p:cNvSpPr txBox="1"/>
          <p:nvPr/>
        </p:nvSpPr>
        <p:spPr>
          <a:xfrm>
            <a:off x="646111" y="6405282"/>
            <a:ext cx="5925020"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Disclaimer – For course use only; do not redistribute.</a:t>
            </a:r>
          </a:p>
        </p:txBody>
      </p:sp>
    </p:spTree>
    <p:extLst>
      <p:ext uri="{BB962C8B-B14F-4D97-AF65-F5344CB8AC3E}">
        <p14:creationId xmlns:p14="http://schemas.microsoft.com/office/powerpoint/2010/main" val="3368354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C91D-EA50-E91F-BFAF-BBDEA51B89AE}"/>
              </a:ext>
            </a:extLst>
          </p:cNvPr>
          <p:cNvSpPr>
            <a:spLocks noGrp="1"/>
          </p:cNvSpPr>
          <p:nvPr>
            <p:ph type="title"/>
          </p:nvPr>
        </p:nvSpPr>
        <p:spPr/>
        <p:txBody>
          <a:bodyPr/>
          <a:lstStyle/>
          <a:p>
            <a:r>
              <a:rPr lang="en-IN" b="1" dirty="0"/>
              <a:t>Additional Information</a:t>
            </a:r>
            <a:br>
              <a:rPr lang="en-IN" b="1" dirty="0"/>
            </a:br>
            <a:r>
              <a:rPr lang="en-IN" b="1" dirty="0"/>
              <a:t>(Log-Log Plot)</a:t>
            </a:r>
          </a:p>
        </p:txBody>
      </p:sp>
      <p:pic>
        <p:nvPicPr>
          <p:cNvPr id="5" name="Picture 4">
            <a:extLst>
              <a:ext uri="{FF2B5EF4-FFF2-40B4-BE49-F238E27FC236}">
                <a16:creationId xmlns:a16="http://schemas.microsoft.com/office/drawing/2014/main" id="{27BF2D64-9DB7-232E-1DB1-0B6E14079655}"/>
              </a:ext>
            </a:extLst>
          </p:cNvPr>
          <p:cNvPicPr>
            <a:picLocks noChangeAspect="1"/>
          </p:cNvPicPr>
          <p:nvPr/>
        </p:nvPicPr>
        <p:blipFill>
          <a:blip r:embed="rId2"/>
          <a:stretch>
            <a:fillRect/>
          </a:stretch>
        </p:blipFill>
        <p:spPr>
          <a:xfrm>
            <a:off x="2899911" y="2016018"/>
            <a:ext cx="6392178" cy="4524537"/>
          </a:xfrm>
          <a:prstGeom prst="rect">
            <a:avLst/>
          </a:prstGeom>
        </p:spPr>
      </p:pic>
    </p:spTree>
    <p:extLst>
      <p:ext uri="{BB962C8B-B14F-4D97-AF65-F5344CB8AC3E}">
        <p14:creationId xmlns:p14="http://schemas.microsoft.com/office/powerpoint/2010/main" val="41415591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360</TotalTime>
  <Words>1128</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Object Oriented Programming</vt:lpstr>
      <vt:lpstr>Lecture 7: Merge &amp; Quicksort, Timsort Idea</vt:lpstr>
      <vt:lpstr>Sorting Problem Recap</vt:lpstr>
      <vt:lpstr>Merge Sort - Concepts</vt:lpstr>
      <vt:lpstr>Merge Operation and Internal Mechanics</vt:lpstr>
      <vt:lpstr>Merge Sort – Complexity and Behaviour</vt:lpstr>
      <vt:lpstr>Merge Sort – Design Considerations</vt:lpstr>
      <vt:lpstr>Quick Sort – Concepts </vt:lpstr>
      <vt:lpstr>Quick Sort Partitioning Schemes</vt:lpstr>
      <vt:lpstr>Quick Sort Analysis</vt:lpstr>
      <vt:lpstr>Quick Sort Practical Use Cases</vt:lpstr>
      <vt:lpstr>Timsort Motivation</vt:lpstr>
      <vt:lpstr>Timsort Hybrid Strategy</vt:lpstr>
      <vt:lpstr>Summary</vt:lpstr>
      <vt:lpstr>Additional Information (Log-Log Plot)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 Puneet</dc:creator>
  <cp:lastModifiedBy>Br. Puneet</cp:lastModifiedBy>
  <cp:revision>14</cp:revision>
  <dcterms:created xsi:type="dcterms:W3CDTF">2025-06-02T18:03:59Z</dcterms:created>
  <dcterms:modified xsi:type="dcterms:W3CDTF">2025-07-29T10:37:38Z</dcterms:modified>
</cp:coreProperties>
</file>