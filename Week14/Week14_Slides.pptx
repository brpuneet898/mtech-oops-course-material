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70" r:id="rId4"/>
    <p:sldId id="271" r:id="rId5"/>
    <p:sldId id="272" r:id="rId6"/>
    <p:sldId id="273" r:id="rId7"/>
    <p:sldId id="274" r:id="rId8"/>
    <p:sldId id="275" r:id="rId9"/>
    <p:sldId id="276" r:id="rId10"/>
    <p:sldId id="277" r:id="rId11"/>
    <p:sldId id="278" r:id="rId12"/>
    <p:sldId id="279" r:id="rId13"/>
    <p:sldId id="280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20-08-2025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88661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20-08-2025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6169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20-08-2025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6083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20-08-2025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52210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20-08-2025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8318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20-08-2025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2548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20-08-2025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38608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20-08-2025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416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20-08-2025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77930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20-08-2025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964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20-08-2025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77729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20-08-2025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635526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20-08-2025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79039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20-08-2025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09649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20-08-2025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1608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20-08-2025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15332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20-08-2025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9182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8322A558-B964-4799-A94A-632D1601F177}" type="datetimeFigureOut">
              <a:rPr lang="en-IN" smtClean="0"/>
              <a:t>20-08-2025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7360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63AABD4-F519-466D-7AF3-CDA074CD25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/>
          <a:lstStyle/>
          <a:p>
            <a:r>
              <a:rPr lang="en-IN" b="1" dirty="0"/>
              <a:t>Object Oriented Programming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BEFE8F5E-158C-1F0E-A2EF-4DEC2D247C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/>
          <a:lstStyle/>
          <a:p>
            <a:r>
              <a:rPr lang="en-IN" dirty="0"/>
              <a:t>Dr. Neelesh S. Upadhye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7EA1EB-3246-ED57-264B-B69B210A7094}"/>
              </a:ext>
            </a:extLst>
          </p:cNvPr>
          <p:cNvSpPr txBox="1"/>
          <p:nvPr/>
        </p:nvSpPr>
        <p:spPr>
          <a:xfrm>
            <a:off x="1154955" y="5888736"/>
            <a:ext cx="36375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Slides are prepared by Puneet</a:t>
            </a:r>
          </a:p>
        </p:txBody>
      </p:sp>
    </p:spTree>
    <p:extLst>
      <p:ext uri="{BB962C8B-B14F-4D97-AF65-F5344CB8AC3E}">
        <p14:creationId xmlns:p14="http://schemas.microsoft.com/office/powerpoint/2010/main" val="36446330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547E280-AB7F-D69E-B992-B2698FF71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567737" cy="1400530"/>
          </a:xfrm>
        </p:spPr>
        <p:txBody>
          <a:bodyPr/>
          <a:lstStyle/>
          <a:p>
            <a:r>
              <a:rPr lang="en-IN" b="1" dirty="0"/>
              <a:t>Lecture 14: Concurrency (asyncio, multiprocessing); packaging &amp; CI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D34D681-F8FC-DB16-6CD3-FEBBBB3440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052918"/>
            <a:ext cx="8946541" cy="419548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dirty="0"/>
              <a:t>References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Core Text</a:t>
            </a:r>
          </a:p>
          <a:p>
            <a:pPr lvl="1"/>
            <a:r>
              <a:rPr lang="en-US" dirty="0"/>
              <a:t>Goodrich, </a:t>
            </a:r>
            <a:r>
              <a:rPr lang="en-US" dirty="0" err="1"/>
              <a:t>Tamassia</a:t>
            </a:r>
            <a:r>
              <a:rPr lang="en-US" dirty="0"/>
              <a:t> &amp; Goldwasser, Data Structures and Algorithms in Python</a:t>
            </a:r>
            <a:endParaRPr lang="en-IN" dirty="0"/>
          </a:p>
          <a:p>
            <a:r>
              <a:rPr lang="en-IN" dirty="0"/>
              <a:t>Other References</a:t>
            </a:r>
          </a:p>
          <a:p>
            <a:pPr lvl="1"/>
            <a:r>
              <a:rPr lang="en-IN" dirty="0"/>
              <a:t>Jon Kleinberg &amp; Éva Tardos, Algorithm Design</a:t>
            </a:r>
          </a:p>
          <a:p>
            <a:pPr lvl="1"/>
            <a:r>
              <a:rPr lang="en-IN" dirty="0"/>
              <a:t>Sanjoy Dasgupta, Christos Papadimitriou &amp; Umesh Vazirani, Algorithms</a:t>
            </a:r>
          </a:p>
          <a:p>
            <a:pPr lvl="1"/>
            <a:r>
              <a:rPr lang="en-IN" dirty="0"/>
              <a:t>Luciano Ramalho, Fluent Python</a:t>
            </a:r>
          </a:p>
          <a:p>
            <a:pPr lvl="1"/>
            <a:r>
              <a:rPr lang="en-US" dirty="0"/>
              <a:t>Steve Freeman &amp; Nat Pryce, Growing Object-Oriented Software, Guided by Tests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842801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8E381-5F41-0FAC-B446-67B9DF61B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Concurrency: Introduction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7C2224-BECB-1C88-ADD3-D16CAEABAD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ability of a system to manage multiple tasks at once, without necessarily executing them simultaneously.</a:t>
            </a:r>
          </a:p>
          <a:p>
            <a:r>
              <a:rPr lang="en-US" dirty="0"/>
              <a:t>Some important points to note – </a:t>
            </a:r>
          </a:p>
          <a:p>
            <a:pPr lvl="1"/>
            <a:r>
              <a:rPr lang="en-IN" dirty="0"/>
              <a:t>Concurrency ≠ Parallelism</a:t>
            </a:r>
          </a:p>
          <a:p>
            <a:pPr lvl="1"/>
            <a:r>
              <a:rPr lang="en-IN" dirty="0"/>
              <a:t>Concurrency = </a:t>
            </a:r>
            <a:r>
              <a:rPr lang="en-IN" i="1" dirty="0"/>
              <a:t>managing multiple tasks</a:t>
            </a:r>
          </a:p>
          <a:p>
            <a:pPr lvl="1"/>
            <a:r>
              <a:rPr lang="en-US" dirty="0"/>
              <a:t>Parallelism = </a:t>
            </a:r>
            <a:r>
              <a:rPr lang="en-US" i="1" dirty="0"/>
              <a:t>executing multiple tasks simultaneously</a:t>
            </a:r>
            <a:endParaRPr lang="en-US" dirty="0"/>
          </a:p>
          <a:p>
            <a:r>
              <a:rPr lang="en-US" dirty="0"/>
              <a:t>In modern computing, concurrency is essential, why?</a:t>
            </a:r>
          </a:p>
          <a:p>
            <a:pPr lvl="1"/>
            <a:r>
              <a:rPr lang="en-IN" dirty="0"/>
              <a:t>Multi-core processors</a:t>
            </a:r>
          </a:p>
          <a:p>
            <a:pPr lvl="1"/>
            <a:r>
              <a:rPr lang="en-US" dirty="0"/>
              <a:t>I/O-bound operations (networking, file systems)</a:t>
            </a:r>
          </a:p>
          <a:p>
            <a:pPr lvl="1"/>
            <a:r>
              <a:rPr lang="en-IN" dirty="0"/>
              <a:t>Responsive systems and scalability</a:t>
            </a:r>
          </a:p>
        </p:txBody>
      </p:sp>
    </p:spTree>
    <p:extLst>
      <p:ext uri="{BB962C8B-B14F-4D97-AF65-F5344CB8AC3E}">
        <p14:creationId xmlns:p14="http://schemas.microsoft.com/office/powerpoint/2010/main" val="3671447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E8802-3B16-75E7-058F-40D4D7B0E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Concurrency: Key Features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94D583-4DF4-7CAE-3564-1D0B54114C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Thread-based model</a:t>
            </a:r>
          </a:p>
          <a:p>
            <a:pPr lvl="1"/>
            <a:r>
              <a:rPr lang="en-US" dirty="0"/>
              <a:t>Multiple threads share same memory space.</a:t>
            </a:r>
          </a:p>
          <a:p>
            <a:pPr lvl="1"/>
            <a:r>
              <a:rPr lang="en-IN" dirty="0"/>
              <a:t>Requires synchronization mechanisms.</a:t>
            </a:r>
            <a:endParaRPr lang="en-US" dirty="0"/>
          </a:p>
          <a:p>
            <a:r>
              <a:rPr lang="en-US" dirty="0"/>
              <a:t>Process-based model</a:t>
            </a:r>
          </a:p>
          <a:p>
            <a:pPr lvl="1"/>
            <a:r>
              <a:rPr lang="en-US" dirty="0"/>
              <a:t>Independent processes with isolated memory.</a:t>
            </a:r>
          </a:p>
          <a:p>
            <a:pPr lvl="1"/>
            <a:r>
              <a:rPr lang="en-IN" dirty="0"/>
              <a:t>Requires inter-process communication (IPC).</a:t>
            </a:r>
            <a:endParaRPr lang="en-US" dirty="0"/>
          </a:p>
          <a:p>
            <a:r>
              <a:rPr lang="en-US" dirty="0"/>
              <a:t>Asynchronous model</a:t>
            </a:r>
          </a:p>
          <a:p>
            <a:pPr lvl="1"/>
            <a:r>
              <a:rPr lang="en-IN" dirty="0"/>
              <a:t>Cooperative multitasking.</a:t>
            </a:r>
          </a:p>
          <a:p>
            <a:pPr lvl="1"/>
            <a:r>
              <a:rPr lang="en-US" dirty="0"/>
              <a:t>Tasks yield control explicitly to allow others to run.</a:t>
            </a:r>
          </a:p>
          <a:p>
            <a:r>
              <a:rPr lang="en-IN" dirty="0"/>
              <a:t>Trade-offs: overhead, safety, responsiveness.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62741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65CA2-E040-2FA2-E9DC-36BA547CD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Python Concurrency: Overview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41CF44-0B32-BECE-A403-242592A957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Python supports concurrency at multiple levels –</a:t>
            </a:r>
          </a:p>
          <a:p>
            <a:pPr lvl="1"/>
            <a:r>
              <a:rPr lang="en-US" b="1" dirty="0"/>
              <a:t>Threading module</a:t>
            </a:r>
            <a:r>
              <a:rPr lang="en-US" dirty="0"/>
              <a:t> – lightweight, shared memory, but limited by Global Interpreter Lock (GIL).</a:t>
            </a:r>
          </a:p>
          <a:p>
            <a:pPr lvl="1"/>
            <a:r>
              <a:rPr lang="en-US" b="1" dirty="0"/>
              <a:t>Multiprocessing module</a:t>
            </a:r>
            <a:r>
              <a:rPr lang="en-US" dirty="0"/>
              <a:t> – true parallelism using separate processes; avoids GIL.</a:t>
            </a:r>
          </a:p>
          <a:p>
            <a:pPr lvl="1"/>
            <a:r>
              <a:rPr lang="en-US" b="1" dirty="0"/>
              <a:t>Asyncio library</a:t>
            </a:r>
            <a:r>
              <a:rPr lang="en-US" dirty="0"/>
              <a:t> – single-threaded, event-driven, efficient for I/O-bound tasks.</a:t>
            </a:r>
          </a:p>
          <a:p>
            <a:r>
              <a:rPr lang="en-US" dirty="0"/>
              <a:t>Choice depends on –</a:t>
            </a:r>
          </a:p>
          <a:p>
            <a:pPr lvl="1"/>
            <a:r>
              <a:rPr lang="en-US" dirty="0"/>
              <a:t>CPU-bound vs I/O-bound tasks.</a:t>
            </a:r>
          </a:p>
          <a:p>
            <a:pPr lvl="1"/>
            <a:r>
              <a:rPr lang="en-US" dirty="0"/>
              <a:t>Need for parallelism vs concurrency.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199487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9A9E2-C6CF-150F-FAB8-37BB0E371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Asyncio: Event-driven Concurrency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22A7F1-9C71-A7FE-6655-812C36B54F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Core Idea: Non-blocking execution using coroutines.</a:t>
            </a:r>
          </a:p>
          <a:p>
            <a:r>
              <a:rPr lang="en-US" dirty="0"/>
              <a:t>Event loop: Central scheduler managing execution of tasks.</a:t>
            </a:r>
          </a:p>
          <a:p>
            <a:r>
              <a:rPr lang="en-US" dirty="0"/>
              <a:t>Coroutines: Special functions that can suspend and resume execution.</a:t>
            </a:r>
          </a:p>
          <a:p>
            <a:r>
              <a:rPr lang="en-US" dirty="0"/>
              <a:t>Benefits –</a:t>
            </a:r>
          </a:p>
          <a:p>
            <a:pPr lvl="1"/>
            <a:r>
              <a:rPr lang="en-US" dirty="0"/>
              <a:t>Highly efficient for network and file I/O.</a:t>
            </a:r>
          </a:p>
          <a:p>
            <a:pPr lvl="1"/>
            <a:r>
              <a:rPr lang="en-IN" dirty="0"/>
              <a:t>Lower overhead than threads. </a:t>
            </a:r>
            <a:r>
              <a:rPr lang="en-US" dirty="0"/>
              <a:t>Scales with thousands of connections.</a:t>
            </a:r>
          </a:p>
          <a:p>
            <a:r>
              <a:rPr lang="en-US" dirty="0"/>
              <a:t>Limitations –</a:t>
            </a:r>
          </a:p>
          <a:p>
            <a:pPr lvl="1"/>
            <a:r>
              <a:rPr lang="en-US" dirty="0"/>
              <a:t>Not suitable for CPU-intensive workloads.</a:t>
            </a:r>
          </a:p>
          <a:p>
            <a:pPr lvl="1"/>
            <a:r>
              <a:rPr lang="en-IN" dirty="0"/>
              <a:t>Single-threaded nature.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682334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F0938-12CB-45BA-7E31-F6B7D9995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Python Multiprocessing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B83C5F-D244-08E4-ABDA-E5F31F6A75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Core Idea: Utilize multiple CPU cores by creating separate processes.</a:t>
            </a:r>
          </a:p>
          <a:p>
            <a:r>
              <a:rPr lang="en-US" dirty="0"/>
              <a:t>Each process has its own memory space and Python interpreter instance (no GIL restriction).</a:t>
            </a:r>
          </a:p>
          <a:p>
            <a:r>
              <a:rPr lang="en-IN" dirty="0"/>
              <a:t>Communication: Achieved via: Queues, Pipes, Shared Memory.</a:t>
            </a:r>
          </a:p>
          <a:p>
            <a:r>
              <a:rPr lang="en-IN" dirty="0"/>
              <a:t>Benefits –</a:t>
            </a:r>
          </a:p>
          <a:p>
            <a:pPr lvl="1"/>
            <a:r>
              <a:rPr lang="en-IN" dirty="0"/>
              <a:t>True parallel execution.</a:t>
            </a:r>
          </a:p>
          <a:p>
            <a:pPr lvl="1"/>
            <a:r>
              <a:rPr lang="en-IN" dirty="0"/>
              <a:t>Suitable for CPU-bound workloads.</a:t>
            </a:r>
          </a:p>
          <a:p>
            <a:r>
              <a:rPr lang="en-IN" dirty="0"/>
              <a:t>Limitations –</a:t>
            </a:r>
          </a:p>
          <a:p>
            <a:pPr lvl="1"/>
            <a:r>
              <a:rPr lang="en-US" dirty="0"/>
              <a:t>Higher memory and process creation overhead.</a:t>
            </a:r>
          </a:p>
          <a:p>
            <a:pPr lvl="1"/>
            <a:r>
              <a:rPr lang="en-IN" dirty="0"/>
              <a:t>Complexity in synchronization.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356866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F06D6-E233-6140-A5A3-382266B5F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Concurrency: Trade-offs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AAFB91-78DD-6998-A2A6-82F73A704C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Asyncio</a:t>
            </a:r>
          </a:p>
          <a:p>
            <a:pPr lvl="1"/>
            <a:r>
              <a:rPr lang="en-US" dirty="0"/>
              <a:t>Best for I/O-bound tasks.</a:t>
            </a:r>
          </a:p>
          <a:p>
            <a:pPr lvl="1"/>
            <a:r>
              <a:rPr lang="en-US" dirty="0"/>
              <a:t>Low memory and context-switching overhead.</a:t>
            </a:r>
          </a:p>
          <a:p>
            <a:r>
              <a:rPr lang="en-US" dirty="0"/>
              <a:t>Threading</a:t>
            </a:r>
          </a:p>
          <a:p>
            <a:pPr lvl="1"/>
            <a:r>
              <a:rPr lang="en-IN" dirty="0"/>
              <a:t>Easier for mixed workloads.</a:t>
            </a:r>
          </a:p>
          <a:p>
            <a:pPr lvl="1"/>
            <a:r>
              <a:rPr lang="en-IN" dirty="0"/>
              <a:t>Still impacted by GIL.</a:t>
            </a:r>
            <a:endParaRPr lang="en-US" dirty="0"/>
          </a:p>
          <a:p>
            <a:r>
              <a:rPr lang="en-US" dirty="0"/>
              <a:t>Multiprocessing</a:t>
            </a:r>
          </a:p>
          <a:p>
            <a:pPr lvl="1"/>
            <a:r>
              <a:rPr lang="en-IN" dirty="0"/>
              <a:t>Best for CPU-bound computations. Heavy resource usage.</a:t>
            </a:r>
            <a:endParaRPr lang="en-US" dirty="0"/>
          </a:p>
          <a:p>
            <a:r>
              <a:rPr lang="en-US" dirty="0"/>
              <a:t>We have to make a balance between performance, complexity, maintainability.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444882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18B6A-2F0A-7463-2242-2915DDD00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Python Packaging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DEB1A2-5589-BC47-D457-EE191E5F09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Why?</a:t>
            </a:r>
          </a:p>
          <a:p>
            <a:pPr lvl="1"/>
            <a:r>
              <a:rPr lang="en-IN" dirty="0"/>
              <a:t>Distribute reusable modules and libraries. Ensure reproducibility.</a:t>
            </a:r>
            <a:endParaRPr lang="en-US" dirty="0"/>
          </a:p>
          <a:p>
            <a:r>
              <a:rPr lang="en-US" dirty="0"/>
              <a:t>Core elements –</a:t>
            </a:r>
          </a:p>
          <a:p>
            <a:pPr lvl="1"/>
            <a:r>
              <a:rPr lang="en-US" dirty="0"/>
              <a:t>Directory with __init__.py file.</a:t>
            </a:r>
          </a:p>
          <a:p>
            <a:pPr lvl="1"/>
            <a:r>
              <a:rPr lang="en-IN" dirty="0"/>
              <a:t>Organized modules and sub-packages.</a:t>
            </a:r>
          </a:p>
          <a:p>
            <a:pPr lvl="1"/>
            <a:r>
              <a:rPr lang="en-IN" dirty="0"/>
              <a:t>Metadata in setup.py, </a:t>
            </a:r>
            <a:r>
              <a:rPr lang="en-IN" dirty="0" err="1"/>
              <a:t>pyproject.toml</a:t>
            </a:r>
            <a:endParaRPr lang="en-US" dirty="0"/>
          </a:p>
          <a:p>
            <a:r>
              <a:rPr lang="en-US" dirty="0"/>
              <a:t>Dependency management</a:t>
            </a:r>
          </a:p>
          <a:p>
            <a:pPr lvl="1"/>
            <a:r>
              <a:rPr lang="en-US" dirty="0"/>
              <a:t>requirements.txt or </a:t>
            </a:r>
            <a:r>
              <a:rPr lang="en-US" dirty="0" err="1"/>
              <a:t>Pipfile</a:t>
            </a:r>
            <a:endParaRPr lang="en-US" dirty="0"/>
          </a:p>
          <a:p>
            <a:r>
              <a:rPr lang="en-US" dirty="0"/>
              <a:t>Packaging ensures modularity, portability, and maintainability.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985737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21492-30A5-33CD-3454-F6A00BD9D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Packaging: Best Practices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79602D-5FB9-FCF7-EA10-6E3CF0D3EE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Structure</a:t>
            </a:r>
          </a:p>
          <a:p>
            <a:pPr lvl="1"/>
            <a:r>
              <a:rPr lang="en-US" dirty="0"/>
              <a:t>Clear hierarchy</a:t>
            </a:r>
          </a:p>
          <a:p>
            <a:pPr lvl="1"/>
            <a:r>
              <a:rPr lang="en-US" dirty="0"/>
              <a:t>Use semantic versioning (</a:t>
            </a:r>
            <a:r>
              <a:rPr lang="en-US" dirty="0" err="1"/>
              <a:t>major.minor.patch</a:t>
            </a:r>
            <a:r>
              <a:rPr lang="en-US" dirty="0"/>
              <a:t>).</a:t>
            </a:r>
          </a:p>
          <a:p>
            <a:r>
              <a:rPr lang="en-US" dirty="0"/>
              <a:t>Documentation</a:t>
            </a:r>
          </a:p>
          <a:p>
            <a:pPr lvl="1"/>
            <a:r>
              <a:rPr lang="en-IN" dirty="0"/>
              <a:t>Include README, LICENSE, CHANGELOG.</a:t>
            </a:r>
            <a:endParaRPr lang="en-US" dirty="0"/>
          </a:p>
          <a:p>
            <a:r>
              <a:rPr lang="en-US" dirty="0"/>
              <a:t>Testing</a:t>
            </a:r>
          </a:p>
          <a:p>
            <a:pPr lvl="1"/>
            <a:r>
              <a:rPr lang="en-US" dirty="0"/>
              <a:t>Integrate unit and integration tests.</a:t>
            </a:r>
          </a:p>
          <a:p>
            <a:r>
              <a:rPr lang="en-US" dirty="0"/>
              <a:t>Distribution</a:t>
            </a:r>
          </a:p>
          <a:p>
            <a:pPr lvl="1"/>
            <a:r>
              <a:rPr lang="en-IN" dirty="0" err="1"/>
              <a:t>PyPI</a:t>
            </a:r>
            <a:r>
              <a:rPr lang="en-IN" dirty="0"/>
              <a:t> for public packages.</a:t>
            </a:r>
          </a:p>
          <a:p>
            <a:pPr lvl="1"/>
            <a:r>
              <a:rPr lang="en-IN" dirty="0"/>
              <a:t>Private registries for internal use.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79053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D319E-B898-7DC3-E254-B45A79135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CI (Continuous Integration)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CC2651-E5C5-DA33-F662-4B60D0C13B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Automated process of integrating code changes, testing, and validating at each step of development.</a:t>
            </a:r>
          </a:p>
          <a:p>
            <a:r>
              <a:rPr lang="en-US" dirty="0"/>
              <a:t>Why CI?</a:t>
            </a:r>
          </a:p>
          <a:p>
            <a:pPr lvl="1"/>
            <a:r>
              <a:rPr lang="en-IN" dirty="0"/>
              <a:t>Catch errors early.</a:t>
            </a:r>
          </a:p>
          <a:p>
            <a:pPr lvl="1"/>
            <a:r>
              <a:rPr lang="en-IN" dirty="0"/>
              <a:t>Ensure codebase stability.</a:t>
            </a:r>
          </a:p>
          <a:p>
            <a:pPr lvl="1"/>
            <a:r>
              <a:rPr lang="en-IN" dirty="0"/>
              <a:t>Facilitate team collaboration.</a:t>
            </a:r>
            <a:endParaRPr lang="en-US" dirty="0"/>
          </a:p>
          <a:p>
            <a:r>
              <a:rPr lang="en-US" dirty="0"/>
              <a:t>Core Workflow</a:t>
            </a:r>
          </a:p>
          <a:p>
            <a:pPr lvl="1"/>
            <a:r>
              <a:rPr lang="en-IN" dirty="0"/>
              <a:t>Developer pushes code.</a:t>
            </a:r>
          </a:p>
          <a:p>
            <a:pPr lvl="1"/>
            <a:r>
              <a:rPr lang="en-IN" dirty="0"/>
              <a:t>Automated build runs.</a:t>
            </a:r>
          </a:p>
          <a:p>
            <a:pPr lvl="1"/>
            <a:r>
              <a:rPr lang="en-US" dirty="0"/>
              <a:t>Tests and quality checks execute.</a:t>
            </a:r>
          </a:p>
          <a:p>
            <a:pPr lvl="1"/>
            <a:r>
              <a:rPr lang="en-IN" dirty="0"/>
              <a:t>Feedback given immediately.</a:t>
            </a:r>
          </a:p>
        </p:txBody>
      </p:sp>
    </p:spTree>
    <p:extLst>
      <p:ext uri="{BB962C8B-B14F-4D97-AF65-F5344CB8AC3E}">
        <p14:creationId xmlns:p14="http://schemas.microsoft.com/office/powerpoint/2010/main" val="21451680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87682-0AA3-34A3-DFF6-E43A85EB5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CI Tools and Ecosystem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7D4982-6B7C-788E-35F0-5414DD8840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Popular tools or platforms –</a:t>
            </a:r>
          </a:p>
          <a:p>
            <a:pPr lvl="1"/>
            <a:r>
              <a:rPr lang="en-US" dirty="0"/>
              <a:t>GitHub Actions – native integration with GitHub repositories.</a:t>
            </a:r>
          </a:p>
          <a:p>
            <a:pPr lvl="1"/>
            <a:r>
              <a:rPr lang="en-US" dirty="0"/>
              <a:t>GitLab CI/CD – built-in pipelines for GitLab projects.</a:t>
            </a:r>
          </a:p>
          <a:p>
            <a:pPr lvl="1"/>
            <a:r>
              <a:rPr lang="en-US" dirty="0"/>
              <a:t>Jenkins – highly customizable automation server.</a:t>
            </a:r>
          </a:p>
          <a:p>
            <a:pPr lvl="1"/>
            <a:r>
              <a:rPr lang="it-IT" dirty="0"/>
              <a:t>CircleCI / Travis CI – cloud-based CI pipelines.</a:t>
            </a:r>
            <a:endParaRPr lang="en-US" dirty="0"/>
          </a:p>
          <a:p>
            <a:r>
              <a:rPr lang="en-US" dirty="0"/>
              <a:t>Integration with –</a:t>
            </a:r>
          </a:p>
          <a:p>
            <a:pPr lvl="1"/>
            <a:r>
              <a:rPr lang="en-IN" dirty="0"/>
              <a:t>Linting tools (flake8, black).</a:t>
            </a:r>
          </a:p>
          <a:p>
            <a:pPr lvl="1"/>
            <a:r>
              <a:rPr lang="en-IN" dirty="0"/>
              <a:t>Test frameworks (</a:t>
            </a:r>
            <a:r>
              <a:rPr lang="en-IN" dirty="0" err="1"/>
              <a:t>pytest</a:t>
            </a:r>
            <a:r>
              <a:rPr lang="en-IN" dirty="0"/>
              <a:t>, </a:t>
            </a:r>
            <a:r>
              <a:rPr lang="en-IN" dirty="0" err="1"/>
              <a:t>unittest</a:t>
            </a:r>
            <a:r>
              <a:rPr lang="en-IN" dirty="0"/>
              <a:t>).</a:t>
            </a:r>
          </a:p>
          <a:p>
            <a:pPr lvl="1"/>
            <a:r>
              <a:rPr lang="en-IN" dirty="0"/>
              <a:t>Deployment pipelines (Docker, Kubernetes).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777029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C518A-39D6-8CAE-F437-C11A7FA72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Concurrency + CI in Python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83E80-A0C3-2F12-26E0-019877220D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Concurrency impacts CI pipelines:</a:t>
            </a:r>
          </a:p>
          <a:p>
            <a:pPr lvl="1"/>
            <a:r>
              <a:rPr lang="en-US" dirty="0"/>
              <a:t>Parallel test execution speeds up feedback loops.</a:t>
            </a:r>
          </a:p>
          <a:p>
            <a:pPr lvl="1"/>
            <a:r>
              <a:rPr lang="en-US" dirty="0"/>
              <a:t>Async operations reduce idle wait during builds.</a:t>
            </a:r>
            <a:endParaRPr lang="en-IN" dirty="0"/>
          </a:p>
          <a:p>
            <a:r>
              <a:rPr lang="en-IN" dirty="0"/>
              <a:t>Packaging + CI integration:</a:t>
            </a:r>
          </a:p>
          <a:p>
            <a:pPr lvl="1"/>
            <a:r>
              <a:rPr lang="en-US" dirty="0"/>
              <a:t>Packages are built and tested automatically in CI.</a:t>
            </a:r>
          </a:p>
          <a:p>
            <a:pPr lvl="1"/>
            <a:r>
              <a:rPr lang="en-IN" dirty="0"/>
              <a:t>Ensures consistent builds across environments.</a:t>
            </a:r>
          </a:p>
          <a:p>
            <a:pPr lvl="1"/>
            <a:r>
              <a:rPr lang="en-IN" dirty="0"/>
              <a:t>Facilitates continuous delivery (CD).</a:t>
            </a:r>
          </a:p>
          <a:p>
            <a:r>
              <a:rPr lang="en-US" dirty="0"/>
              <a:t>Goal: Automated, reliable, efficient software lifecycle.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059867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BAB9E-AE0A-E6D7-AB17-9AF6EFAE8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A1FFD5-4A6D-0E4A-3750-7CC5B705C9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Concurrency: Distinction between asyncio, threading, multiprocessing.</a:t>
            </a:r>
          </a:p>
          <a:p>
            <a:r>
              <a:rPr lang="en-US" dirty="0"/>
              <a:t>Asyncio: Event-driven, lightweight concurrency for I/O.</a:t>
            </a:r>
          </a:p>
          <a:p>
            <a:r>
              <a:rPr lang="en-US" dirty="0"/>
              <a:t>Multiprocessing: True parallelism for CPU-bound tasks.</a:t>
            </a:r>
          </a:p>
          <a:p>
            <a:r>
              <a:rPr lang="en-US" dirty="0"/>
              <a:t>Packaging: Organizing, distributing, and managing dependencies.</a:t>
            </a:r>
          </a:p>
          <a:p>
            <a:r>
              <a:rPr lang="en-US" dirty="0"/>
              <a:t>CI: Automating integration, testing, and build processes.</a:t>
            </a:r>
          </a:p>
          <a:p>
            <a:r>
              <a:rPr lang="en-US" dirty="0"/>
              <a:t>Efficient software systems combine proper concurrency models with disciplined packaging and CI practices for scalability and maintainability.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913225-BB86-9D04-9B59-A5EB56004DB2}"/>
              </a:ext>
            </a:extLst>
          </p:cNvPr>
          <p:cNvSpPr txBox="1"/>
          <p:nvPr/>
        </p:nvSpPr>
        <p:spPr>
          <a:xfrm>
            <a:off x="646111" y="6405282"/>
            <a:ext cx="5925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Disclaimer – For course use only; do not redistribute.</a:t>
            </a:r>
          </a:p>
        </p:txBody>
      </p:sp>
    </p:spTree>
    <p:extLst>
      <p:ext uri="{BB962C8B-B14F-4D97-AF65-F5344CB8AC3E}">
        <p14:creationId xmlns:p14="http://schemas.microsoft.com/office/powerpoint/2010/main" val="336835476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920</TotalTime>
  <Words>820</Words>
  <Application>Microsoft Office PowerPoint</Application>
  <PresentationFormat>Widescreen</PresentationFormat>
  <Paragraphs>131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Century Gothic</vt:lpstr>
      <vt:lpstr>Wingdings 3</vt:lpstr>
      <vt:lpstr>Ion</vt:lpstr>
      <vt:lpstr>Object Oriented Programming</vt:lpstr>
      <vt:lpstr>Lecture 14: Concurrency (asyncio, multiprocessing); packaging &amp; CI</vt:lpstr>
      <vt:lpstr>Concurrency: Introduction</vt:lpstr>
      <vt:lpstr>Concurrency: Key Features</vt:lpstr>
      <vt:lpstr>Python Concurrency: Overview</vt:lpstr>
      <vt:lpstr>Asyncio: Event-driven Concurrency</vt:lpstr>
      <vt:lpstr>Python Multiprocessing</vt:lpstr>
      <vt:lpstr>Concurrency: Trade-offs</vt:lpstr>
      <vt:lpstr>Python Packaging</vt:lpstr>
      <vt:lpstr>Packaging: Best Practices</vt:lpstr>
      <vt:lpstr>CI (Continuous Integration)</vt:lpstr>
      <vt:lpstr>CI Tools and Ecosystem</vt:lpstr>
      <vt:lpstr>Concurrency + CI in Python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Br. Puneet</dc:creator>
  <cp:lastModifiedBy>Br. Puneet</cp:lastModifiedBy>
  <cp:revision>31</cp:revision>
  <dcterms:created xsi:type="dcterms:W3CDTF">2025-06-02T18:03:59Z</dcterms:created>
  <dcterms:modified xsi:type="dcterms:W3CDTF">2025-08-19T21:42:13Z</dcterms:modified>
</cp:coreProperties>
</file>