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6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2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1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6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552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6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33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8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322A558-B964-4799-A94A-632D1601F177}" type="datetimeFigureOut">
              <a:rPr lang="en-IN" smtClean="0"/>
              <a:t>02-06-2025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3AABD4-F519-466D-7AF3-CDA074CD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EFE8F5E-158C-1F0E-A2EF-4DEC2D247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/>
          <a:lstStyle/>
          <a:p>
            <a:r>
              <a:rPr lang="en-IN" dirty="0"/>
              <a:t>Dr. Neelesh S. Upadhye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EA1EB-3246-ED57-264B-B69B210A7094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364463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47E280-AB7F-D69E-B992-B2698FF7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67737" cy="1400530"/>
          </a:xfrm>
        </p:spPr>
        <p:txBody>
          <a:bodyPr/>
          <a:lstStyle/>
          <a:p>
            <a:r>
              <a:rPr lang="en-IN" b="1" dirty="0"/>
              <a:t>Lecture 3: </a:t>
            </a:r>
            <a:r>
              <a:rPr lang="fr-FR" b="1" dirty="0"/>
              <a:t>Encapsulation, Properties, Composition, and Inheritance</a:t>
            </a:r>
            <a:endParaRPr lang="en-IN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4D681-F8FC-DB16-6CD3-FEBBBB34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28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FF54D-E206-418F-EA4C-10B62726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 to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67EBA-BECB-E8FF-0642-13A9309EA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Encapsulation is one of the most fundamental principle of object-oriented programming. It refers to bundle the data (attributes) and the related methods that operate on a data in a class (single unit).</a:t>
            </a:r>
          </a:p>
          <a:p>
            <a:pPr lvl="1"/>
            <a:r>
              <a:rPr lang="en-IN" dirty="0"/>
              <a:t>Internal state of the object is always hidden from the outside world.</a:t>
            </a:r>
          </a:p>
          <a:p>
            <a:pPr lvl="1"/>
            <a:r>
              <a:rPr lang="en-IN" dirty="0"/>
              <a:t>The exposure or access to the interface is provided by a well-defined interface (that are called methods).</a:t>
            </a:r>
          </a:p>
          <a:p>
            <a:pPr lvl="1"/>
            <a:r>
              <a:rPr lang="en-IN" dirty="0"/>
              <a:t>It promotes high cohesion and loose coupling.</a:t>
            </a:r>
          </a:p>
          <a:p>
            <a:pPr lvl="1"/>
            <a:r>
              <a:rPr lang="en-IN" dirty="0"/>
              <a:t>It enables modularity and maintainability in the code base. </a:t>
            </a:r>
          </a:p>
        </p:txBody>
      </p:sp>
    </p:spTree>
    <p:extLst>
      <p:ext uri="{BB962C8B-B14F-4D97-AF65-F5344CB8AC3E}">
        <p14:creationId xmlns:p14="http://schemas.microsoft.com/office/powerpoint/2010/main" val="2725609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7326-7D70-D2B8-8422-83CF01F5F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Purpose and Benefits of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8B1D3-F398-38C8-286E-7C78F5257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Why encapsulation matters in the object-oriented programming:</a:t>
            </a:r>
          </a:p>
          <a:p>
            <a:pPr lvl="1"/>
            <a:r>
              <a:rPr lang="en-IN" dirty="0"/>
              <a:t>Control Access – It prevents any unintended interference with internal states. </a:t>
            </a:r>
          </a:p>
          <a:p>
            <a:pPr lvl="1"/>
            <a:r>
              <a:rPr lang="en-IN" dirty="0"/>
              <a:t>Enhances Robustness – Objects guard their identity.</a:t>
            </a:r>
          </a:p>
          <a:p>
            <a:pPr lvl="1"/>
            <a:r>
              <a:rPr lang="en-IN" dirty="0"/>
              <a:t>Improves Flexibility – It is possible to change the internal code without affecting the external code.</a:t>
            </a:r>
          </a:p>
          <a:p>
            <a:pPr lvl="1"/>
            <a:r>
              <a:rPr lang="en-IN" dirty="0"/>
              <a:t>Enforce Invariants – It helps to maintain a consistent object state.</a:t>
            </a:r>
          </a:p>
          <a:p>
            <a:pPr lvl="1"/>
            <a:r>
              <a:rPr lang="en-IN" dirty="0"/>
              <a:t>Supports Abstraction – It is possible for the users to interact with the object through defined behaviour. Therefore, structure is untouched. </a:t>
            </a:r>
          </a:p>
        </p:txBody>
      </p:sp>
    </p:spTree>
    <p:extLst>
      <p:ext uri="{BB962C8B-B14F-4D97-AF65-F5344CB8AC3E}">
        <p14:creationId xmlns:p14="http://schemas.microsoft.com/office/powerpoint/2010/main" val="111200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FE4E-1CCE-7457-477D-5A34D836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Access Modifiers and Access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7D7F-023C-097D-ADCF-F57EBEA16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How to implement encapsulation through access keywords? </a:t>
            </a:r>
          </a:p>
          <a:p>
            <a:pPr lvl="1"/>
            <a:r>
              <a:rPr lang="en-IN" dirty="0"/>
              <a:t>`private` - Accessible only within the class. </a:t>
            </a:r>
          </a:p>
          <a:p>
            <a:pPr lvl="1"/>
            <a:r>
              <a:rPr lang="en-IN" dirty="0"/>
              <a:t>`protected` - Accessible within the class and the subclass.</a:t>
            </a:r>
          </a:p>
          <a:p>
            <a:pPr lvl="1"/>
            <a:r>
              <a:rPr lang="en-IN" dirty="0"/>
              <a:t>`public` - Accessible from anywhere.</a:t>
            </a:r>
          </a:p>
          <a:p>
            <a:r>
              <a:rPr lang="en-IN" dirty="0"/>
              <a:t>It is always better to use default (for least privilege) `private` and only widen the access whenever needed. </a:t>
            </a:r>
          </a:p>
          <a:p>
            <a:r>
              <a:rPr lang="en-IN" dirty="0"/>
              <a:t>The best practice is to expose the behaviour and not the data itself. Try to avoid the public fields until and unless they are constants. </a:t>
            </a:r>
          </a:p>
        </p:txBody>
      </p:sp>
    </p:spTree>
    <p:extLst>
      <p:ext uri="{BB962C8B-B14F-4D97-AF65-F5344CB8AC3E}">
        <p14:creationId xmlns:p14="http://schemas.microsoft.com/office/powerpoint/2010/main" val="196183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A83AF-124A-C6F6-3E2A-3FB2FE62C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Getter and Setter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AAB11-50CB-F7DF-6B39-504691FDD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Accessors and Mutators, the other name for properties, help in providing controlled access to the internal state of the object. </a:t>
            </a:r>
          </a:p>
          <a:p>
            <a:r>
              <a:rPr lang="en-IN" dirty="0"/>
              <a:t>Components – </a:t>
            </a:r>
          </a:p>
          <a:p>
            <a:pPr lvl="1"/>
            <a:r>
              <a:rPr lang="en-IN" dirty="0"/>
              <a:t>Getter – Returns the value of a field.</a:t>
            </a:r>
          </a:p>
          <a:p>
            <a:pPr lvl="1"/>
            <a:r>
              <a:rPr lang="en-IN" dirty="0"/>
              <a:t>Setter – Sets or updates the value, possible to validate it before doing so.</a:t>
            </a:r>
          </a:p>
          <a:p>
            <a:r>
              <a:rPr lang="en-IN" dirty="0"/>
              <a:t>Points to Remember – </a:t>
            </a:r>
          </a:p>
          <a:p>
            <a:pPr lvl="1"/>
            <a:r>
              <a:rPr lang="en-IN" dirty="0"/>
              <a:t>It is possible to misuse the getter/setters to violate the encapsulation. </a:t>
            </a:r>
          </a:p>
          <a:p>
            <a:pPr lvl="1"/>
            <a:r>
              <a:rPr lang="en-IN" dirty="0"/>
              <a:t>It prefer to use behaviour-based methods when possible (deposit(amount) over </a:t>
            </a:r>
            <a:r>
              <a:rPr lang="en-IN" dirty="0" err="1"/>
              <a:t>setBalance</a:t>
            </a:r>
            <a:r>
              <a:rPr lang="en-IN" dirty="0"/>
              <a:t>()).</a:t>
            </a:r>
          </a:p>
        </p:txBody>
      </p:sp>
    </p:spTree>
    <p:extLst>
      <p:ext uri="{BB962C8B-B14F-4D97-AF65-F5344CB8AC3E}">
        <p14:creationId xmlns:p14="http://schemas.microsoft.com/office/powerpoint/2010/main" val="2647012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DC62-85EF-98BF-0C28-DCA717261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Behavioural Encapsulation vs Data Exposure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45B2B-17EA-A501-760A-8B19A3B7F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Precautionary warning – </a:t>
            </a:r>
          </a:p>
          <a:p>
            <a:pPr lvl="1"/>
            <a:r>
              <a:rPr lang="en-IN" dirty="0"/>
              <a:t>It you use getter and setter methods excessively in the code, it often leads to anemic domain models. </a:t>
            </a:r>
          </a:p>
          <a:p>
            <a:pPr lvl="1"/>
            <a:r>
              <a:rPr lang="en-IN" dirty="0"/>
              <a:t>Anemic domain models are those models where objects becomes just mere data containers. </a:t>
            </a:r>
          </a:p>
          <a:p>
            <a:r>
              <a:rPr lang="en-IN" dirty="0"/>
              <a:t>Possible correct approach – </a:t>
            </a:r>
          </a:p>
          <a:p>
            <a:pPr lvl="1"/>
            <a:r>
              <a:rPr lang="en-IN" dirty="0"/>
              <a:t>Objects should be used to expose intent-driven methods rather than exposing the internal state.</a:t>
            </a:r>
          </a:p>
          <a:p>
            <a:pPr lvl="1"/>
            <a:r>
              <a:rPr lang="en-IN" dirty="0"/>
              <a:t>Try to use the “Tell, don’t ask” principle as much as possible. Ask the object to do something, not to give the data to manipulate yourself.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760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34399-AAF5-570E-733F-51C81C83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D588B-9E1C-62DC-58B1-583BBCE9F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Composition is a design principle where a class contains references to other objects and delegates behavior to them.</a:t>
            </a:r>
          </a:p>
          <a:p>
            <a:r>
              <a:rPr lang="en-US" dirty="0"/>
              <a:t>Key Concepts involved – </a:t>
            </a:r>
          </a:p>
          <a:p>
            <a:pPr lvl="1"/>
            <a:r>
              <a:rPr lang="en-US" dirty="0"/>
              <a:t>Models “has-a” relationships.</a:t>
            </a:r>
          </a:p>
          <a:p>
            <a:pPr lvl="1"/>
            <a:r>
              <a:rPr lang="en-US" dirty="0"/>
              <a:t>Promotes flexibility and modularity.</a:t>
            </a:r>
          </a:p>
          <a:p>
            <a:pPr lvl="1"/>
            <a:r>
              <a:rPr lang="en-US" dirty="0"/>
              <a:t>Encourages reusability and delegation.</a:t>
            </a:r>
          </a:p>
          <a:p>
            <a:pPr lvl="1"/>
            <a:r>
              <a:rPr lang="en-US" dirty="0"/>
              <a:t>Easier to change behavior by swapping out components.</a:t>
            </a:r>
          </a:p>
          <a:p>
            <a:r>
              <a:rPr lang="en-US" dirty="0"/>
              <a:t>Example (abstracted) – </a:t>
            </a:r>
          </a:p>
          <a:p>
            <a:pPr lvl="1"/>
            <a:r>
              <a:rPr lang="en-US" dirty="0"/>
              <a:t>A Car “has-a” Engine. </a:t>
            </a:r>
          </a:p>
        </p:txBody>
      </p:sp>
    </p:spTree>
    <p:extLst>
      <p:ext uri="{BB962C8B-B14F-4D97-AF65-F5344CB8AC3E}">
        <p14:creationId xmlns:p14="http://schemas.microsoft.com/office/powerpoint/2010/main" val="1767437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E81E0-F684-A57F-C8C8-5DA8A723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6E18C-5E25-4799-4377-011BC9C78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Inheritance is a mechanism where a class derives from another class, inheriting its attributes and methods.</a:t>
            </a:r>
          </a:p>
          <a:p>
            <a:r>
              <a:rPr lang="en-US" dirty="0"/>
              <a:t>Key Concepts Involved –</a:t>
            </a:r>
          </a:p>
          <a:p>
            <a:pPr lvl="1"/>
            <a:r>
              <a:rPr lang="en-US" dirty="0"/>
              <a:t>Models “is-a” relationships.</a:t>
            </a:r>
          </a:p>
          <a:p>
            <a:pPr lvl="1"/>
            <a:r>
              <a:rPr lang="en-US" dirty="0"/>
              <a:t>Promotes code reuse.</a:t>
            </a:r>
          </a:p>
          <a:p>
            <a:pPr lvl="1"/>
            <a:r>
              <a:rPr lang="en-US" dirty="0"/>
              <a:t>Supports polymorphism and substitutability.</a:t>
            </a:r>
          </a:p>
          <a:p>
            <a:r>
              <a:rPr lang="en-US" dirty="0"/>
              <a:t>Challenges Posed – </a:t>
            </a:r>
          </a:p>
          <a:p>
            <a:pPr lvl="1"/>
            <a:r>
              <a:rPr lang="en-US" dirty="0"/>
              <a:t>Introduces tight coupling.</a:t>
            </a:r>
          </a:p>
          <a:p>
            <a:pPr lvl="1"/>
            <a:r>
              <a:rPr lang="en-US" dirty="0"/>
              <a:t>Increases fragility—changes in base classes may break subclasses.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62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5F38-4BA0-808B-D197-D25DFBA13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Composition vs Inheritance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ECB8D7-DF31-85E5-84CD-4917F40FDB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7536357"/>
              </p:ext>
            </p:extLst>
          </p:nvPr>
        </p:nvGraphicFramePr>
        <p:xfrm>
          <a:off x="1103313" y="2052638"/>
          <a:ext cx="894714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2383">
                  <a:extLst>
                    <a:ext uri="{9D8B030D-6E8A-4147-A177-3AD203B41FA5}">
                      <a16:colId xmlns:a16="http://schemas.microsoft.com/office/drawing/2014/main" val="2770295301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3562565806"/>
                    </a:ext>
                  </a:extLst>
                </a:gridCol>
                <a:gridCol w="2982383">
                  <a:extLst>
                    <a:ext uri="{9D8B030D-6E8A-4147-A177-3AD203B41FA5}">
                      <a16:colId xmlns:a16="http://schemas.microsoft.com/office/drawing/2014/main" val="2545254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Composition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Inheritance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133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Has-a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Is-a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83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5533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Flexibility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90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0947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Change Resistance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Prone to breakage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48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Runtime Behaviour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Dynamic delegation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Static </a:t>
                      </a:r>
                      <a:r>
                        <a:rPr lang="en-IN" dirty="0" err="1"/>
                        <a:t>heirarchy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324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208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50C30-EB26-54C3-0A07-4F4424E9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When to Use Composition?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D4405-7FB4-EA97-C840-04E68D1BC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General guidelines for using composition –</a:t>
            </a:r>
          </a:p>
          <a:p>
            <a:pPr lvl="1"/>
            <a:r>
              <a:rPr lang="en-US" dirty="0"/>
              <a:t>When object behavior can be delegated.</a:t>
            </a:r>
          </a:p>
          <a:p>
            <a:pPr lvl="1"/>
            <a:r>
              <a:rPr lang="en-US" dirty="0"/>
              <a:t>When multiple behaviors are needed that may vary independently.</a:t>
            </a:r>
          </a:p>
          <a:p>
            <a:pPr lvl="1"/>
            <a:r>
              <a:rPr lang="en-US" dirty="0"/>
              <a:t>When runtime flexibility is essential (strategy pattern, decorators, etc.).</a:t>
            </a:r>
          </a:p>
          <a:p>
            <a:pPr lvl="1"/>
            <a:r>
              <a:rPr lang="en-US" dirty="0"/>
              <a:t>When you want to avoid hierarchy explosion.</a:t>
            </a:r>
            <a:endParaRPr lang="en-IN" dirty="0"/>
          </a:p>
          <a:p>
            <a:r>
              <a:rPr lang="en-IN" dirty="0"/>
              <a:t>It is always preferred to use interfaces and composable units over rigid hierarchies. </a:t>
            </a:r>
          </a:p>
        </p:txBody>
      </p:sp>
    </p:spTree>
    <p:extLst>
      <p:ext uri="{BB962C8B-B14F-4D97-AF65-F5344CB8AC3E}">
        <p14:creationId xmlns:p14="http://schemas.microsoft.com/office/powerpoint/2010/main" val="122778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5C49-57DB-A7CA-7CD6-527BFF86C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When to Use Inheritance?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17842-55CA-7D39-4313-D899A34D5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General guidelines for using inheritance –</a:t>
            </a:r>
          </a:p>
          <a:p>
            <a:pPr lvl="1"/>
            <a:r>
              <a:rPr lang="en-US" dirty="0"/>
              <a:t>When there is a clear is-a relationship.</a:t>
            </a:r>
          </a:p>
          <a:p>
            <a:pPr lvl="1"/>
            <a:r>
              <a:rPr lang="en-US" dirty="0"/>
              <a:t>When shared behavior is stable and unlikely to change.</a:t>
            </a:r>
          </a:p>
          <a:p>
            <a:pPr lvl="1"/>
            <a:r>
              <a:rPr lang="en-US" dirty="0"/>
              <a:t>When polymorphic substitution is semantically correct.</a:t>
            </a:r>
          </a:p>
          <a:p>
            <a:pPr lvl="1"/>
            <a:r>
              <a:rPr lang="en-US" dirty="0"/>
              <a:t>For template method patterns and framework extensions.</a:t>
            </a:r>
            <a:endParaRPr lang="en-IN" dirty="0"/>
          </a:p>
          <a:p>
            <a:r>
              <a:rPr lang="en-IN" dirty="0"/>
              <a:t>It is generally advised to avoid deep inheritance trees. It adds up the complexity manifolds.</a:t>
            </a:r>
          </a:p>
          <a:p>
            <a:r>
              <a:rPr lang="en-IN" dirty="0"/>
              <a:t>Always prefer shallow and focused hierarchies. </a:t>
            </a:r>
          </a:p>
        </p:txBody>
      </p:sp>
    </p:spTree>
    <p:extLst>
      <p:ext uri="{BB962C8B-B14F-4D97-AF65-F5344CB8AC3E}">
        <p14:creationId xmlns:p14="http://schemas.microsoft.com/office/powerpoint/2010/main" val="3972532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FC73-E907-5279-2546-2071A6E5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Liskov Substitution Principle (LSP)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36CE4-2D53-0D0B-6267-4A56EA343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LSP rule states that objects of a superclass should be replaceable with objects of a subclass without altering the correctness of the program.</a:t>
            </a:r>
          </a:p>
          <a:p>
            <a:r>
              <a:rPr lang="en-IN" dirty="0"/>
              <a:t>LSP’s Relation to Inheritance – </a:t>
            </a:r>
          </a:p>
          <a:p>
            <a:pPr lvl="1"/>
            <a:r>
              <a:rPr lang="en-US" dirty="0"/>
              <a:t>Subclasses must honor the contract of their base classes.</a:t>
            </a:r>
            <a:endParaRPr lang="en-IN" dirty="0"/>
          </a:p>
          <a:p>
            <a:pPr lvl="1"/>
            <a:r>
              <a:rPr lang="en-US" dirty="0"/>
              <a:t>Violation leads to broken polymorphism.</a:t>
            </a:r>
          </a:p>
          <a:p>
            <a:pPr lvl="1"/>
            <a:r>
              <a:rPr lang="en-US" dirty="0"/>
              <a:t>LSP helps identify when inheritance is semantically invalid.</a:t>
            </a:r>
            <a:endParaRPr lang="en-IN" dirty="0"/>
          </a:p>
          <a:p>
            <a:r>
              <a:rPr lang="en-IN" dirty="0"/>
              <a:t>Hint – If you can’t satisfy LSP, you likely need composition and not inheritance. </a:t>
            </a:r>
          </a:p>
        </p:txBody>
      </p:sp>
    </p:spTree>
    <p:extLst>
      <p:ext uri="{BB962C8B-B14F-4D97-AF65-F5344CB8AC3E}">
        <p14:creationId xmlns:p14="http://schemas.microsoft.com/office/powerpoint/2010/main" val="1007081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7F3D7-EBDF-4576-A9AA-BC3D8618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85851-21B4-7EC9-7531-09C7AAE50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Encapsulation helps to shield the object internally. Further, it supports robust and modular software design. </a:t>
            </a:r>
          </a:p>
          <a:p>
            <a:r>
              <a:rPr lang="en-IN" dirty="0"/>
              <a:t>Properties (otherwise called getter/setters) are tools to manage the access. But do not think of them as a substitute for behaviour. </a:t>
            </a:r>
          </a:p>
          <a:p>
            <a:r>
              <a:rPr lang="en-IN" dirty="0"/>
              <a:t>Composition allows the behaviour-sharing with increased flexibility and modularity. </a:t>
            </a:r>
          </a:p>
          <a:p>
            <a:r>
              <a:rPr lang="en-IN" dirty="0"/>
              <a:t>Inheritance should be used judiciously and only when the LSP rule holds true. </a:t>
            </a:r>
          </a:p>
          <a:p>
            <a:r>
              <a:rPr lang="en-IN" dirty="0"/>
              <a:t>Always prefer composition over inheritance unless inheritance clearly models the domain semantics. </a:t>
            </a:r>
          </a:p>
        </p:txBody>
      </p:sp>
    </p:spTree>
    <p:extLst>
      <p:ext uri="{BB962C8B-B14F-4D97-AF65-F5344CB8AC3E}">
        <p14:creationId xmlns:p14="http://schemas.microsoft.com/office/powerpoint/2010/main" val="382875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965</Words>
  <Application>Microsoft Office PowerPoint</Application>
  <PresentationFormat>Widescreen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Object Oriented Programming</vt:lpstr>
      <vt:lpstr>Lecture 3: Encapsulation, Properties, Composition, and Inheritance</vt:lpstr>
      <vt:lpstr>Introduction to Encapsulation</vt:lpstr>
      <vt:lpstr>Purpose and Benefits of Encapsulation</vt:lpstr>
      <vt:lpstr>Access Modifiers and Access Control </vt:lpstr>
      <vt:lpstr>Getter and Setter Properties</vt:lpstr>
      <vt:lpstr>Behavioural Encapsulation vs Data Exposure</vt:lpstr>
      <vt:lpstr>Composition</vt:lpstr>
      <vt:lpstr>Inheritance</vt:lpstr>
      <vt:lpstr>Composition vs Inheritance</vt:lpstr>
      <vt:lpstr>When to Use Composition?</vt:lpstr>
      <vt:lpstr>When to Use Inheritance?</vt:lpstr>
      <vt:lpstr>Liskov Substitution Principle (LSP)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4</cp:revision>
  <dcterms:created xsi:type="dcterms:W3CDTF">2025-06-02T18:03:59Z</dcterms:created>
  <dcterms:modified xsi:type="dcterms:W3CDTF">2025-06-02T18:43:30Z</dcterms:modified>
</cp:coreProperties>
</file>