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70" r:id="rId4"/>
    <p:sldId id="271" r:id="rId5"/>
    <p:sldId id="272" r:id="rId6"/>
    <p:sldId id="273" r:id="rId7"/>
    <p:sldId id="274" r:id="rId8"/>
    <p:sldId id="275" r:id="rId9"/>
    <p:sldId id="276" r:id="rId10"/>
    <p:sldId id="277" r:id="rId11"/>
    <p:sldId id="281" r:id="rId12"/>
    <p:sldId id="278" r:id="rId13"/>
    <p:sldId id="279" r:id="rId14"/>
    <p:sldId id="280" r:id="rId15"/>
    <p:sldId id="269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11" d="100"/>
          <a:sy n="111" d="100"/>
        </p:scale>
        <p:origin x="59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22A558-B964-4799-A94A-632D1601F177}" type="datetimeFigureOut">
              <a:rPr lang="en-IN" smtClean="0"/>
              <a:t>29-07-2025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D2B58B-FD0C-4F00-BD84-F347C5097BE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988661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22A558-B964-4799-A94A-632D1601F177}" type="datetimeFigureOut">
              <a:rPr lang="en-IN" smtClean="0"/>
              <a:t>29-07-2025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D2B58B-FD0C-4F00-BD84-F347C5097BE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76169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22A558-B964-4799-A94A-632D1601F177}" type="datetimeFigureOut">
              <a:rPr lang="en-IN" smtClean="0"/>
              <a:t>29-07-2025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D2B58B-FD0C-4F00-BD84-F347C5097BE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06083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22A558-B964-4799-A94A-632D1601F177}" type="datetimeFigureOut">
              <a:rPr lang="en-IN" smtClean="0"/>
              <a:t>29-07-2025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D2B58B-FD0C-4F00-BD84-F347C5097BE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352210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22A558-B964-4799-A94A-632D1601F177}" type="datetimeFigureOut">
              <a:rPr lang="en-IN" smtClean="0"/>
              <a:t>29-07-2025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D2B58B-FD0C-4F00-BD84-F347C5097BE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683188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22A558-B964-4799-A94A-632D1601F177}" type="datetimeFigureOut">
              <a:rPr lang="en-IN" smtClean="0"/>
              <a:t>29-07-2025</a:t>
            </a:fld>
            <a:endParaRPr lang="en-IN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D2B58B-FD0C-4F00-BD84-F347C5097BE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425480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22A558-B964-4799-A94A-632D1601F177}" type="datetimeFigureOut">
              <a:rPr lang="en-IN" smtClean="0"/>
              <a:t>29-07-2025</a:t>
            </a:fld>
            <a:endParaRPr lang="en-IN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D2B58B-FD0C-4F00-BD84-F347C5097BE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538608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3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3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22A558-B964-4799-A94A-632D1601F177}" type="datetimeFigureOut">
              <a:rPr lang="en-IN" smtClean="0"/>
              <a:t>29-07-2025</a:t>
            </a:fld>
            <a:endParaRPr lang="en-IN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D2B58B-FD0C-4F00-BD84-F347C5097BE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0416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22A558-B964-4799-A94A-632D1601F177}" type="datetimeFigureOut">
              <a:rPr lang="en-IN" smtClean="0"/>
              <a:t>29-07-2025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D2B58B-FD0C-4F00-BD84-F347C5097BE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077930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22A558-B964-4799-A94A-632D1601F177}" type="datetimeFigureOut">
              <a:rPr lang="en-IN" smtClean="0"/>
              <a:t>29-07-2025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D2B58B-FD0C-4F00-BD84-F347C5097BE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1964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22A558-B964-4799-A94A-632D1601F177}" type="datetimeFigureOut">
              <a:rPr lang="en-IN" smtClean="0"/>
              <a:t>29-07-2025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D2B58B-FD0C-4F00-BD84-F347C5097BE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0777290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930400" y="3771174"/>
            <a:ext cx="727964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22A558-B964-4799-A94A-632D1601F177}" type="datetimeFigureOut">
              <a:rPr lang="en-IN" smtClean="0"/>
              <a:t>29-07-2025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D2B58B-FD0C-4F00-BD84-F347C5097BE5}" type="slidenum">
              <a:rPr lang="en-IN" smtClean="0"/>
              <a:t>‹#›</a:t>
            </a:fld>
            <a:endParaRPr lang="en-IN"/>
          </a:p>
        </p:txBody>
      </p:sp>
      <p:sp>
        <p:nvSpPr>
          <p:cNvPr id="12" name="TextBox 11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76355264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22A558-B964-4799-A94A-632D1601F177}" type="datetimeFigureOut">
              <a:rPr lang="en-IN" smtClean="0"/>
              <a:t>29-07-2025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D2B58B-FD0C-4F00-BD84-F347C5097BE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4790398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22A558-B964-4799-A94A-632D1601F177}" type="datetimeFigureOut">
              <a:rPr lang="en-IN" smtClean="0"/>
              <a:t>29-07-2025</a:t>
            </a:fld>
            <a:endParaRPr lang="en-IN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D2B58B-FD0C-4F00-BD84-F347C5097BE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7096497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22A558-B964-4799-A94A-632D1601F177}" type="datetimeFigureOut">
              <a:rPr lang="en-IN" smtClean="0"/>
              <a:t>29-07-2025</a:t>
            </a:fld>
            <a:endParaRPr lang="en-IN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D2B58B-FD0C-4F00-BD84-F347C5097BE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516083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22A558-B964-4799-A94A-632D1601F177}" type="datetimeFigureOut">
              <a:rPr lang="en-IN" smtClean="0"/>
              <a:t>29-07-2025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D2B58B-FD0C-4F00-BD84-F347C5097BE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0153320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22A558-B964-4799-A94A-632D1601F177}" type="datetimeFigureOut">
              <a:rPr lang="en-IN" smtClean="0"/>
              <a:t>29-07-2025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D2B58B-FD0C-4F00-BD84-F347C5097BE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891823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8322A558-B964-4799-A94A-632D1601F177}" type="datetimeFigureOut">
              <a:rPr lang="en-IN" smtClean="0"/>
              <a:t>29-07-2025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3D2B58B-FD0C-4F00-BD84-F347C5097BE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573602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06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763AABD4-F519-466D-7AF3-CDA074CD25A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/>
          <a:lstStyle/>
          <a:p>
            <a:r>
              <a:rPr lang="en-IN" b="1" dirty="0"/>
              <a:t>Object Oriented Programming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BEFE8F5E-158C-1F0E-A2EF-4DEC2D247C4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/>
          <a:lstStyle/>
          <a:p>
            <a:r>
              <a:rPr lang="en-IN" dirty="0"/>
              <a:t>Dr. Neelesh S. Upadhye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67EA1EB-3246-ED57-264B-B69B210A7094}"/>
              </a:ext>
            </a:extLst>
          </p:cNvPr>
          <p:cNvSpPr txBox="1"/>
          <p:nvPr/>
        </p:nvSpPr>
        <p:spPr>
          <a:xfrm>
            <a:off x="1154955" y="5888736"/>
            <a:ext cx="36375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Slides are prepared by Puneet</a:t>
            </a:r>
          </a:p>
        </p:txBody>
      </p:sp>
    </p:spTree>
    <p:extLst>
      <p:ext uri="{BB962C8B-B14F-4D97-AF65-F5344CB8AC3E}">
        <p14:creationId xmlns:p14="http://schemas.microsoft.com/office/powerpoint/2010/main" val="364463301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D547E280-AB7F-D69E-B992-B2698FF710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6111" y="452718"/>
            <a:ext cx="9567737" cy="1400530"/>
          </a:xfrm>
        </p:spPr>
        <p:txBody>
          <a:bodyPr/>
          <a:lstStyle/>
          <a:p>
            <a:r>
              <a:rPr lang="en-IN" b="1" dirty="0"/>
              <a:t>Lecture 8: Stacks, Queues, and Deques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7D34D681-F8FC-DB16-6CD3-FEBBBB3440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03312" y="2052918"/>
            <a:ext cx="8946541" cy="4195481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IN" b="1" dirty="0"/>
              <a:t>References</a:t>
            </a:r>
          </a:p>
          <a:p>
            <a:pPr marL="0" indent="0">
              <a:buNone/>
            </a:pPr>
            <a:endParaRPr lang="en-IN" dirty="0"/>
          </a:p>
          <a:p>
            <a:r>
              <a:rPr lang="en-IN" dirty="0"/>
              <a:t>Core Text</a:t>
            </a:r>
          </a:p>
          <a:p>
            <a:pPr lvl="1"/>
            <a:r>
              <a:rPr lang="en-US" dirty="0"/>
              <a:t>Goodrich, </a:t>
            </a:r>
            <a:r>
              <a:rPr lang="en-US" dirty="0" err="1"/>
              <a:t>Tamassia</a:t>
            </a:r>
            <a:r>
              <a:rPr lang="en-US" dirty="0"/>
              <a:t> &amp; Goldwasser, Data Structures and Algorithms in Python</a:t>
            </a:r>
            <a:endParaRPr lang="en-IN" dirty="0"/>
          </a:p>
          <a:p>
            <a:r>
              <a:rPr lang="en-IN" dirty="0"/>
              <a:t>Other References</a:t>
            </a:r>
          </a:p>
          <a:p>
            <a:pPr lvl="1"/>
            <a:r>
              <a:rPr lang="en-IN" dirty="0"/>
              <a:t>Jon Kleinberg &amp; Éva Tardos, Algorithm Design</a:t>
            </a:r>
          </a:p>
          <a:p>
            <a:pPr lvl="1"/>
            <a:r>
              <a:rPr lang="en-IN" dirty="0"/>
              <a:t>Sanjoy Dasgupta, Christos Papadimitriou &amp; Umesh Vazirani, Algorithms</a:t>
            </a:r>
          </a:p>
          <a:p>
            <a:pPr lvl="1"/>
            <a:r>
              <a:rPr lang="en-IN" dirty="0"/>
              <a:t>Luciano Ramalho, Fluent Python</a:t>
            </a:r>
          </a:p>
          <a:p>
            <a:pPr lvl="1"/>
            <a:r>
              <a:rPr lang="en-US" dirty="0"/>
              <a:t>Steve Freeman &amp; Nat Pryce, Growing Object-Oriented Software, Guided by Tests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842801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704FAB-11A0-DF99-782C-CC8EA7A3DE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/>
              <a:t>Motivation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C9C6F9-B03B-7DCF-6C3F-98151E00CB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Stacks, queues, and deques provide controlled, structured access to linear collections of elements.</a:t>
            </a:r>
          </a:p>
          <a:p>
            <a:r>
              <a:rPr lang="en-US" dirty="0"/>
              <a:t>They define strict insertion and removal policies that determine processing order and guarantee predictable behavior. Such access constraints are not arbitrary but essential to solving real-world problems including parsing, scheduling, resource allocation, and backtracking.</a:t>
            </a:r>
          </a:p>
          <a:p>
            <a:r>
              <a:rPr lang="en-US" dirty="0"/>
              <a:t>Formalizing these structures as abstract data types (ADTs) allows us to define operations, invariants, and constraints independently of specific implementations.</a:t>
            </a:r>
          </a:p>
          <a:p>
            <a:r>
              <a:rPr lang="en-US" dirty="0"/>
              <a:t>Understanding these constraints is vital for selecting the right data structure in system design, ensuring correctness, and optimizing performance.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7545629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BA14A0-C6D1-287F-C49F-E4F880E52C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/>
              <a:t>Stack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BEB2CE-A778-1DA8-C923-99A8C224E1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A stack is a linear collection of elements with Last-In, First-Out (LIFO) behavior. Access is constrained to a single logical end, called the top.</a:t>
            </a:r>
          </a:p>
          <a:p>
            <a:r>
              <a:rPr lang="en-US" dirty="0"/>
              <a:t>Abstract Data Type Operations:</a:t>
            </a:r>
          </a:p>
          <a:p>
            <a:pPr lvl="1"/>
            <a:r>
              <a:rPr lang="en-US" dirty="0"/>
              <a:t>push(item): Add item to the top.</a:t>
            </a:r>
          </a:p>
          <a:p>
            <a:pPr lvl="1"/>
            <a:r>
              <a:rPr lang="en-US" dirty="0"/>
              <a:t>pop(): Remove and return top item.</a:t>
            </a:r>
          </a:p>
          <a:p>
            <a:pPr lvl="1"/>
            <a:r>
              <a:rPr lang="en-US" dirty="0"/>
              <a:t>peek() or top(): Inspect top item without removing.</a:t>
            </a:r>
          </a:p>
          <a:p>
            <a:pPr lvl="1"/>
            <a:r>
              <a:rPr lang="en-US" dirty="0" err="1"/>
              <a:t>isEmpty</a:t>
            </a:r>
            <a:r>
              <a:rPr lang="en-US" dirty="0"/>
              <a:t>(): Check if stack contains no elements.</a:t>
            </a:r>
          </a:p>
          <a:p>
            <a:pPr lvl="1"/>
            <a:r>
              <a:rPr lang="en-US" dirty="0"/>
              <a:t>size(): </a:t>
            </a:r>
            <a:r>
              <a:rPr lang="en-IN" dirty="0"/>
              <a:t>Return number of elements.</a:t>
            </a:r>
            <a:endParaRPr lang="en-US" dirty="0"/>
          </a:p>
          <a:p>
            <a:r>
              <a:rPr lang="en-US" dirty="0"/>
              <a:t>The LIFO policy ensures reversibility and state preservation in many algorithmic contexts. ADT definition enforces encapsulation of internal order and consistency guarantees.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1529761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5E6EED-93E8-CDB7-BEDA-B19589B344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/>
              <a:t>Stack – Concepts and Properties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B74B17-9824-89C4-213B-09B4D49651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A stack behaves like a pile of plates, where only the top plate can be accessed.</a:t>
            </a:r>
          </a:p>
          <a:p>
            <a:r>
              <a:rPr lang="en-US" dirty="0"/>
              <a:t>Operations are atomic and deterministic. It ensures consistent state transitions.</a:t>
            </a:r>
          </a:p>
          <a:p>
            <a:r>
              <a:rPr lang="en-US" dirty="0"/>
              <a:t>The stack invariant guarantees that elements below the top remain unmodified by push() and pop().</a:t>
            </a:r>
          </a:p>
          <a:p>
            <a:r>
              <a:rPr lang="en-US" dirty="0"/>
              <a:t>Helps in backtracking in algorithms such as depth-first search, function call management via call stacks in language runtimes, parsing of nested structures, etc.</a:t>
            </a:r>
          </a:p>
          <a:p>
            <a:r>
              <a:rPr lang="en-US" dirty="0"/>
              <a:t>Abstract properties include restricted access, order preservation, and operation predictability without exposing implementation details.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9256537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2A181B-34BC-54ED-A467-EE818F94B9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/>
              <a:t>Queue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16D165-3B6D-7095-A107-4E83D9BF51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A queue is a linear collection with First-In, First-Out (FIFO) policy. Access is controlled at two distinct logical ends: front (for removal) and rear (for insertion).</a:t>
            </a:r>
          </a:p>
          <a:p>
            <a:r>
              <a:rPr lang="en-US" dirty="0"/>
              <a:t>Abstract Data Type Operations –</a:t>
            </a:r>
          </a:p>
          <a:p>
            <a:pPr lvl="1"/>
            <a:r>
              <a:rPr lang="en-US" dirty="0"/>
              <a:t>enqueue(item): </a:t>
            </a:r>
            <a:r>
              <a:rPr lang="en-IN" dirty="0"/>
              <a:t>Insert at rear.</a:t>
            </a:r>
          </a:p>
          <a:p>
            <a:pPr lvl="1"/>
            <a:r>
              <a:rPr lang="en-IN" dirty="0"/>
              <a:t>dequeue(item): </a:t>
            </a:r>
            <a:r>
              <a:rPr lang="en-US" dirty="0"/>
              <a:t>Remove and return front item.</a:t>
            </a:r>
          </a:p>
          <a:p>
            <a:pPr lvl="1"/>
            <a:r>
              <a:rPr lang="en-US" dirty="0"/>
              <a:t>front() or peek(): </a:t>
            </a:r>
            <a:r>
              <a:rPr lang="en-IN" dirty="0"/>
              <a:t>Inspect front without removing.</a:t>
            </a:r>
          </a:p>
          <a:p>
            <a:pPr lvl="1"/>
            <a:r>
              <a:rPr lang="en-IN" dirty="0" err="1"/>
              <a:t>isEmpty</a:t>
            </a:r>
            <a:r>
              <a:rPr lang="en-IN" dirty="0"/>
              <a:t>(): Test for emptiness.</a:t>
            </a:r>
          </a:p>
          <a:p>
            <a:pPr lvl="1"/>
            <a:r>
              <a:rPr lang="en-US" dirty="0"/>
              <a:t>size(): Number of elements.</a:t>
            </a:r>
          </a:p>
          <a:p>
            <a:r>
              <a:rPr lang="en-US" dirty="0"/>
              <a:t>Enforces temporal fairness by guaranteeing that elements exit in order of arrival. Used to model real-world phenomena such as customer lines, job scheduling, buffering in networks.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2100599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AB5CFE-3724-D63D-EF99-358808C71C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/>
              <a:t>Queue – Concepts and Properties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DC22A4-3CB6-C98D-860B-2B3E6A2E7B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Acts as a </a:t>
            </a:r>
            <a:r>
              <a:rPr lang="en-US" dirty="0"/>
              <a:t>waiting line, where new arrivals join the rear and service happens at the front. Elements maintain strict arrival order—no skipping or reordering.</a:t>
            </a:r>
          </a:p>
          <a:p>
            <a:r>
              <a:rPr lang="en-US" dirty="0"/>
              <a:t>Separation of enqueue and dequeue operations enforces clear data flow. Crucial for resource management in OS, task scheduling in concurrent systems, and data streaming pipelines.</a:t>
            </a:r>
          </a:p>
          <a:p>
            <a:r>
              <a:rPr lang="en-US" dirty="0"/>
              <a:t>Abstract Properties: </a:t>
            </a:r>
          </a:p>
          <a:p>
            <a:pPr lvl="1"/>
            <a:r>
              <a:rPr lang="en-IN" dirty="0"/>
              <a:t>Deterministic </a:t>
            </a:r>
            <a:r>
              <a:rPr lang="en-IN" dirty="0" err="1"/>
              <a:t>behavior</a:t>
            </a:r>
            <a:r>
              <a:rPr lang="en-IN" dirty="0"/>
              <a:t>, ensuring fairness.</a:t>
            </a:r>
          </a:p>
          <a:p>
            <a:pPr lvl="1"/>
            <a:r>
              <a:rPr lang="en-US" dirty="0"/>
              <a:t>Atomic operations for adding/removing.</a:t>
            </a:r>
          </a:p>
          <a:p>
            <a:pPr lvl="1"/>
            <a:r>
              <a:rPr lang="en-US" dirty="0"/>
              <a:t>No random access; only front and rear accessible.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2965933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B35D8E-A191-E25D-839D-90FB7CECE7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/>
              <a:t>Circular Queue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832D86-9901-C95A-178D-9406A8818D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Circular queue solves limitations of naive array-based queues with fixed size. Uses array where logical front and rear wrap around modulo capacity. Eliminates need for costly element shifting after dequeue.</a:t>
            </a:r>
          </a:p>
          <a:p>
            <a:r>
              <a:rPr lang="en-US" dirty="0"/>
              <a:t>ADT Principles:</a:t>
            </a:r>
          </a:p>
          <a:p>
            <a:pPr lvl="1"/>
            <a:r>
              <a:rPr lang="en-US" dirty="0"/>
              <a:t>Distinguishing full and empty states, which may require reserving one slot or using explicit count.</a:t>
            </a:r>
          </a:p>
          <a:p>
            <a:pPr lvl="1"/>
            <a:r>
              <a:rPr lang="en-US" dirty="0"/>
              <a:t>All core operations remain O(1) under fixed capacity.</a:t>
            </a:r>
          </a:p>
          <a:p>
            <a:r>
              <a:rPr lang="en-US" dirty="0"/>
              <a:t>It is critical for memory-constrained environments. Examples such as embedded systems, device drivers, and low-level networking stacks. </a:t>
            </a:r>
          </a:p>
          <a:p>
            <a:r>
              <a:rPr lang="en-US" dirty="0"/>
              <a:t>Emphasizes space efficiency without sacrificing access constraints.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82782045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64FDFD-DBB5-7ED7-33BD-2D142D7031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/>
              <a:t>Deque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1C4364-4641-75CB-5DF1-202C95893B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Deque (Double-Ended Queue) generalizes both stacks and queues. Allows insertion and removal at both ends, supporting more flexible access patterns.</a:t>
            </a:r>
          </a:p>
          <a:p>
            <a:r>
              <a:rPr lang="en-US" dirty="0"/>
              <a:t>Abstract Data Type Operations:</a:t>
            </a:r>
          </a:p>
          <a:p>
            <a:pPr lvl="1"/>
            <a:r>
              <a:rPr lang="en-US" dirty="0" err="1"/>
              <a:t>addFront</a:t>
            </a:r>
            <a:r>
              <a:rPr lang="en-US" dirty="0"/>
              <a:t>(item), </a:t>
            </a:r>
            <a:r>
              <a:rPr lang="en-US" dirty="0" err="1"/>
              <a:t>addRear</a:t>
            </a:r>
            <a:r>
              <a:rPr lang="en-US" dirty="0"/>
              <a:t>(item): Insertions</a:t>
            </a:r>
          </a:p>
          <a:p>
            <a:pPr lvl="1"/>
            <a:r>
              <a:rPr lang="en-US" dirty="0" err="1"/>
              <a:t>removeFront</a:t>
            </a:r>
            <a:r>
              <a:rPr lang="en-US" dirty="0"/>
              <a:t>(), </a:t>
            </a:r>
            <a:r>
              <a:rPr lang="en-US" dirty="0" err="1"/>
              <a:t>removeRear</a:t>
            </a:r>
            <a:r>
              <a:rPr lang="en-US" dirty="0"/>
              <a:t>(): Removals</a:t>
            </a:r>
          </a:p>
          <a:p>
            <a:pPr lvl="1"/>
            <a:r>
              <a:rPr lang="en-US" dirty="0" err="1"/>
              <a:t>peekFront</a:t>
            </a:r>
            <a:r>
              <a:rPr lang="en-US" dirty="0"/>
              <a:t>(), </a:t>
            </a:r>
            <a:r>
              <a:rPr lang="en-US" dirty="0" err="1"/>
              <a:t>peekRear</a:t>
            </a:r>
            <a:r>
              <a:rPr lang="en-US" dirty="0"/>
              <a:t>(): Inspect without removing</a:t>
            </a:r>
          </a:p>
          <a:p>
            <a:pPr lvl="1"/>
            <a:r>
              <a:rPr lang="en-US" dirty="0" err="1"/>
              <a:t>isEmpty</a:t>
            </a:r>
            <a:r>
              <a:rPr lang="en-US" dirty="0"/>
              <a:t>(), size(): State queries</a:t>
            </a:r>
          </a:p>
          <a:p>
            <a:r>
              <a:rPr lang="en-US" dirty="0"/>
              <a:t>Enables modeling both FIFO and LIFO behavior within a single abstraction. Widely used for complex scheduling, sliding window problems, and priority management.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80631303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977DCD-FB53-76F4-67F9-C2B8083EE5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/>
              <a:t>Deque – Concepts and Properties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6FA680-BCDF-307D-65D5-55FC66B270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Analogy: train cars linked at both ends, where cars can be attached/detached at either side.</a:t>
            </a:r>
          </a:p>
          <a:p>
            <a:r>
              <a:rPr lang="en-US" dirty="0"/>
              <a:t>Supports symmetric operations for front and rear, with uniform cost.</a:t>
            </a:r>
          </a:p>
          <a:p>
            <a:r>
              <a:rPr lang="en-US" dirty="0"/>
              <a:t>Abstract Properties:</a:t>
            </a:r>
          </a:p>
          <a:p>
            <a:pPr lvl="1"/>
            <a:r>
              <a:rPr lang="en-US" dirty="0"/>
              <a:t>Both ends accessible for consistent, atomic operations.</a:t>
            </a:r>
          </a:p>
          <a:p>
            <a:pPr lvl="1"/>
            <a:r>
              <a:rPr lang="en-US" dirty="0"/>
              <a:t>Enables bidirectional processing.</a:t>
            </a:r>
          </a:p>
          <a:p>
            <a:pPr lvl="1"/>
            <a:r>
              <a:rPr lang="en-US" dirty="0"/>
              <a:t>Maintains order while allowing flexible modification patterns.</a:t>
            </a:r>
          </a:p>
          <a:p>
            <a:r>
              <a:rPr lang="en-US" dirty="0"/>
              <a:t>Important for task queues with dynamic priorities, palindrome checking, algorithmic optimizations.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4497933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CDA465-4CD5-FBA1-6A26-7CDE0261F6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/>
              <a:t>Deque – Example Operations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F8BE6A-EDBE-269F-FDE2-A4AE7D474B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Imagine a deque D that is initially empty:</a:t>
            </a:r>
          </a:p>
          <a:p>
            <a:pPr lvl="1"/>
            <a:r>
              <a:rPr lang="en-IN" dirty="0" err="1"/>
              <a:t>D.addRear</a:t>
            </a:r>
            <a:r>
              <a:rPr lang="en-IN" dirty="0"/>
              <a:t>(‘A’)</a:t>
            </a:r>
          </a:p>
          <a:p>
            <a:pPr lvl="2"/>
            <a:r>
              <a:rPr lang="en-IN" dirty="0"/>
              <a:t>Deque: [‘A’]</a:t>
            </a:r>
          </a:p>
          <a:p>
            <a:pPr lvl="1"/>
            <a:r>
              <a:rPr lang="en-IN" dirty="0" err="1"/>
              <a:t>D.addFront</a:t>
            </a:r>
            <a:r>
              <a:rPr lang="en-IN" dirty="0"/>
              <a:t>(‘B’)</a:t>
            </a:r>
          </a:p>
          <a:p>
            <a:pPr lvl="2"/>
            <a:r>
              <a:rPr lang="en-IN" dirty="0"/>
              <a:t>Deque: [‘B’, ‘A’]</a:t>
            </a:r>
          </a:p>
          <a:p>
            <a:pPr lvl="1"/>
            <a:r>
              <a:rPr lang="en-IN" dirty="0" err="1"/>
              <a:t>D.addRear</a:t>
            </a:r>
            <a:r>
              <a:rPr lang="en-IN" dirty="0"/>
              <a:t>(‘C’)</a:t>
            </a:r>
          </a:p>
          <a:p>
            <a:pPr lvl="2"/>
            <a:r>
              <a:rPr lang="en-IN" dirty="0"/>
              <a:t>Deque: ['B', 'A', 'C']</a:t>
            </a:r>
          </a:p>
          <a:p>
            <a:pPr lvl="1"/>
            <a:r>
              <a:rPr lang="en-IN" dirty="0" err="1"/>
              <a:t>D.peekFront</a:t>
            </a:r>
            <a:r>
              <a:rPr lang="en-IN" dirty="0"/>
              <a:t>()</a:t>
            </a:r>
          </a:p>
          <a:p>
            <a:pPr lvl="2"/>
            <a:r>
              <a:rPr lang="en-IN" dirty="0"/>
              <a:t>Returns: ‘B’</a:t>
            </a:r>
          </a:p>
          <a:p>
            <a:pPr lvl="2"/>
            <a:r>
              <a:rPr lang="en-IN" dirty="0"/>
              <a:t>Deque: ['B', 'A', 'C’] (</a:t>
            </a:r>
            <a:r>
              <a:rPr lang="en-IN"/>
              <a:t>no change)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8629702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F1B092-CF2C-A7A9-701F-9F5E2E7E2F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/>
              <a:t>ADT Specifications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E934D7-7E31-4A3C-7E9C-B4B81DC3E4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All three structures are linear collections but differ in access restrictions:</a:t>
            </a:r>
          </a:p>
          <a:p>
            <a:pPr lvl="1"/>
            <a:r>
              <a:rPr lang="en-US" dirty="0"/>
              <a:t>Stack: Single end (top) only.</a:t>
            </a:r>
          </a:p>
          <a:p>
            <a:pPr lvl="1"/>
            <a:r>
              <a:rPr lang="en-US" dirty="0"/>
              <a:t>Queue: Two ends with fixed roles.</a:t>
            </a:r>
          </a:p>
          <a:p>
            <a:pPr lvl="1"/>
            <a:r>
              <a:rPr lang="en-US" dirty="0"/>
              <a:t>Deque: Two ends with symmetric roles.</a:t>
            </a:r>
          </a:p>
          <a:p>
            <a:r>
              <a:rPr lang="en-IN" dirty="0"/>
              <a:t>ADT specification includes:</a:t>
            </a:r>
          </a:p>
          <a:p>
            <a:pPr lvl="1"/>
            <a:r>
              <a:rPr lang="en-IN" dirty="0"/>
              <a:t>Clearly defined operation signatures.</a:t>
            </a:r>
          </a:p>
          <a:p>
            <a:pPr lvl="1"/>
            <a:r>
              <a:rPr lang="en-IN" dirty="0"/>
              <a:t>Preconditions (should be non-empty for pop, dequeue)</a:t>
            </a:r>
          </a:p>
          <a:p>
            <a:pPr lvl="1"/>
            <a:r>
              <a:rPr lang="en-IN" dirty="0"/>
              <a:t>Postconditions describing state transitions.</a:t>
            </a:r>
          </a:p>
          <a:p>
            <a:pPr lvl="1"/>
            <a:r>
              <a:rPr lang="en-US" dirty="0"/>
              <a:t>Behavioral invariants guaranteeing predictable behavior.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5566286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B182C6-225B-ECDD-FD2E-DE18528F70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/>
              <a:t>Complexity Analysis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54A34A-5C91-A789-F1AC-76EE8B1A5B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Idealized cost model assumes optimal backing store (array with circular indexing, doubly linked list, etc.).</a:t>
            </a:r>
          </a:p>
          <a:p>
            <a:r>
              <a:rPr lang="en-US" dirty="0"/>
              <a:t>Stack: push, pop, top, </a:t>
            </a:r>
            <a:r>
              <a:rPr lang="en-US" dirty="0" err="1"/>
              <a:t>isEmpty</a:t>
            </a:r>
            <a:r>
              <a:rPr lang="en-US" dirty="0"/>
              <a:t>, size - O(1) time complexity.</a:t>
            </a:r>
          </a:p>
          <a:p>
            <a:r>
              <a:rPr lang="en-US" dirty="0"/>
              <a:t>Queue: enqueue, dequeue, front, </a:t>
            </a:r>
            <a:r>
              <a:rPr lang="en-US" dirty="0" err="1"/>
              <a:t>isEmpty</a:t>
            </a:r>
            <a:r>
              <a:rPr lang="en-US" dirty="0"/>
              <a:t>, size - O(1).</a:t>
            </a:r>
          </a:p>
          <a:p>
            <a:r>
              <a:rPr lang="en-US" dirty="0"/>
              <a:t>Deque: </a:t>
            </a:r>
            <a:r>
              <a:rPr lang="en-US" dirty="0" err="1"/>
              <a:t>addFront</a:t>
            </a:r>
            <a:r>
              <a:rPr lang="en-US" dirty="0"/>
              <a:t>, </a:t>
            </a:r>
            <a:r>
              <a:rPr lang="en-US" dirty="0" err="1"/>
              <a:t>addRear</a:t>
            </a:r>
            <a:r>
              <a:rPr lang="en-US" dirty="0"/>
              <a:t>, </a:t>
            </a:r>
            <a:r>
              <a:rPr lang="en-US" dirty="0" err="1"/>
              <a:t>removeFront</a:t>
            </a:r>
            <a:r>
              <a:rPr lang="en-US" dirty="0"/>
              <a:t>, </a:t>
            </a:r>
            <a:r>
              <a:rPr lang="en-US" dirty="0" err="1"/>
              <a:t>removeRear</a:t>
            </a:r>
            <a:r>
              <a:rPr lang="en-US" dirty="0"/>
              <a:t>, </a:t>
            </a:r>
            <a:r>
              <a:rPr lang="en-US" dirty="0" err="1"/>
              <a:t>peekFront</a:t>
            </a:r>
            <a:r>
              <a:rPr lang="en-US" dirty="0"/>
              <a:t>, </a:t>
            </a:r>
            <a:r>
              <a:rPr lang="en-US" dirty="0" err="1"/>
              <a:t>peekRear</a:t>
            </a:r>
            <a:r>
              <a:rPr lang="en-US" dirty="0"/>
              <a:t>, </a:t>
            </a:r>
            <a:r>
              <a:rPr lang="en-US" dirty="0" err="1"/>
              <a:t>isEmpty</a:t>
            </a:r>
            <a:r>
              <a:rPr lang="en-US" dirty="0"/>
              <a:t>, size - O(1).</a:t>
            </a:r>
          </a:p>
          <a:p>
            <a:r>
              <a:rPr lang="en-US" dirty="0"/>
              <a:t>No internal shifting in properly designed structures. Complexity invariance under ADT abstraction allows reliable performance analysis independent of platform or language.</a:t>
            </a:r>
          </a:p>
          <a:p>
            <a:r>
              <a:rPr lang="en-US" dirty="0"/>
              <a:t>Deeper amortized analyses deferred to reading assignments.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12570086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185823-4C22-E4F9-7BEF-E3FFDE2DB4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/>
              <a:t>Design Considerations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F76D3E-A23A-BAF9-1218-72161124BD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Abstract definitions guide implementation choices:</a:t>
            </a:r>
          </a:p>
          <a:p>
            <a:pPr lvl="1"/>
            <a:r>
              <a:rPr lang="en-US" dirty="0"/>
              <a:t>Array-based: Bounded capacity, fast indexing.</a:t>
            </a:r>
          </a:p>
          <a:p>
            <a:pPr lvl="1"/>
            <a:r>
              <a:rPr lang="en-US" dirty="0"/>
              <a:t>Linked-list-based: Dynamic sizing, easy insertions/removals.</a:t>
            </a:r>
          </a:p>
          <a:p>
            <a:pPr lvl="1"/>
            <a:r>
              <a:rPr lang="en-US" dirty="0"/>
              <a:t>Hybrid designs (circular buffers, dynamic arrays).</a:t>
            </a:r>
            <a:endParaRPr lang="en-IN" dirty="0"/>
          </a:p>
          <a:p>
            <a:r>
              <a:rPr lang="en-IN" dirty="0"/>
              <a:t>Real-world systems balance:</a:t>
            </a:r>
          </a:p>
          <a:p>
            <a:pPr lvl="1"/>
            <a:r>
              <a:rPr lang="en-IN" dirty="0"/>
              <a:t>Correctness via invariant preservation.</a:t>
            </a:r>
          </a:p>
          <a:p>
            <a:pPr lvl="1"/>
            <a:r>
              <a:rPr lang="en-US" dirty="0"/>
              <a:t>Performance via data layout optimization.</a:t>
            </a:r>
          </a:p>
          <a:p>
            <a:pPr lvl="1"/>
            <a:r>
              <a:rPr lang="en-IN" dirty="0"/>
              <a:t>Maintainability via clear abstractions.</a:t>
            </a:r>
          </a:p>
          <a:p>
            <a:r>
              <a:rPr lang="en-US" dirty="0"/>
              <a:t>Careful mapping from ADT to implementation is essential for robust, efficient software design.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6036820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5BAB9E-AE0A-E6D7-AB17-9AF6EFAE8D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/>
              <a:t>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A1FFD5-4A6D-0E4A-3750-7CC5B705C9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Stacks, queues, and deques are foundational linear data structures with strict access constraints. Defined via abstract data types (ADTs) specifying clear operations, invariants, and behavioral contracts.</a:t>
            </a:r>
          </a:p>
          <a:p>
            <a:r>
              <a:rPr lang="en-IN" dirty="0"/>
              <a:t>Differences in access policy:</a:t>
            </a:r>
          </a:p>
          <a:p>
            <a:pPr lvl="1"/>
            <a:r>
              <a:rPr lang="en-US" dirty="0"/>
              <a:t>Stack – LIFO with single-end access.</a:t>
            </a:r>
          </a:p>
          <a:p>
            <a:pPr lvl="1"/>
            <a:r>
              <a:rPr lang="en-US" dirty="0"/>
              <a:t>Queue – FIFO with two fixed roles.</a:t>
            </a:r>
          </a:p>
          <a:p>
            <a:pPr lvl="1"/>
            <a:r>
              <a:rPr lang="en-US" dirty="0"/>
              <a:t>Deque – Flexible, symmetric two-end access.</a:t>
            </a:r>
            <a:endParaRPr lang="en-IN" dirty="0"/>
          </a:p>
          <a:p>
            <a:r>
              <a:rPr lang="en-US" dirty="0"/>
              <a:t>All support O(1) complexity for primary operations under ideal conditions. Precise understanding of ADT design ensures implementation-independent reasoning, essential for correct, efficient, and maintainable software.</a:t>
            </a:r>
            <a:endParaRPr lang="en-IN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A913225-BB86-9D04-9B59-A5EB56004DB2}"/>
              </a:ext>
            </a:extLst>
          </p:cNvPr>
          <p:cNvSpPr txBox="1"/>
          <p:nvPr/>
        </p:nvSpPr>
        <p:spPr>
          <a:xfrm>
            <a:off x="646111" y="6405282"/>
            <a:ext cx="5925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N" dirty="0"/>
              <a:t>Disclaimer – For course use only; do not redistribute.</a:t>
            </a:r>
          </a:p>
        </p:txBody>
      </p:sp>
    </p:spTree>
    <p:extLst>
      <p:ext uri="{BB962C8B-B14F-4D97-AF65-F5344CB8AC3E}">
        <p14:creationId xmlns:p14="http://schemas.microsoft.com/office/powerpoint/2010/main" val="3368354769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4849A"/>
      </a:accent5>
      <a:accent6>
        <a:srgbClr val="9E5E9B"/>
      </a:accent6>
      <a:hlink>
        <a:srgbClr val="58C1BA"/>
      </a:hlink>
      <a:folHlink>
        <a:srgbClr val="9DFFC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647</TotalTime>
  <Words>1266</Words>
  <Application>Microsoft Office PowerPoint</Application>
  <PresentationFormat>Widescreen</PresentationFormat>
  <Paragraphs>118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Century Gothic</vt:lpstr>
      <vt:lpstr>Wingdings 3</vt:lpstr>
      <vt:lpstr>Ion</vt:lpstr>
      <vt:lpstr>Object Oriented Programming</vt:lpstr>
      <vt:lpstr>Lecture 8: Stacks, Queues, and Deques</vt:lpstr>
      <vt:lpstr>Motivation</vt:lpstr>
      <vt:lpstr>Stack</vt:lpstr>
      <vt:lpstr>Stack – Concepts and Properties</vt:lpstr>
      <vt:lpstr>Queue</vt:lpstr>
      <vt:lpstr>Queue – Concepts and Properties</vt:lpstr>
      <vt:lpstr>Circular Queue</vt:lpstr>
      <vt:lpstr>Deque</vt:lpstr>
      <vt:lpstr>Deque – Concepts and Properties</vt:lpstr>
      <vt:lpstr>Deque – Example Operations</vt:lpstr>
      <vt:lpstr>ADT Specifications</vt:lpstr>
      <vt:lpstr>Complexity Analysis</vt:lpstr>
      <vt:lpstr>Design Considerations</vt:lpstr>
      <vt:lpstr>Summary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Br. Puneet</dc:creator>
  <cp:lastModifiedBy>Br. Puneet</cp:lastModifiedBy>
  <cp:revision>17</cp:revision>
  <dcterms:created xsi:type="dcterms:W3CDTF">2025-06-02T18:03:59Z</dcterms:created>
  <dcterms:modified xsi:type="dcterms:W3CDTF">2025-07-29T10:43:11Z</dcterms:modified>
</cp:coreProperties>
</file>