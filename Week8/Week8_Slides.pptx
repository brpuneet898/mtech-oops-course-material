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86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1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2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1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4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6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9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77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552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0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6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0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533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8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322A558-B964-4799-A94A-632D1601F17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3AABD4-F519-466D-7AF3-CDA074CD2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/>
          <a:lstStyle/>
          <a:p>
            <a:r>
              <a:rPr lang="en-IN" b="1" dirty="0"/>
              <a:t>Object Oriented Programming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EFE8F5E-158C-1F0E-A2EF-4DEC2D247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/>
          <a:lstStyle/>
          <a:p>
            <a:r>
              <a:rPr lang="en-IN" dirty="0"/>
              <a:t>Dr. Neelesh S. Upadhye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EA1EB-3246-ED57-264B-B69B210A7094}"/>
              </a:ext>
            </a:extLst>
          </p:cNvPr>
          <p:cNvSpPr txBox="1"/>
          <p:nvPr/>
        </p:nvSpPr>
        <p:spPr>
          <a:xfrm>
            <a:off x="1154955" y="5888736"/>
            <a:ext cx="363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Slides are prepared by Puneet</a:t>
            </a:r>
          </a:p>
        </p:txBody>
      </p:sp>
    </p:spTree>
    <p:extLst>
      <p:ext uri="{BB962C8B-B14F-4D97-AF65-F5344CB8AC3E}">
        <p14:creationId xmlns:p14="http://schemas.microsoft.com/office/powerpoint/2010/main" val="364463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47E280-AB7F-D69E-B992-B2698FF7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67737" cy="1400530"/>
          </a:xfrm>
        </p:spPr>
        <p:txBody>
          <a:bodyPr/>
          <a:lstStyle/>
          <a:p>
            <a:r>
              <a:rPr lang="en-IN" b="1" dirty="0"/>
              <a:t>Lecture 8: Stacks, Queues, and Deques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34D681-F8FC-DB16-6CD3-FEBBBB34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References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Core Text</a:t>
            </a:r>
          </a:p>
          <a:p>
            <a:pPr lvl="1"/>
            <a:r>
              <a:rPr lang="en-US" dirty="0"/>
              <a:t>Goodrich, </a:t>
            </a:r>
            <a:r>
              <a:rPr lang="en-US" dirty="0" err="1"/>
              <a:t>Tamassia</a:t>
            </a:r>
            <a:r>
              <a:rPr lang="en-US" dirty="0"/>
              <a:t> &amp; Goldwasser, Data Structures and Algorithms in Python</a:t>
            </a:r>
            <a:endParaRPr lang="en-IN" dirty="0"/>
          </a:p>
          <a:p>
            <a:r>
              <a:rPr lang="en-IN" dirty="0"/>
              <a:t>Other References</a:t>
            </a:r>
          </a:p>
          <a:p>
            <a:pPr lvl="1"/>
            <a:r>
              <a:rPr lang="en-IN" dirty="0"/>
              <a:t>Jon Kleinberg &amp; Éva Tardos, Algorithm Design</a:t>
            </a:r>
          </a:p>
          <a:p>
            <a:pPr lvl="1"/>
            <a:r>
              <a:rPr lang="en-IN" dirty="0"/>
              <a:t>Sanjoy Dasgupta, Christos Papadimitriou &amp; Umesh Vazirani, Algorithms</a:t>
            </a:r>
          </a:p>
          <a:p>
            <a:pPr lvl="1"/>
            <a:r>
              <a:rPr lang="en-IN" dirty="0"/>
              <a:t>Luciano Ramalho, Fluent Python</a:t>
            </a:r>
          </a:p>
          <a:p>
            <a:pPr lvl="1"/>
            <a:r>
              <a:rPr lang="en-US" dirty="0"/>
              <a:t>Steve Freeman &amp; Nat Pryce, Growing Object-Oriented Software, Guided by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28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04FAB-11A0-DF99-782C-CC8EA7A3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9C6F9-B03B-7DCF-6C3F-98151E00C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Stacks, queues, and deques provide controlled, structured access to linear collections of elements.</a:t>
            </a:r>
          </a:p>
          <a:p>
            <a:r>
              <a:rPr lang="en-US" dirty="0"/>
              <a:t>They define strict insertion and removal policies that determine processing order and guarantee predictable behavior. Such access constraints are not arbitrary but essential to solving real-world problems including parsing, scheduling, resource allocation, and backtracking.</a:t>
            </a:r>
          </a:p>
          <a:p>
            <a:r>
              <a:rPr lang="en-US" dirty="0"/>
              <a:t>Formalizing these structures as abstract data types (ADTs) allows us to define operations, invariants, and constraints independently of specific implementations.</a:t>
            </a:r>
          </a:p>
          <a:p>
            <a:r>
              <a:rPr lang="en-US" dirty="0"/>
              <a:t>Understanding these constraints is vital for selecting the right data structure in system design, ensuring correctness, and optimizing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456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4A0-C6D1-287F-C49F-E4F880E52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EB2CE-A778-1DA8-C923-99A8C224E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stack is a linear collection of elements with Last-In, First-Out (LIFO) behavior. Access is constrained to a single logical end, called the top.</a:t>
            </a:r>
          </a:p>
          <a:p>
            <a:r>
              <a:rPr lang="en-US" dirty="0"/>
              <a:t>Abstract Data Type Operations:</a:t>
            </a:r>
          </a:p>
          <a:p>
            <a:pPr lvl="1"/>
            <a:r>
              <a:rPr lang="en-US" dirty="0"/>
              <a:t>push(item): Add item to the top.</a:t>
            </a:r>
          </a:p>
          <a:p>
            <a:pPr lvl="1"/>
            <a:r>
              <a:rPr lang="en-US" dirty="0"/>
              <a:t>pop(): Remove and return top item.</a:t>
            </a:r>
          </a:p>
          <a:p>
            <a:pPr lvl="1"/>
            <a:r>
              <a:rPr lang="en-US" dirty="0"/>
              <a:t>peek() or top(): Inspect top item without removing.</a:t>
            </a:r>
          </a:p>
          <a:p>
            <a:pPr lvl="1"/>
            <a:r>
              <a:rPr lang="en-US" dirty="0" err="1"/>
              <a:t>isEmpty</a:t>
            </a:r>
            <a:r>
              <a:rPr lang="en-US" dirty="0"/>
              <a:t>(): Check if stack contains no elements.</a:t>
            </a:r>
          </a:p>
          <a:p>
            <a:pPr lvl="1"/>
            <a:r>
              <a:rPr lang="en-US" dirty="0"/>
              <a:t>size(): </a:t>
            </a:r>
            <a:r>
              <a:rPr lang="en-IN" dirty="0"/>
              <a:t>Return number of elements.</a:t>
            </a:r>
            <a:endParaRPr lang="en-US" dirty="0"/>
          </a:p>
          <a:p>
            <a:r>
              <a:rPr lang="en-US" dirty="0"/>
              <a:t>The LIFO policy ensures reversibility and state preservation in many algorithmic contexts. ADT definition enforces encapsulation of internal order and consistency guarantees.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5297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E6EED-93E8-CDB7-BEDA-B19589B3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Stack – Concepts and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74B17-9824-89C4-213B-09B4D4965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stack behaves like a pile of plates, where only the top plate can be accessed.</a:t>
            </a:r>
          </a:p>
          <a:p>
            <a:r>
              <a:rPr lang="en-US" dirty="0"/>
              <a:t>Operations are atomic and deterministic. It ensures consistent state transitions.</a:t>
            </a:r>
          </a:p>
          <a:p>
            <a:r>
              <a:rPr lang="en-US" dirty="0"/>
              <a:t>The stack invariant guarantees that elements below the top remain unmodified by push() and pop().</a:t>
            </a:r>
          </a:p>
          <a:p>
            <a:r>
              <a:rPr lang="en-US" dirty="0"/>
              <a:t>Helps in backtracking in algorithms such as depth-first search, function call management via call stacks in language runtimes, parsing of nested structures, etc.</a:t>
            </a:r>
          </a:p>
          <a:p>
            <a:r>
              <a:rPr lang="en-US" dirty="0"/>
              <a:t>Abstract properties include restricted access, order preservation, and operation predictability without exposing implementation details.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5653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181B-34BC-54ED-A467-EE818F94B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6D165-3B6D-7095-A107-4E83D9BF5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queue is a linear collection with First-In, First-Out (FIFO) policy. Access is controlled at two distinct logical ends: front (for removal) and rear (for insertion).</a:t>
            </a:r>
          </a:p>
          <a:p>
            <a:r>
              <a:rPr lang="en-US" dirty="0"/>
              <a:t>Abstract Data Type Operations –</a:t>
            </a:r>
          </a:p>
          <a:p>
            <a:pPr lvl="1"/>
            <a:r>
              <a:rPr lang="en-US" dirty="0"/>
              <a:t>enqueue(item): </a:t>
            </a:r>
            <a:r>
              <a:rPr lang="en-IN" dirty="0"/>
              <a:t>Insert at rear.</a:t>
            </a:r>
          </a:p>
          <a:p>
            <a:pPr lvl="1"/>
            <a:r>
              <a:rPr lang="en-IN" dirty="0"/>
              <a:t>dequeue(item): </a:t>
            </a:r>
            <a:r>
              <a:rPr lang="en-US" dirty="0"/>
              <a:t>Remove and return front item.</a:t>
            </a:r>
          </a:p>
          <a:p>
            <a:pPr lvl="1"/>
            <a:r>
              <a:rPr lang="en-US" dirty="0"/>
              <a:t>front() or peek(): </a:t>
            </a:r>
            <a:r>
              <a:rPr lang="en-IN" dirty="0"/>
              <a:t>Inspect front without removing.</a:t>
            </a:r>
          </a:p>
          <a:p>
            <a:pPr lvl="1"/>
            <a:r>
              <a:rPr lang="en-IN" dirty="0" err="1"/>
              <a:t>isEmpty</a:t>
            </a:r>
            <a:r>
              <a:rPr lang="en-IN" dirty="0"/>
              <a:t>(): Test for emptiness.</a:t>
            </a:r>
          </a:p>
          <a:p>
            <a:pPr lvl="1"/>
            <a:r>
              <a:rPr lang="en-US" dirty="0"/>
              <a:t>size(): Number of elements.</a:t>
            </a:r>
          </a:p>
          <a:p>
            <a:r>
              <a:rPr lang="en-US" dirty="0"/>
              <a:t>Enforces temporal fairness by guaranteeing that elements exit in order of arrival. Used to model real-world phenomena such as customer lines, job scheduling, buffering in networks.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1005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5CFE-3724-D63D-EF99-358808C71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Queue – Concepts and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C22A4-3CB6-C98D-860B-2B3E6A2E7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Acts as a </a:t>
            </a:r>
            <a:r>
              <a:rPr lang="en-US" dirty="0"/>
              <a:t>waiting line, where new arrivals join the rear and service happens at the front. Elements maintain strict arrival order—no skipping or reordering.</a:t>
            </a:r>
          </a:p>
          <a:p>
            <a:r>
              <a:rPr lang="en-US" dirty="0"/>
              <a:t>Separation of enqueue and dequeue operations enforces clear data flow. Crucial for resource management in OS, task scheduling in concurrent systems, and data streaming pipelines.</a:t>
            </a:r>
          </a:p>
          <a:p>
            <a:r>
              <a:rPr lang="en-US" dirty="0"/>
              <a:t>Abstract Properties: </a:t>
            </a:r>
          </a:p>
          <a:p>
            <a:pPr lvl="1"/>
            <a:r>
              <a:rPr lang="en-IN" dirty="0"/>
              <a:t>Deterministic </a:t>
            </a:r>
            <a:r>
              <a:rPr lang="en-IN" dirty="0" err="1"/>
              <a:t>behavior</a:t>
            </a:r>
            <a:r>
              <a:rPr lang="en-IN" dirty="0"/>
              <a:t>, ensuring fairness.</a:t>
            </a:r>
          </a:p>
          <a:p>
            <a:pPr lvl="1"/>
            <a:r>
              <a:rPr lang="en-US" dirty="0"/>
              <a:t>Atomic operations for adding/removing.</a:t>
            </a:r>
          </a:p>
          <a:p>
            <a:pPr lvl="1"/>
            <a:r>
              <a:rPr lang="en-US" dirty="0"/>
              <a:t>No random access; only front and rear accessible.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659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35D8E-A191-E25D-839D-90FB7CECE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Circular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32D86-9901-C95A-178D-9406A8818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Circular queue solves limitations of naive array-based queues with fixed size. Uses array where logical front and rear wrap around modulo capacity. Eliminates need for costly element shifting after dequeue.</a:t>
            </a:r>
          </a:p>
          <a:p>
            <a:r>
              <a:rPr lang="en-US" dirty="0"/>
              <a:t>ADT Principles:</a:t>
            </a:r>
          </a:p>
          <a:p>
            <a:pPr lvl="1"/>
            <a:r>
              <a:rPr lang="en-US" dirty="0"/>
              <a:t>Distinguishing full and empty states, which may require reserving one slot or using explicit count.</a:t>
            </a:r>
          </a:p>
          <a:p>
            <a:pPr lvl="1"/>
            <a:r>
              <a:rPr lang="en-US" dirty="0"/>
              <a:t>All core operations remain O(1) under fixed capacity.</a:t>
            </a:r>
          </a:p>
          <a:p>
            <a:r>
              <a:rPr lang="en-US" dirty="0"/>
              <a:t>It is critical for memory-constrained environments. Examples such as embedded systems, device drivers, and low-level networking stacks. </a:t>
            </a:r>
          </a:p>
          <a:p>
            <a:r>
              <a:rPr lang="en-US" dirty="0"/>
              <a:t>Emphasizes space efficiency without sacrificing access constraints.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82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4FDFD-DBB5-7ED7-33BD-2D142D70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C4364-4641-75CB-5DF1-202C95893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Deque (Double-Ended Queue) generalizes both stacks and queues. Allows insertion and removal at both ends, supporting more flexible access patterns.</a:t>
            </a:r>
          </a:p>
          <a:p>
            <a:r>
              <a:rPr lang="en-US" dirty="0"/>
              <a:t>Abstract Data Type Operations:</a:t>
            </a:r>
          </a:p>
          <a:p>
            <a:pPr lvl="1"/>
            <a:r>
              <a:rPr lang="en-US" dirty="0" err="1"/>
              <a:t>addFront</a:t>
            </a:r>
            <a:r>
              <a:rPr lang="en-US" dirty="0"/>
              <a:t>(item), </a:t>
            </a:r>
            <a:r>
              <a:rPr lang="en-US" dirty="0" err="1"/>
              <a:t>addRear</a:t>
            </a:r>
            <a:r>
              <a:rPr lang="en-US" dirty="0"/>
              <a:t>(item): Insertions</a:t>
            </a:r>
          </a:p>
          <a:p>
            <a:pPr lvl="1"/>
            <a:r>
              <a:rPr lang="en-US" dirty="0" err="1"/>
              <a:t>removeFront</a:t>
            </a:r>
            <a:r>
              <a:rPr lang="en-US" dirty="0"/>
              <a:t>(), </a:t>
            </a:r>
            <a:r>
              <a:rPr lang="en-US" dirty="0" err="1"/>
              <a:t>removeRear</a:t>
            </a:r>
            <a:r>
              <a:rPr lang="en-US" dirty="0"/>
              <a:t>(): Removals</a:t>
            </a:r>
          </a:p>
          <a:p>
            <a:pPr lvl="1"/>
            <a:r>
              <a:rPr lang="en-US" dirty="0" err="1"/>
              <a:t>peekFront</a:t>
            </a:r>
            <a:r>
              <a:rPr lang="en-US" dirty="0"/>
              <a:t>(), </a:t>
            </a:r>
            <a:r>
              <a:rPr lang="en-US" dirty="0" err="1"/>
              <a:t>peekRear</a:t>
            </a:r>
            <a:r>
              <a:rPr lang="en-US" dirty="0"/>
              <a:t>(): Inspect without removing</a:t>
            </a:r>
          </a:p>
          <a:p>
            <a:pPr lvl="1"/>
            <a:r>
              <a:rPr lang="en-US" dirty="0" err="1"/>
              <a:t>isEmpty</a:t>
            </a:r>
            <a:r>
              <a:rPr lang="en-US" dirty="0"/>
              <a:t>(), size(): State queries</a:t>
            </a:r>
          </a:p>
          <a:p>
            <a:r>
              <a:rPr lang="en-US" dirty="0"/>
              <a:t>Enables modeling both FIFO and LIFO behavior within a single abstraction. Widely used for complex scheduling, sliding window problems, and priority management.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631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7DCD-FB53-76F4-67F9-C2B8083EE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Deque – Concepts and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FA680-BCDF-307D-65D5-55FC66B27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Analogy: train cars linked at both ends, where cars can be attached/detached at either side.</a:t>
            </a:r>
          </a:p>
          <a:p>
            <a:r>
              <a:rPr lang="en-US" dirty="0"/>
              <a:t>Supports symmetric operations for front and rear, with uniform cost.</a:t>
            </a:r>
          </a:p>
          <a:p>
            <a:r>
              <a:rPr lang="en-US" dirty="0"/>
              <a:t>Abstract Properties:</a:t>
            </a:r>
          </a:p>
          <a:p>
            <a:pPr lvl="1"/>
            <a:r>
              <a:rPr lang="en-US" dirty="0"/>
              <a:t>Both ends accessible for consistent, atomic operations.</a:t>
            </a:r>
          </a:p>
          <a:p>
            <a:pPr lvl="1"/>
            <a:r>
              <a:rPr lang="en-US" dirty="0"/>
              <a:t>Enables bidirectional processing.</a:t>
            </a:r>
          </a:p>
          <a:p>
            <a:pPr lvl="1"/>
            <a:r>
              <a:rPr lang="en-US" dirty="0"/>
              <a:t>Maintains order while allowing flexible modification patterns.</a:t>
            </a:r>
          </a:p>
          <a:p>
            <a:r>
              <a:rPr lang="en-US" dirty="0"/>
              <a:t>Important for task queues with dynamic priorities, palindrome checking, algorithmic optimizations.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979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1B092-CF2C-A7A9-701F-9F5E2E7E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ADT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934D7-7E31-4A3C-7E9C-B4B81DC3E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three structures are linear collections but differ in access restrictions:</a:t>
            </a:r>
          </a:p>
          <a:p>
            <a:pPr lvl="1"/>
            <a:r>
              <a:rPr lang="en-US" dirty="0"/>
              <a:t>Stack: Single end (top) only.</a:t>
            </a:r>
          </a:p>
          <a:p>
            <a:pPr lvl="1"/>
            <a:r>
              <a:rPr lang="en-US" dirty="0"/>
              <a:t>Queue: Two ends with fixed roles.</a:t>
            </a:r>
          </a:p>
          <a:p>
            <a:pPr lvl="1"/>
            <a:r>
              <a:rPr lang="en-US" dirty="0"/>
              <a:t>Deque: Two ends with symmetric roles.</a:t>
            </a:r>
          </a:p>
          <a:p>
            <a:r>
              <a:rPr lang="en-IN" dirty="0"/>
              <a:t>ADT specification includes:</a:t>
            </a:r>
          </a:p>
          <a:p>
            <a:pPr lvl="1"/>
            <a:r>
              <a:rPr lang="en-IN" dirty="0"/>
              <a:t>Clearly defined operation signatures.</a:t>
            </a:r>
          </a:p>
          <a:p>
            <a:pPr lvl="1"/>
            <a:r>
              <a:rPr lang="en-IN" dirty="0"/>
              <a:t>Preconditions (should be non-empty for pop, dequeue)</a:t>
            </a:r>
          </a:p>
          <a:p>
            <a:pPr lvl="1"/>
            <a:r>
              <a:rPr lang="en-IN" dirty="0"/>
              <a:t>Postconditions describing state transitions.</a:t>
            </a:r>
          </a:p>
          <a:p>
            <a:pPr lvl="1"/>
            <a:r>
              <a:rPr lang="en-US" dirty="0"/>
              <a:t>Behavioral invariants guaranteeing predictable behavior.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662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82C6-225B-ECDD-FD2E-DE18528F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Complexity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A34A-5C91-A789-F1AC-76EE8B1A5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Idealized cost model assumes optimal backing store (array with circular indexing, doubly linked list, etc.).</a:t>
            </a:r>
          </a:p>
          <a:p>
            <a:r>
              <a:rPr lang="en-US" dirty="0"/>
              <a:t>Stack: push, pop, top, </a:t>
            </a:r>
            <a:r>
              <a:rPr lang="en-US" dirty="0" err="1"/>
              <a:t>isEmpty</a:t>
            </a:r>
            <a:r>
              <a:rPr lang="en-US" dirty="0"/>
              <a:t>, size - O(1) time complexity.</a:t>
            </a:r>
          </a:p>
          <a:p>
            <a:r>
              <a:rPr lang="en-US" dirty="0"/>
              <a:t>Queue: enqueue, dequeue, front, </a:t>
            </a:r>
            <a:r>
              <a:rPr lang="en-US" dirty="0" err="1"/>
              <a:t>isEmpty</a:t>
            </a:r>
            <a:r>
              <a:rPr lang="en-US" dirty="0"/>
              <a:t>, size - O(1).</a:t>
            </a:r>
          </a:p>
          <a:p>
            <a:r>
              <a:rPr lang="en-US" dirty="0"/>
              <a:t>Deque: </a:t>
            </a:r>
            <a:r>
              <a:rPr lang="en-US" dirty="0" err="1"/>
              <a:t>addFront</a:t>
            </a:r>
            <a:r>
              <a:rPr lang="en-US" dirty="0"/>
              <a:t>, </a:t>
            </a:r>
            <a:r>
              <a:rPr lang="en-US" dirty="0" err="1"/>
              <a:t>addRear</a:t>
            </a:r>
            <a:r>
              <a:rPr lang="en-US" dirty="0"/>
              <a:t>, </a:t>
            </a:r>
            <a:r>
              <a:rPr lang="en-US" dirty="0" err="1"/>
              <a:t>removeFront</a:t>
            </a:r>
            <a:r>
              <a:rPr lang="en-US" dirty="0"/>
              <a:t>, </a:t>
            </a:r>
            <a:r>
              <a:rPr lang="en-US" dirty="0" err="1"/>
              <a:t>removeRear</a:t>
            </a:r>
            <a:r>
              <a:rPr lang="en-US" dirty="0"/>
              <a:t>, </a:t>
            </a:r>
            <a:r>
              <a:rPr lang="en-US" dirty="0" err="1"/>
              <a:t>peekFront</a:t>
            </a:r>
            <a:r>
              <a:rPr lang="en-US" dirty="0"/>
              <a:t>, </a:t>
            </a:r>
            <a:r>
              <a:rPr lang="en-US" dirty="0" err="1"/>
              <a:t>peekRear</a:t>
            </a:r>
            <a:r>
              <a:rPr lang="en-US" dirty="0"/>
              <a:t>, </a:t>
            </a:r>
            <a:r>
              <a:rPr lang="en-US" dirty="0" err="1"/>
              <a:t>isEmpty</a:t>
            </a:r>
            <a:r>
              <a:rPr lang="en-US" dirty="0"/>
              <a:t>, size - O(1).</a:t>
            </a:r>
          </a:p>
          <a:p>
            <a:r>
              <a:rPr lang="en-US" dirty="0"/>
              <a:t>No internal shifting in properly designed structures. Complexity invariance under ADT abstraction allows reliable performance analysis independent of platform or language.</a:t>
            </a:r>
          </a:p>
          <a:p>
            <a:r>
              <a:rPr lang="en-US" dirty="0"/>
              <a:t>Deeper amortized analyses deferred to reading assignments.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700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85823-4C22-E4F9-7BEF-E3FFDE2DB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Design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76D3E-A23A-BAF9-1218-72161124B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Abstract definitions guide implementation choices:</a:t>
            </a:r>
          </a:p>
          <a:p>
            <a:pPr lvl="1"/>
            <a:r>
              <a:rPr lang="en-US" dirty="0"/>
              <a:t>Array-based: Bounded capacity, fast indexing.</a:t>
            </a:r>
          </a:p>
          <a:p>
            <a:pPr lvl="1"/>
            <a:r>
              <a:rPr lang="en-US" dirty="0"/>
              <a:t>Linked-list-based: Dynamic sizing, easy insertions/removals.</a:t>
            </a:r>
          </a:p>
          <a:p>
            <a:pPr lvl="1"/>
            <a:r>
              <a:rPr lang="en-US" dirty="0"/>
              <a:t>Hybrid designs (circular buffers, dynamic arrays).</a:t>
            </a:r>
            <a:endParaRPr lang="en-IN" dirty="0"/>
          </a:p>
          <a:p>
            <a:r>
              <a:rPr lang="en-IN" dirty="0"/>
              <a:t>Real-world systems balance:</a:t>
            </a:r>
          </a:p>
          <a:p>
            <a:pPr lvl="1"/>
            <a:r>
              <a:rPr lang="en-IN" dirty="0"/>
              <a:t>Correctness via invariant preservation.</a:t>
            </a:r>
          </a:p>
          <a:p>
            <a:pPr lvl="1"/>
            <a:r>
              <a:rPr lang="en-US" dirty="0"/>
              <a:t>Performance via data layout optimization.</a:t>
            </a:r>
          </a:p>
          <a:p>
            <a:pPr lvl="1"/>
            <a:r>
              <a:rPr lang="en-IN" dirty="0"/>
              <a:t>Maintainability via clear abstractions.</a:t>
            </a:r>
          </a:p>
          <a:p>
            <a:r>
              <a:rPr lang="en-US" dirty="0"/>
              <a:t>Careful mapping from ADT to implementation is essential for robust, efficient software design.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368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AB9E-AE0A-E6D7-AB17-9AF6EFAE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1FFD5-4A6D-0E4A-3750-7CC5B705C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Stacks, queues, and deques are foundational linear data structures with strict access constraints. Defined via abstract data types (ADTs) specifying clear operations, invariants, and behavioral contracts.</a:t>
            </a:r>
          </a:p>
          <a:p>
            <a:r>
              <a:rPr lang="en-IN" dirty="0"/>
              <a:t>Differences in access policy:</a:t>
            </a:r>
          </a:p>
          <a:p>
            <a:pPr lvl="1"/>
            <a:r>
              <a:rPr lang="en-US" dirty="0"/>
              <a:t>Stack – LIFO with single-end access.</a:t>
            </a:r>
          </a:p>
          <a:p>
            <a:pPr lvl="1"/>
            <a:r>
              <a:rPr lang="en-US" dirty="0"/>
              <a:t>Queue – FIFO with two fixed roles.</a:t>
            </a:r>
          </a:p>
          <a:p>
            <a:pPr lvl="1"/>
            <a:r>
              <a:rPr lang="en-US" dirty="0"/>
              <a:t>Deque – Flexible, symmetric two-end access.</a:t>
            </a:r>
            <a:endParaRPr lang="en-IN" dirty="0"/>
          </a:p>
          <a:p>
            <a:r>
              <a:rPr lang="en-US" dirty="0"/>
              <a:t>All support O(1) complexity for primary operations under ideal conditions. Precise understanding of ADT design ensures implementation-independent reasoning, essential for correct, efficient, and maintainable software.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913225-BB86-9D04-9B59-A5EB56004DB2}"/>
              </a:ext>
            </a:extLst>
          </p:cNvPr>
          <p:cNvSpPr txBox="1"/>
          <p:nvPr/>
        </p:nvSpPr>
        <p:spPr>
          <a:xfrm>
            <a:off x="646111" y="6405282"/>
            <a:ext cx="5925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Disclaimer – For course use only; do not redistribute.</a:t>
            </a:r>
          </a:p>
        </p:txBody>
      </p:sp>
    </p:spTree>
    <p:extLst>
      <p:ext uri="{BB962C8B-B14F-4D97-AF65-F5344CB8AC3E}">
        <p14:creationId xmlns:p14="http://schemas.microsoft.com/office/powerpoint/2010/main" val="3368354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643</TotalTime>
  <Words>1191</Words>
  <Application>Microsoft Office PowerPoint</Application>
  <PresentationFormat>Widescreen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Object Oriented Programming</vt:lpstr>
      <vt:lpstr>Lecture 8: Stacks, Queues, and Deques</vt:lpstr>
      <vt:lpstr>Motivation</vt:lpstr>
      <vt:lpstr>Stack</vt:lpstr>
      <vt:lpstr>Stack – Concepts and Properties</vt:lpstr>
      <vt:lpstr>Queue</vt:lpstr>
      <vt:lpstr>Queue – Concepts and Properties</vt:lpstr>
      <vt:lpstr>Circular Queue</vt:lpstr>
      <vt:lpstr>Deque</vt:lpstr>
      <vt:lpstr>Deque – Concepts and Properties</vt:lpstr>
      <vt:lpstr>ADT Specifications</vt:lpstr>
      <vt:lpstr>Complexity Analysis</vt:lpstr>
      <vt:lpstr>Design Considerations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Br. Puneet</dc:creator>
  <cp:lastModifiedBy>Br. Puneet</cp:lastModifiedBy>
  <cp:revision>16</cp:revision>
  <dcterms:created xsi:type="dcterms:W3CDTF">2025-06-02T18:03:59Z</dcterms:created>
  <dcterms:modified xsi:type="dcterms:W3CDTF">2025-07-17T13:57:55Z</dcterms:modified>
</cp:coreProperties>
</file>